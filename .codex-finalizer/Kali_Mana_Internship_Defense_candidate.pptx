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5.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6.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87d4f6853046f5" /><Relationship Type="http://schemas.openxmlformats.org/officeDocument/2006/relationships/extended-properties" Target="/docProps/app.xml" Id="Rc60daebfb1194430" /><Relationship Type="http://schemas.openxmlformats.org/officeDocument/2006/relationships/officeDocument" Target="/ppt/presentation.xml" Id="R1e930e23388e4f5e" /></Relationships>
</file>

<file path=ppt/presentation.xml><?xml version="1.0" encoding="utf-8"?>
<p:presentation xmlns:p="http://schemas.openxmlformats.org/presentationml/2006/main">
  <p:sldMasterIdLst>
    <p:sldMasterId xmlns:r="http://schemas.openxmlformats.org/officeDocument/2006/relationships" id="2147483648" r:id="R38f44cb326a04695"/>
  </p:sldMasterIdLst>
  <p:notesMasterIdLst>
    <p:notesMasterId xmlns:r="http://schemas.openxmlformats.org/officeDocument/2006/relationships" r:id="R0a7a005e00954a7b"/>
  </p:notesMasterIdLst>
  <p:sldIdLst>
    <p:sldId xmlns:r="http://schemas.openxmlformats.org/officeDocument/2006/relationships" id="256" r:id="R61220471d2aa413d"/>
    <p:sldId xmlns:r="http://schemas.openxmlformats.org/officeDocument/2006/relationships" id="257" r:id="R57ed8c873d7b4eac"/>
    <p:sldId xmlns:r="http://schemas.openxmlformats.org/officeDocument/2006/relationships" id="258" r:id="R2e92edb8dcf8473b"/>
    <p:sldId xmlns:r="http://schemas.openxmlformats.org/officeDocument/2006/relationships" id="259" r:id="Rcfc5373be6a54c76"/>
    <p:sldId xmlns:r="http://schemas.openxmlformats.org/officeDocument/2006/relationships" id="260" r:id="Rf3a327af1e6b43ae"/>
    <p:sldId xmlns:r="http://schemas.openxmlformats.org/officeDocument/2006/relationships" id="261" r:id="R1c435d273a934b56"/>
    <p:sldId xmlns:r="http://schemas.openxmlformats.org/officeDocument/2006/relationships" id="262" r:id="R8be776653f434d23"/>
    <p:sldId xmlns:r="http://schemas.openxmlformats.org/officeDocument/2006/relationships" id="263" r:id="Re8a01027c18b420e"/>
    <p:sldId xmlns:r="http://schemas.openxmlformats.org/officeDocument/2006/relationships" id="264" r:id="R7e346c66ac1b4511"/>
    <p:sldId xmlns:r="http://schemas.openxmlformats.org/officeDocument/2006/relationships" id="265" r:id="R29a238499ebe4cfd"/>
    <p:sldId xmlns:r="http://schemas.openxmlformats.org/officeDocument/2006/relationships" id="266" r:id="R1372843924e048bc"/>
    <p:sldId xmlns:r="http://schemas.openxmlformats.org/officeDocument/2006/relationships" id="267" r:id="R95f5e884470c4f58"/>
    <p:sldId xmlns:r="http://schemas.openxmlformats.org/officeDocument/2006/relationships" id="268" r:id="Rf6dcd0c4b1e34aef"/>
    <p:sldId xmlns:r="http://schemas.openxmlformats.org/officeDocument/2006/relationships" id="269" r:id="Rdbb7c0e6a4424a5f"/>
    <p:sldId xmlns:r="http://schemas.openxmlformats.org/officeDocument/2006/relationships" id="270" r:id="Re59d3027fa5b42af"/>
    <p:sldId xmlns:r="http://schemas.openxmlformats.org/officeDocument/2006/relationships" id="271" r:id="R506442740afd42b0"/>
    <p:sldId xmlns:r="http://schemas.openxmlformats.org/officeDocument/2006/relationships" id="272" r:id="R566f7d217d914ca1"/>
    <p:sldId xmlns:r="http://schemas.openxmlformats.org/officeDocument/2006/relationships" id="273" r:id="R2365ba2753d346ae"/>
    <p:sldId xmlns:r="http://schemas.openxmlformats.org/officeDocument/2006/relationships" id="274" r:id="R90c86adf3c9d43d4"/>
    <p:sldId xmlns:r="http://schemas.openxmlformats.org/officeDocument/2006/relationships" id="275" r:id="R32f9592197aa440d"/>
    <p:sldId xmlns:r="http://schemas.openxmlformats.org/officeDocument/2006/relationships" id="276" r:id="R6f89887ceabf487a"/>
    <p:sldId xmlns:r="http://schemas.openxmlformats.org/officeDocument/2006/relationships" id="277" r:id="R403623275e154f65"/>
    <p:sldId xmlns:r="http://schemas.openxmlformats.org/officeDocument/2006/relationships" id="278" r:id="R3d324ad4851b4a2f"/>
    <p:sldId xmlns:r="http://schemas.openxmlformats.org/officeDocument/2006/relationships" id="279" r:id="R3d44b004710940dc"/>
    <p:sldId xmlns:r="http://schemas.openxmlformats.org/officeDocument/2006/relationships" id="280" r:id="R900677649fe84140"/>
    <p:sldId xmlns:r="http://schemas.openxmlformats.org/officeDocument/2006/relationships" id="281" r:id="R6544e9ff3ea34d93"/>
    <p:sldId xmlns:r="http://schemas.openxmlformats.org/officeDocument/2006/relationships" id="282" r:id="R85ba23afc1ff483b"/>
    <p:sldId xmlns:r="http://schemas.openxmlformats.org/officeDocument/2006/relationships" id="283" r:id="R118c5dd6b50c4f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7d73d6cf464919" /><Relationship Type="http://schemas.openxmlformats.org/officeDocument/2006/relationships/slideMaster" Target="/ppt/slideMasters/slideMaster1.xml" Id="R38f44cb326a04695" /><Relationship Type="http://schemas.openxmlformats.org/officeDocument/2006/relationships/notesMaster" Target="/ppt/notesMasters/notesMaster1.xml" Id="R0a7a005e00954a7b" /><Relationship Type="http://schemas.openxmlformats.org/officeDocument/2006/relationships/presProps" Target="/ppt/presProps.xml" Id="Rcc4e8cd09c344157" /><Relationship Type="http://schemas.openxmlformats.org/officeDocument/2006/relationships/tableStyles" Target="/ppt/tableStyles.xml" Id="R0373eded1b9046fb" /><Relationship Type="http://schemas.openxmlformats.org/officeDocument/2006/relationships/slide" Target="/ppt/slides/slide1.xml" Id="R61220471d2aa413d" /><Relationship Type="http://schemas.openxmlformats.org/officeDocument/2006/relationships/slide" Target="/ppt/slides/slide2.xml" Id="R57ed8c873d7b4eac" /><Relationship Type="http://schemas.openxmlformats.org/officeDocument/2006/relationships/slide" Target="/ppt/slides/slide3.xml" Id="R2e92edb8dcf8473b" /><Relationship Type="http://schemas.openxmlformats.org/officeDocument/2006/relationships/slide" Target="/ppt/slides/slide4.xml" Id="Rcfc5373be6a54c76" /><Relationship Type="http://schemas.openxmlformats.org/officeDocument/2006/relationships/slide" Target="/ppt/slides/slide5.xml" Id="Rf3a327af1e6b43ae" /><Relationship Type="http://schemas.openxmlformats.org/officeDocument/2006/relationships/slide" Target="/ppt/slides/slide6.xml" Id="R1c435d273a934b56" /><Relationship Type="http://schemas.openxmlformats.org/officeDocument/2006/relationships/slide" Target="/ppt/slides/slide7.xml" Id="R8be776653f434d23" /><Relationship Type="http://schemas.openxmlformats.org/officeDocument/2006/relationships/slide" Target="/ppt/slides/slide8.xml" Id="Re8a01027c18b420e" /><Relationship Type="http://schemas.openxmlformats.org/officeDocument/2006/relationships/slide" Target="/ppt/slides/slide9.xml" Id="R7e346c66ac1b4511" /><Relationship Type="http://schemas.openxmlformats.org/officeDocument/2006/relationships/slide" Target="/ppt/slides/slide10.xml" Id="R29a238499ebe4cfd" /><Relationship Type="http://schemas.openxmlformats.org/officeDocument/2006/relationships/slide" Target="/ppt/slides/slide11.xml" Id="R1372843924e048bc" /><Relationship Type="http://schemas.openxmlformats.org/officeDocument/2006/relationships/slide" Target="/ppt/slides/slide12.xml" Id="R95f5e884470c4f58" /><Relationship Type="http://schemas.openxmlformats.org/officeDocument/2006/relationships/slide" Target="/ppt/slides/slide13.xml" Id="Rf6dcd0c4b1e34aef" /><Relationship Type="http://schemas.openxmlformats.org/officeDocument/2006/relationships/slide" Target="/ppt/slides/slide14.xml" Id="Rdbb7c0e6a4424a5f" /><Relationship Type="http://schemas.openxmlformats.org/officeDocument/2006/relationships/slide" Target="/ppt/slides/slide15.xml" Id="Re59d3027fa5b42af" /><Relationship Type="http://schemas.openxmlformats.org/officeDocument/2006/relationships/slide" Target="/ppt/slides/slide16.xml" Id="R506442740afd42b0" /><Relationship Type="http://schemas.openxmlformats.org/officeDocument/2006/relationships/slide" Target="/ppt/slides/slide17.xml" Id="R566f7d217d914ca1" /><Relationship Type="http://schemas.openxmlformats.org/officeDocument/2006/relationships/slide" Target="/ppt/slides/slide18.xml" Id="R2365ba2753d346ae" /><Relationship Type="http://schemas.openxmlformats.org/officeDocument/2006/relationships/slide" Target="/ppt/slides/slide19.xml" Id="R90c86adf3c9d43d4" /><Relationship Type="http://schemas.openxmlformats.org/officeDocument/2006/relationships/slide" Target="/ppt/slides/slide20.xml" Id="R32f9592197aa440d" /><Relationship Type="http://schemas.openxmlformats.org/officeDocument/2006/relationships/slide" Target="/ppt/slides/slide21.xml" Id="R6f89887ceabf487a" /><Relationship Type="http://schemas.openxmlformats.org/officeDocument/2006/relationships/slide" Target="/ppt/slides/slide22.xml" Id="R403623275e154f65" /><Relationship Type="http://schemas.openxmlformats.org/officeDocument/2006/relationships/slide" Target="/ppt/slides/slide23.xml" Id="R3d324ad4851b4a2f" /><Relationship Type="http://schemas.openxmlformats.org/officeDocument/2006/relationships/slide" Target="/ppt/slides/slide24.xml" Id="R3d44b004710940dc" /><Relationship Type="http://schemas.openxmlformats.org/officeDocument/2006/relationships/slide" Target="/ppt/slides/slide25.xml" Id="R900677649fe84140" /><Relationship Type="http://schemas.openxmlformats.org/officeDocument/2006/relationships/slide" Target="/ppt/slides/slide26.xml" Id="R6544e9ff3ea34d93" /><Relationship Type="http://schemas.openxmlformats.org/officeDocument/2006/relationships/slide" Target="/ppt/slides/slide27.xml" Id="R85ba23afc1ff483b" /><Relationship Type="http://schemas.openxmlformats.org/officeDocument/2006/relationships/slide" Target="/ppt/slides/slide28.xml" Id="R118c5dd6b50c4f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b9b7bc14524c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a159b234c344d4" /><Relationship Type="http://schemas.openxmlformats.org/officeDocument/2006/relationships/notesMaster" Target="/ppt/notesMasters/notesMaster1.xml" Id="Re94aee17a45b41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c64b73ae684b60" /><Relationship Type="http://schemas.openxmlformats.org/officeDocument/2006/relationships/notesMaster" Target="/ppt/notesMasters/notesMaster1.xml" Id="R2ae1764169c24e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b993c445494906" /><Relationship Type="http://schemas.openxmlformats.org/officeDocument/2006/relationships/notesMaster" Target="/ppt/notesMasters/notesMaster1.xml" Id="Ree9bfc31c5704b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a78a01d41e4a36" /><Relationship Type="http://schemas.openxmlformats.org/officeDocument/2006/relationships/notesMaster" Target="/ppt/notesMasters/notesMaster1.xml" Id="R946637881aa946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dcc79c3d924c03" /><Relationship Type="http://schemas.openxmlformats.org/officeDocument/2006/relationships/notesMaster" Target="/ppt/notesMasters/notesMaster1.xml" Id="R10606ba3613a48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c60f408e334ed3" /><Relationship Type="http://schemas.openxmlformats.org/officeDocument/2006/relationships/notesMaster" Target="/ppt/notesMasters/notesMaster1.xml" Id="Rbae813f0a9244c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bc28ef4c3c4d55" /><Relationship Type="http://schemas.openxmlformats.org/officeDocument/2006/relationships/notesMaster" Target="/ppt/notesMasters/notesMaster1.xml" Id="Rf1f870fbbc0248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d9ed69ccea4ba2" /><Relationship Type="http://schemas.openxmlformats.org/officeDocument/2006/relationships/notesMaster" Target="/ppt/notesMasters/notesMaster1.xml" Id="Ra97de0892abf48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27a86370f14797" /><Relationship Type="http://schemas.openxmlformats.org/officeDocument/2006/relationships/notesMaster" Target="/ppt/notesMasters/notesMaster1.xml" Id="Rc2049d0cac3b43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50689e888740d3" /><Relationship Type="http://schemas.openxmlformats.org/officeDocument/2006/relationships/notesMaster" Target="/ppt/notesMasters/notesMaster1.xml" Id="R61ead442f07943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27535860794e18" /><Relationship Type="http://schemas.openxmlformats.org/officeDocument/2006/relationships/notesMaster" Target="/ppt/notesMasters/notesMaster1.xml" Id="R17ab105dca2649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bc0fa00ca14a9f" /><Relationship Type="http://schemas.openxmlformats.org/officeDocument/2006/relationships/notesMaster" Target="/ppt/notesMasters/notesMaster1.xml" Id="Rb21b8a19cd4d44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cb9c7e74314139" /><Relationship Type="http://schemas.openxmlformats.org/officeDocument/2006/relationships/notesMaster" Target="/ppt/notesMasters/notesMaster1.xml" Id="R50039758f8c34d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6374f4508641fa" /><Relationship Type="http://schemas.openxmlformats.org/officeDocument/2006/relationships/notesMaster" Target="/ppt/notesMasters/notesMaster1.xml" Id="Rf29242eb71a941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942d2f16124202" /><Relationship Type="http://schemas.openxmlformats.org/officeDocument/2006/relationships/notesMaster" Target="/ppt/notesMasters/notesMaster1.xml" Id="Ra9a199b1e6e945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dda56a948a4323" /><Relationship Type="http://schemas.openxmlformats.org/officeDocument/2006/relationships/notesMaster" Target="/ppt/notesMasters/notesMaster1.xml" Id="R3f11e2c3d44d46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59d529001342a6" /><Relationship Type="http://schemas.openxmlformats.org/officeDocument/2006/relationships/notesMaster" Target="/ppt/notesMasters/notesMaster1.xml" Id="R1a215897a9c444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35cc7602854c7c" /><Relationship Type="http://schemas.openxmlformats.org/officeDocument/2006/relationships/notesMaster" Target="/ppt/notesMasters/notesMaster1.xml" Id="R0df58718210146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f79dd6b6da48f3" /><Relationship Type="http://schemas.openxmlformats.org/officeDocument/2006/relationships/notesMaster" Target="/ppt/notesMasters/notesMaster1.xml" Id="Rd843d3d94d3e45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6c9c1a05544a2b" /><Relationship Type="http://schemas.openxmlformats.org/officeDocument/2006/relationships/notesMaster" Target="/ppt/notesMasters/notesMaster1.xml" Id="R140caecc4c0047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5887094e936415e" /><Relationship Type="http://schemas.openxmlformats.org/officeDocument/2006/relationships/notesMaster" Target="/ppt/notesMasters/notesMaster1.xml" Id="R05dc0ec8e5c144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3fbf2b9e794e23" /><Relationship Type="http://schemas.openxmlformats.org/officeDocument/2006/relationships/notesMaster" Target="/ppt/notesMasters/notesMaster1.xml" Id="R41e64cbdac2c4f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be0b0b1dbb4346" /><Relationship Type="http://schemas.openxmlformats.org/officeDocument/2006/relationships/notesMaster" Target="/ppt/notesMasters/notesMaster1.xml" Id="R89c84048fa454f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bb3a0d811344a4" /><Relationship Type="http://schemas.openxmlformats.org/officeDocument/2006/relationships/notesMaster" Target="/ppt/notesMasters/notesMaster1.xml" Id="Rb4467d128acf43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9d6b9185d724ca2" /><Relationship Type="http://schemas.openxmlformats.org/officeDocument/2006/relationships/notesMaster" Target="/ppt/notesMasters/notesMaster1.xml" Id="R0ba1723d65f24ed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618dbe9861f4f38" /><Relationship Type="http://schemas.openxmlformats.org/officeDocument/2006/relationships/notesMaster" Target="/ppt/notesMasters/notesMaster1.xml" Id="R8f142496a8a142c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cea8caf70f744cc" /><Relationship Type="http://schemas.openxmlformats.org/officeDocument/2006/relationships/notesMaster" Target="/ppt/notesMasters/notesMaster1.xml" Id="Rfa8a9c4cc3fb44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f5adf4a562d44f9" /><Relationship Type="http://schemas.openxmlformats.org/officeDocument/2006/relationships/notesMaster" Target="/ppt/notesMasters/notesMaster1.xml" Id="R629c8425c09144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Kali Mana, and I completed this engineering internship at Auckland University of Technology from 24 April to 24 August 2026. The internship began with a virtual-reality research project and then moved to food formulation. Today I will focus mainly on the development of a protein-enriched oat-based beverage, from process design and protein incorporation to analytical characterisation and sensory evaluation.</a:t>
            </a:r>
          </a:p>
          <a:p xmlns:a="http://schemas.openxmlformats.org/drawingml/2006/main">
            <a:r>
              <a:t/>
            </a:r>
          </a:p>
          <a:p xmlns:a="http://schemas.openxmlformats.org/drawingml/2006/main">
            <a:r>
              <a:t>Source: Kali Mana, AUT Internship Report, 2026, cover page and pp.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by presenting the host environment and the overall trajectory of the internship. I will then explain why the initial virtual-reality project could not continue under reliable conditions. The main part of the presentation covers the oat beverage process, protein enrichment, Kjeldahl analysis and sensory evaluation. I will finish with the selected development candidate, the limitations of the study and the professional skills I developed.</a:t>
            </a:r>
          </a:p>
          <a:p xmlns:a="http://schemas.openxmlformats.org/drawingml/2006/main">
            <a:r>
              <a:t/>
            </a:r>
          </a:p>
          <a:p xmlns:a="http://schemas.openxmlformats.org/drawingml/2006/main">
            <a:r>
              <a:t>Source: Kali Mana, AUT Internship Report, 2026, pp.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placement took place in Auckland, New Zealand, within AUT’s School of Science. I worked in the Food Science and Microbiology environment at the City Campus under the supervision of Dr Nazimah Hamid. The facilities gave me access to food processing equipment and analytical methods that were new to me. I also had to learn how to organise work around shared laboratory equipment and AUT procedures, which became important when the project changed direction.</a:t>
            </a:r>
          </a:p>
          <a:p xmlns:a="http://schemas.openxmlformats.org/drawingml/2006/main">
            <a:r>
              <a:t/>
            </a:r>
          </a:p>
          <a:p xmlns:a="http://schemas.openxmlformats.org/drawingml/2006/main">
            <a:r>
              <a:t>Source: Kali Mana, AUT Internship Report, 2026, pp.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internship had two distinct phases. From April to mid-June, I prepared the virtual-reality project by reviewing previous work, learning Unity and testing the available headsets. In mid-June, the technical feasibility review showed that the planned protocol could not be implemented reliably. The internship then shifted to an existing oat beverage project. From late June until 24 August, I carried out the main experimental work presented here, including formulation trials, rheology, Kjeldahl analysis and sensory testing.</a:t>
            </a:r>
          </a:p>
          <a:p xmlns:a="http://schemas.openxmlformats.org/drawingml/2006/main">
            <a:r>
              <a:t/>
            </a:r>
          </a:p>
          <a:p xmlns:a="http://schemas.openxmlformats.org/drawingml/2006/main">
            <a:r>
              <a:t>Source: Kali Mana, AUT Internship Report, 2026, pp.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change was an engineering decision rather than a failure. Access to the VR room was delayed by around one and a half months. When I could finally test the system, the higher-resolution headset was incompatible with the available computer, the previous Unity player was no longer accessible and the older Oculus headset did not provide sufficient image quality. Continuing would have produced a protocol that differed from the intended study and could not guarantee reliable data. We therefore redirected the project before recruiting participants.</a:t>
            </a:r>
          </a:p>
          <a:p xmlns:a="http://schemas.openxmlformats.org/drawingml/2006/main">
            <a:r>
              <a:t/>
            </a:r>
          </a:p>
          <a:p xmlns:a="http://schemas.openxmlformats.org/drawingml/2006/main">
            <a:r>
              <a:t>Source: Kali Mana, AUT Internship Report, 2026, pp.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project involved more than adding a calculated mass of protein. Commercial plant protein powders can change dispersion, viscosity, flavour and mouthfeel. The selected oat beverage base later measured 2.39 grams of protein per 100 millilitres. The final enriched samples were estimated at approximately 4.85 percent protein. The engineering challenge was therefore to increase protein while controlling lumps, thickening, bitterness and particle-related sensations. This balance guided every stage of the experimental strategy.</a:t>
            </a:r>
          </a:p>
          <a:p xmlns:a="http://schemas.openxmlformats.org/drawingml/2006/main">
            <a:r>
              <a:t/>
            </a:r>
          </a:p>
          <a:p xmlns:a="http://schemas.openxmlformats.org/drawingml/2006/main">
            <a:r>
              <a:t>Source: Kali Mana, AUT Internship Report, 2026, pp. 3–4 and 16–18.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 followed a sequential strategy. I first established a workable oat beverage process and explored how the protein powders behaved. pH and rheology screening identified the main formulation constraints. I then used Kjeldahl analysis to replace the approximate one-percent protein assumption with an experimental value for the selected base. Using this corrected basis, I recalculated the final formulations, conducted a sensory evaluation and selected the strongest enriched candidate. This sequence helped separate early screening assumptions from the final interpretation.</a:t>
            </a:r>
          </a:p>
          <a:p xmlns:a="http://schemas.openxmlformats.org/drawingml/2006/main">
            <a:r>
              <a:t/>
            </a:r>
          </a:p>
          <a:p xmlns:a="http://schemas.openxmlformats.org/drawingml/2006/main">
            <a:r>
              <a:t>Source: Kali Mana, AUT Internship Report, 2026, pp. 4–12.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base used 600 grams of oats and 3 litres of water with BAN and AMG enzymes. The trays remained in an oven set to 67 degrees Celsius for 90 minutes to approach the intended hydrolysis conditions. A short empirical final heating step followed, with the oven set to 200 degrees and the process stopped after visible boiling as the display approached 180 degrees. This does not mean the beverage reached 180 degrees. Product temperature was not measured, so this was not a validated pasteurisation schedule.</a:t>
            </a:r>
          </a:p>
          <a:p xmlns:a="http://schemas.openxmlformats.org/drawingml/2006/main">
            <a:r>
              <a:t/>
            </a:r>
          </a:p>
          <a:p xmlns:a="http://schemas.openxmlformats.org/drawingml/2006/main">
            <a:r>
              <a:t>Source: Kali Mana, AUT Internship Report, 2026,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filtration and cooling, the selected oat beverage became a common functional base. For approximately 2.5 litres, the formulation included coconut caramel, Tulsi extract, xanthan gum and salt. The protein powders were not added during enzymatic hydrolysis. They were incorporated only after the common functional beverage had been prepared. This order meant that the final sensory samples shared the same base and differed mainly in the source and quantity of the protein powders.</a:t>
            </a:r>
          </a:p>
          <a:p xmlns:a="http://schemas.openxmlformats.org/drawingml/2006/main">
            <a:r>
              <a:t/>
            </a:r>
          </a:p>
          <a:p xmlns:a="http://schemas.openxmlformats.org/drawingml/2006/main">
            <a:r>
              <a:t>Source: Kali Mana, AUT Internship Report, 2026, pp.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powder addition produced strong agglomeration, so I compared several dispersion approaches. The Ultra-Turrax provided high shear for small volumes but did not remove the powdery sensation or lumps sufficiently, and the small head was not adapted to the full batch size. Sonication also produced undesirable changes and was not retained. The most practical method was to form a concentrated paste in a mortar, add beverage progressively, pass the dispersion through a sieve and crush the remaining agglomerates before reincorporation.</a:t>
            </a:r>
          </a:p>
          <a:p xmlns:a="http://schemas.openxmlformats.org/drawingml/2006/main">
            <a:r>
              <a:t/>
            </a:r>
          </a:p>
          <a:p xmlns:a="http://schemas.openxmlformats.org/drawingml/2006/main">
            <a:r>
              <a:t>Source: Kali Mana, AUT Internship Report, 2026, pp. 7 and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preliminary trials identified the conditions that would not be suitable for the final sensory test. In the soy series, apparent viscosity at around 100 inverse seconds increased from 30.0 millipascal-seconds for the control to 136.6 at the nominal six-percent level. A separate rice pilot became much thicker after heating. Practical observations also showed lumps, powderiness, bitterness and, at high soy additions, a yoghurt-like texture. These results supported the decision to test blends at a lower common enrichment target.</a:t>
            </a:r>
          </a:p>
          <a:p xmlns:a="http://schemas.openxmlformats.org/drawingml/2006/main">
            <a:r>
              <a:t/>
            </a:r>
          </a:p>
          <a:p xmlns:a="http://schemas.openxmlformats.org/drawingml/2006/main">
            <a:r>
              <a:t>Source: Kali Mana, AUT Internship Report, 2026, pp. 13–15.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preliminary calculations assumed that the base contained about one percent protein. I performed Kjeldahl analysis to establish an experimental value. Freeze-dried samples were digested, distilled and titrated with 0.100 molar hydrochloric acid. Total nitrogen was converted using the oat-specific factor of 5.83. The selected batch contained 2.39 plus or minus 0.17 grams of protein per 100 millilitres. The three values represent analytical replicates from one homogenised batch, not independent production batches.</a:t>
            </a:r>
          </a:p>
          <a:p xmlns:a="http://schemas.openxmlformats.org/drawingml/2006/main">
            <a:r>
              <a:t/>
            </a:r>
          </a:p>
          <a:p xmlns:a="http://schemas.openxmlformats.org/drawingml/2006/main">
            <a:r>
              <a:t>Source: Kali Mana, AUT Internship Report, 2026, pp. 9–10 and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comparison included six enriched formulations and one control. Each enriched sample was calculated to contain approximately 4.85 percent protein, while the control remained at 2.39 percent. Keeping the estimated protein level similar allowed the sensory comparison to focus mainly on protein source and blend. These enriched values are theoretical estimates. They combine the measured protein in the base, the powder mass and the manufacturer declarations of 90 percent for soy and 80 percent for rice and pea. The enriched beverages were not directly reanalysed by Kjeldahl.</a:t>
            </a:r>
          </a:p>
          <a:p xmlns:a="http://schemas.openxmlformats.org/drawingml/2006/main">
            <a:r>
              <a:t/>
            </a:r>
          </a:p>
          <a:p xmlns:a="http://schemas.openxmlformats.org/drawingml/2006/main">
            <a:r>
              <a:t>Source: Kali Mana, AUT Internship Report, 2026, pp. 10–11 and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exploratory sensory test took place on 24 August in the AUT Food Lab with 25 convenience participants. Every participant evaluated all seven coded formulations, served cold in 10-millilitre portions. Qualtrics randomised the sample order for each participant. The questionnaire combined overall liking and other hedonic attributes with just-about-right scales, check-all-that-apply descriptors, purchase intention and final preference. The enriched dispersions rested for at least 30 minutes and were agitated immediately before pouring to limit sedimentation effects.</a:t>
            </a:r>
          </a:p>
          <a:p xmlns:a="http://schemas.openxmlformats.org/drawingml/2006/main">
            <a:r>
              <a:t/>
            </a:r>
          </a:p>
          <a:p xmlns:a="http://schemas.openxmlformats.org/drawingml/2006/main">
            <a:r>
              <a:t>Source: Kali Mana, AUT Internship Report, 2026, pp. 11–12.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Overall liking differed across the seven formulations. The Friedman test gave chi-squared 27.56 with p below 0.001, although Kendall’s W of 0.184 indicates a modest effect size. The control achieved the highest mean score at 7.04 out of 9. Candidate 798, containing 40 percent soy, 30 percent rice and 30 percent pea protein, was the best enriched formulation at 6.56. In the planned comparison, no significant difference was detected between the control and 798 after Holm adjustment, with p equal to 0.104. This does not establish equivalence.</a:t>
            </a:r>
          </a:p>
          <a:p xmlns:a="http://schemas.openxmlformats.org/drawingml/2006/main">
            <a:r>
              <a:t/>
            </a:r>
          </a:p>
          <a:p xmlns:a="http://schemas.openxmlformats.org/drawingml/2006/main">
            <a:r>
              <a:t>Source: Kali Mana, AUT Internship Report, 2026, pp. 17–18.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Formulation 798 was selected using several criteria rather than overall liking alone. It achieved the highest mean liking among the enriched samples, and the planned comparison with the control did not detect a significant difference. Its JAR profile was relatively balanced for sweetness, flavour intensity, creaminess and thickness. It also showed relatively low beany perception and the lowest gritty frequency among enriched products. However, particle-related mouthfeel remained the main limitation. For that reason, 798 is a development candidate, not a validated final product.</a:t>
            </a:r>
          </a:p>
          <a:p xmlns:a="http://schemas.openxmlformats.org/drawingml/2006/main">
            <a:r>
              <a:t/>
            </a:r>
          </a:p>
          <a:p xmlns:a="http://schemas.openxmlformats.org/drawingml/2006/main">
            <a:r>
              <a:t>Source: Kali Mana, AUT Internship Report, 2026, p.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limitation points to a specific next experiment. Protein dispersion should be improved through controlled hydration, a better addition sequence, finer separation and more suitable homogenisation. The thermal process requires direct product-temperature monitoring. The enriched beverage should be analysed directly for protein. Manufacturing repeatability should be tested with at least three independent control and 798 batches. Microbiological and shelf-life work is essential because pH alone cannot demonstrate safety. Finally, a larger consumer panel should confirm whether the sensory pattern remains stable.</a:t>
            </a:r>
          </a:p>
          <a:p xmlns:a="http://schemas.openxmlformats.org/drawingml/2006/main">
            <a:r>
              <a:t/>
            </a:r>
          </a:p>
          <a:p xmlns:a="http://schemas.openxmlformats.org/drawingml/2006/main">
            <a:r>
              <a:t>Source: Kali Mana, AUT Internship Report, 2026, pp. 19–20.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internship developed both technical and professional skills. I gained practical experience in oat processing, enzyme-assisted production, plant protein formulation, rheology, freeze-drying, Kjeldahl analysis and sensory preparation. I also improved my data traceability, Qualtrics work and interpretation of non-parametric statistics. The main lesson was that engineering includes recognising when a plan can no longer produce reliable evidence and changing direction responsibly. The project established a measured base protein value and identified 798 as the strongest enriched candidate, while clearly defining the dispersion work still required. Thank you for listening. I am ready for your questions.</a:t>
            </a:r>
          </a:p>
          <a:p xmlns:a="http://schemas.openxmlformats.org/drawingml/2006/main">
            <a:r>
              <a:t/>
            </a:r>
          </a:p>
          <a:p xmlns:a="http://schemas.openxmlformats.org/drawingml/2006/main">
            <a:r>
              <a:t>Source: Kali Mana, AUT Internship Report, 2026, pp. 19–20.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detail for questions about the selected oat beverage process.</a:t>
            </a:r>
          </a:p>
          <a:p xmlns:a="http://schemas.openxmlformats.org/drawingml/2006/main">
            <a:r>
              <a:t/>
            </a:r>
          </a:p>
          <a:p xmlns:a="http://schemas.openxmlformats.org/drawingml/2006/main">
            <a:r>
              <a:t>Source: Kali Mana, AUT Internship Report, 2026, pp.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chart using the exact apparent-viscosity values reported at approximately 100 inverse seconds. Raw curve data were not included in the supplied report.</a:t>
            </a:r>
          </a:p>
          <a:p xmlns:a="http://schemas.openxmlformats.org/drawingml/2006/main">
            <a:r>
              <a:t/>
            </a:r>
          </a:p>
          <a:p xmlns:a="http://schemas.openxmlformats.org/drawingml/2006/main">
            <a:r>
              <a:t>Source: Kali Mana, AUT Internship Report, 2026, pp. 14–15.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equations and analytical workflow used for Kjeldahl protein determination.</a:t>
            </a:r>
          </a:p>
          <a:p xmlns:a="http://schemas.openxmlformats.org/drawingml/2006/main">
            <a:r>
              <a:t/>
            </a:r>
          </a:p>
          <a:p xmlns:a="http://schemas.openxmlformats.org/drawingml/2006/main">
            <a:r>
              <a:t>Source: Kali Mana, AUT Internship Report, 2026, pp. 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calculation based on the first analytical replicate from the selected batch. The sample mass was approximately 1.000 g.</a:t>
            </a:r>
          </a:p>
          <a:p xmlns:a="http://schemas.openxmlformats.org/drawingml/2006/main">
            <a:r>
              <a:t/>
            </a:r>
          </a:p>
          <a:p xmlns:a="http://schemas.openxmlformats.org/drawingml/2006/main">
            <a:r>
              <a:t>Source: Kali Mana, AUT Internship Report, 2026, Appendix A, p.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table reproducing the final formulation design from the report.</a:t>
            </a:r>
          </a:p>
          <a:p xmlns:a="http://schemas.openxmlformats.org/drawingml/2006/main">
            <a:r>
              <a:t/>
            </a:r>
          </a:p>
          <a:p xmlns:a="http://schemas.openxmlformats.org/drawingml/2006/main">
            <a:r>
              <a:t>Source: Kali Mana, AUT Internship Report, 2026, Table 6, p.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hedonic results. The original report chart is retained to show all seven products; the table includes every exact mean and standard deviation stated in the supplied materials.</a:t>
            </a:r>
          </a:p>
          <a:p xmlns:a="http://schemas.openxmlformats.org/drawingml/2006/main">
            <a:r>
              <a:t/>
            </a:r>
          </a:p>
          <a:p xmlns:a="http://schemas.openxmlformats.org/drawingml/2006/main">
            <a:r>
              <a:t>Source: Kali Mana, AUT Internship Report, 2026, pp. 17–18.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visual of the exact central JAR percentages reported for candidate 798.</a:t>
            </a:r>
          </a:p>
          <a:p xmlns:a="http://schemas.openxmlformats.org/drawingml/2006/main">
            <a:r>
              <a:t/>
            </a:r>
          </a:p>
          <a:p xmlns:a="http://schemas.openxmlformats.org/drawingml/2006/main">
            <a:r>
              <a:t>Source: Kali Mana, AUT Internship Report, 2026, p.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CATA summary using only frequencies and ranges explicitly reported in the supplied report.</a:t>
            </a:r>
          </a:p>
          <a:p xmlns:a="http://schemas.openxmlformats.org/drawingml/2006/main">
            <a:r>
              <a:t/>
            </a:r>
          </a:p>
          <a:p xmlns:a="http://schemas.openxmlformats.org/drawingml/2006/main">
            <a:r>
              <a:t>Source: Kali Mana, AUT Internship Report, 2026, p.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preference and purchase-intention results using the exact values provided in the report.</a:t>
            </a:r>
          </a:p>
          <a:p xmlns:a="http://schemas.openxmlformats.org/drawingml/2006/main">
            <a:r>
              <a:t/>
            </a:r>
          </a:p>
          <a:p xmlns:a="http://schemas.openxmlformats.org/drawingml/2006/main">
            <a:r>
              <a:t>Source: Kali Mana, AUT Internship Report, 2026, p. 18 and Appendix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summary of the principal study limitations that constrain interpretation and generalisation.</a:t>
            </a:r>
          </a:p>
          <a:p xmlns:a="http://schemas.openxmlformats.org/drawingml/2006/main">
            <a:r>
              <a:t/>
            </a:r>
          </a:p>
          <a:p xmlns:a="http://schemas.openxmlformats.org/drawingml/2006/main">
            <a:r>
              <a:t>Source: Kali Mana, AUT Internship Report, 2026, 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4ae03c4d324a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87bfbb990646ce" /><Relationship Type="http://schemas.openxmlformats.org/officeDocument/2006/relationships/slideLayout" Target="/ppt/slideLayouts/slideLayout1.xml" Id="R3c44274ba01240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44274ba01240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c325cd15e84416" /><Relationship Type="http://schemas.openxmlformats.org/officeDocument/2006/relationships/image" Target="/ppt/media/image.jpeg" Id="Rb4b128324f0f4b5b" /><Relationship Type="http://schemas.openxmlformats.org/officeDocument/2006/relationships/image" Target="/ppt/media/image2.jpeg" Id="R460d867e458046b3" /><Relationship Type="http://schemas.openxmlformats.org/officeDocument/2006/relationships/image" Target="/ppt/media/image.png" Id="R173b1aaeeb244774" /><Relationship Type="http://schemas.openxmlformats.org/officeDocument/2006/relationships/image" Target="/ppt/media/image2.png" Id="R3a7e1cbd09914a2a" /><Relationship Type="http://schemas.openxmlformats.org/officeDocument/2006/relationships/notesSlide" Target="/ppt/notesSlides/notesSlide1.xml" Id="R5458bafdeba647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1b4713f5004841" /><Relationship Type="http://schemas.openxmlformats.org/officeDocument/2006/relationships/notesSlide" Target="/ppt/notesSlides/notesSlide2.xml" Id="Rac30599a89444a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c1ba056747444a" /><Relationship Type="http://schemas.openxmlformats.org/officeDocument/2006/relationships/image" Target="/ppt/media/image3.png" Id="Rd6033536d7db4c05" /><Relationship Type="http://schemas.openxmlformats.org/officeDocument/2006/relationships/image" Target="/ppt/media/image3.jpeg" Id="R7dd4e72ace324ec4" /><Relationship Type="http://schemas.openxmlformats.org/officeDocument/2006/relationships/notesSlide" Target="/ppt/notesSlides/notesSlide3.xml" Id="R02eff08f4f4744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69becf0a7b4bbf" /><Relationship Type="http://schemas.openxmlformats.org/officeDocument/2006/relationships/notesSlide" Target="/ppt/notesSlides/notesSlide4.xml" Id="R19d3f226067843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7a447c2ebf4912" /><Relationship Type="http://schemas.openxmlformats.org/officeDocument/2006/relationships/image" Target="/ppt/media/image4.png" Id="Re56df58e5fab4364" /><Relationship Type="http://schemas.openxmlformats.org/officeDocument/2006/relationships/notesSlide" Target="/ppt/notesSlides/notesSlide5.xml" Id="R1c642b7a48c748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6c6dca306c44ef" /><Relationship Type="http://schemas.openxmlformats.org/officeDocument/2006/relationships/notesSlide" Target="/ppt/notesSlides/notesSlide6.xml" Id="Ree4a092d67554f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8cbd2cd9514c77" /><Relationship Type="http://schemas.openxmlformats.org/officeDocument/2006/relationships/notesSlide" Target="/ppt/notesSlides/notesSlide7.xml" Id="Re73e5485538640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af0b37b0584719" /><Relationship Type="http://schemas.openxmlformats.org/officeDocument/2006/relationships/image" Target="/ppt/media/image4.jpeg" Id="Rc3b7281cdfcb49d2" /><Relationship Type="http://schemas.openxmlformats.org/officeDocument/2006/relationships/image" Target="/ppt/media/image5.jpeg" Id="R398a8504ff6a47fe" /><Relationship Type="http://schemas.openxmlformats.org/officeDocument/2006/relationships/image" Target="/ppt/media/image6.jpeg" Id="R985d06da10874b21" /><Relationship Type="http://schemas.openxmlformats.org/officeDocument/2006/relationships/notesSlide" Target="/ppt/notesSlides/notesSlide8.xml" Id="R25eace8cd9734d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577d2abe48412c" /><Relationship Type="http://schemas.openxmlformats.org/officeDocument/2006/relationships/image" Target="/ppt/media/image7.jpeg" Id="Rc38c6858f425441c" /><Relationship Type="http://schemas.openxmlformats.org/officeDocument/2006/relationships/notesSlide" Target="/ppt/notesSlides/notesSlide9.xml" Id="Re7c2b4e1252c49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8a379e7dbb4b27" /><Relationship Type="http://schemas.openxmlformats.org/officeDocument/2006/relationships/image" Target="/ppt/media/image8.jpeg" Id="R0e2ea470dee04ffb" /><Relationship Type="http://schemas.openxmlformats.org/officeDocument/2006/relationships/image" Target="/ppt/media/image9.jpeg" Id="R8e65dd4077a942e7" /><Relationship Type="http://schemas.openxmlformats.org/officeDocument/2006/relationships/notesSlide" Target="/ppt/notesSlides/notesSlide10.xml" Id="R388c0e22fc614c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6b7a395e884d74" /><Relationship Type="http://schemas.openxmlformats.org/officeDocument/2006/relationships/chart" Target="/ppt/slides/charts/chart1.xml" Id="Ra190405e0987406b" /><Relationship Type="http://schemas.openxmlformats.org/officeDocument/2006/relationships/notesSlide" Target="/ppt/notesSlides/notesSlide11.xml" Id="R86626027645c43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6b74d33a654762" /><Relationship Type="http://schemas.openxmlformats.org/officeDocument/2006/relationships/image" Target="/ppt/media/image10.jpeg" Id="Ra4148a7e837b4888" /><Relationship Type="http://schemas.openxmlformats.org/officeDocument/2006/relationships/image" Target="/ppt/media/image11.jpeg" Id="R0daa26c97ef5409d" /><Relationship Type="http://schemas.openxmlformats.org/officeDocument/2006/relationships/image" Target="/ppt/media/image12.jpeg" Id="R33170ba0636240ac" /><Relationship Type="http://schemas.openxmlformats.org/officeDocument/2006/relationships/notesSlide" Target="/ppt/notesSlides/notesSlide12.xml" Id="Rd6593a7e1a2647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866be502ba4a92" /><Relationship Type="http://schemas.openxmlformats.org/officeDocument/2006/relationships/notesSlide" Target="/ppt/notesSlides/notesSlide13.xml" Id="R03224cdef5ec4f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8c2d5508f44d22" /><Relationship Type="http://schemas.openxmlformats.org/officeDocument/2006/relationships/notesSlide" Target="/ppt/notesSlides/notesSlide14.xml" Id="R085db1266cbb4b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1c9f5f424246a6" /><Relationship Type="http://schemas.openxmlformats.org/officeDocument/2006/relationships/chart" Target="/ppt/slides/charts/chart2.xml" Id="Rf1f1f04edbab4418" /><Relationship Type="http://schemas.openxmlformats.org/officeDocument/2006/relationships/notesSlide" Target="/ppt/notesSlides/notesSlide15.xml" Id="Rdbb28386a0a54a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089158604642a3" /><Relationship Type="http://schemas.openxmlformats.org/officeDocument/2006/relationships/notesSlide" Target="/ppt/notesSlides/notesSlide16.xml" Id="R270325c39ead48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88233a81d14237" /><Relationship Type="http://schemas.openxmlformats.org/officeDocument/2006/relationships/notesSlide" Target="/ppt/notesSlides/notesSlide17.xml" Id="Rb73121af81e645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dee423a3374a69" /><Relationship Type="http://schemas.openxmlformats.org/officeDocument/2006/relationships/image" Target="/ppt/media/image13.jpeg" Id="R3a9679a82f36480e" /><Relationship Type="http://schemas.openxmlformats.org/officeDocument/2006/relationships/notesSlide" Target="/ppt/notesSlides/notesSlide18.xml" Id="R8a53e06281834e9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d4ee3d55d5e4e7f" /><Relationship Type="http://schemas.openxmlformats.org/officeDocument/2006/relationships/notesSlide" Target="/ppt/notesSlides/notesSlide19.xml" Id="Rb1e95227a17d42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11d72e0cf4e43ba" /><Relationship Type="http://schemas.openxmlformats.org/officeDocument/2006/relationships/chart" Target="/ppt/slides/charts/chart3.xml" Id="Rd04d15f99f1842ec" /><Relationship Type="http://schemas.openxmlformats.org/officeDocument/2006/relationships/chart" Target="/ppt/slides/charts/chart4.xml" Id="R5311a393e2984795" /><Relationship Type="http://schemas.openxmlformats.org/officeDocument/2006/relationships/notesSlide" Target="/ppt/notesSlides/notesSlide20.xml" Id="Rb4938fd9fe344a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ef3d83e962c4f78" /><Relationship Type="http://schemas.openxmlformats.org/officeDocument/2006/relationships/notesSlide" Target="/ppt/notesSlides/notesSlide21.xml" Id="Rf3e2085182db401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3ec9df4442f4378" /><Relationship Type="http://schemas.openxmlformats.org/officeDocument/2006/relationships/notesSlide" Target="/ppt/notesSlides/notesSlide22.xml" Id="Ra492a707b0ec4f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880a4e612be41ab" /><Relationship Type="http://schemas.openxmlformats.org/officeDocument/2006/relationships/notesSlide" Target="/ppt/notesSlides/notesSlide23.xml" Id="R5a5c974a1a324a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8094caac0a84171" /><Relationship Type="http://schemas.openxmlformats.org/officeDocument/2006/relationships/image" Target="/ppt/media/image5.png" Id="R893110f17a9d495f" /><Relationship Type="http://schemas.openxmlformats.org/officeDocument/2006/relationships/notesSlide" Target="/ppt/notesSlides/notesSlide24.xml" Id="R9f8fc403dc8e46f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0a87166c4e94e0c" /><Relationship Type="http://schemas.openxmlformats.org/officeDocument/2006/relationships/chart" Target="/ppt/slides/charts/chart5.xml" Id="R88fc7662509d41e0" /><Relationship Type="http://schemas.openxmlformats.org/officeDocument/2006/relationships/notesSlide" Target="/ppt/notesSlides/notesSlide25.xml" Id="R89172dd6a175409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32c4585b9f4e54" /><Relationship Type="http://schemas.openxmlformats.org/officeDocument/2006/relationships/notesSlide" Target="/ppt/notesSlides/notesSlide26.xml" Id="R5341275313994f6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76579cdf27f43ef" /><Relationship Type="http://schemas.openxmlformats.org/officeDocument/2006/relationships/chart" Target="/ppt/slides/charts/chart6.xml" Id="R06da19362b0e41ca" /><Relationship Type="http://schemas.openxmlformats.org/officeDocument/2006/relationships/notesSlide" Target="/ppt/notesSlides/notesSlide27.xml" Id="R7d7bd3959b0c497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49837d094da437d" /><Relationship Type="http://schemas.openxmlformats.org/officeDocument/2006/relationships/notesSlide" Target="/ppt/notesSlides/notesSlide28.xml" Id="Rea27260c4ebb4d72" /></Relationships>
</file>

<file path=ppt/slides/charts/chart1.xml><?xml version="1.0" encoding="utf-8"?>
<c:chartSpace xmlns:c="http://schemas.openxmlformats.org/drawingml/2006/chart">
  <c:lang val="en-US"/>
  <c:chart>
    <c:plotArea>
      <c:barChart>
        <c:barDir val="col"/>
        <c:grouping val="clustered"/>
        <c:varyColors val="0"/>
        <c:ser>
          <c:idx val="0"/>
          <c:order val="0"/>
          <c:tx>
            <c:v>Apparent viscosity</c:v>
          </c:tx>
          <c:spPr>
            <a:solidFill xmlns:a="http://schemas.openxmlformats.org/drawingml/2006/main">
              <a:srgbClr val="0B5B8C"/>
            </a:solidFill>
          </c:spPr>
          <c:dPt>
            <c:idx val="3"/>
            <c:invertIfNegative val="0"/>
            <c:spPr>
              <a:solidFill xmlns:a="http://schemas.openxmlformats.org/drawingml/2006/main">
                <a:srgbClr val="00A9B7"/>
              </a:solidFill>
            </c:spPr>
          </c:dPt>
          <c:cat>
            <c:strLit>
              <c:ptCount val="4"/>
              <c:pt idx="0">
                <c:v>Control</c:v>
              </c:pt>
              <c:pt idx="1">
                <c:v>2% nominal</c:v>
              </c:pt>
              <c:pt idx="2">
                <c:v>4% nominal</c:v>
              </c:pt>
              <c:pt idx="3">
                <c:v>6% nominal</c:v>
              </c:pt>
            </c:strLit>
          </c:cat>
          <c:val>
            <c:numLit>
              <c:formatCode>General</c:formatCode>
              <c:ptCount val="4"/>
              <c:pt idx="0">
                <c:v>30</c:v>
              </c:pt>
              <c:pt idx="1">
                <c:v>36.3</c:v>
              </c:pt>
              <c:pt idx="2">
                <c:v>61</c:v>
              </c:pt>
              <c:pt idx="3">
                <c:v>136.6</c:v>
              </c:pt>
            </c:numLit>
          </c:val>
        </c:ser>
        <c:dLbls>
          <c:txPr>
            <a:bodyPr xmlns:a="http://schemas.openxmlformats.org/drawingml/2006/main" anchorCtr="1"/>
            <a:lstStyle xmlns:a="http://schemas.openxmlformats.org/drawingml/2006/main"/>
            <a:p xmlns:a="http://schemas.openxmlformats.org/drawingml/2006/main">
              <a:pPr>
                <a:defRPr sz="975"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9F0F4"/>
            </a:solidFill>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Apparent viscosity at ≈100 s⁻¹ (mPa·s)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50"/>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Mean overall liking</c:v>
          </c:tx>
          <c:spPr>
            <a:solidFill xmlns:a="http://schemas.openxmlformats.org/drawingml/2006/main">
              <a:srgbClr val="98A8B3"/>
            </a:solidFill>
          </c:spPr>
          <c:dPt>
            <c:idx val="0"/>
            <c:invertIfNegative val="0"/>
            <c:spPr>
              <a:solidFill xmlns:a="http://schemas.openxmlformats.org/drawingml/2006/main">
                <a:srgbClr val="98A8B3"/>
              </a:solidFill>
            </c:spPr>
          </c:dPt>
          <c:dPt>
            <c:idx val="1"/>
            <c:invertIfNegative val="0"/>
            <c:spPr>
              <a:solidFill xmlns:a="http://schemas.openxmlformats.org/drawingml/2006/main">
                <a:srgbClr val="6F8F72"/>
              </a:solidFill>
            </c:spPr>
          </c:dPt>
          <c:dPt>
            <c:idx val="2"/>
            <c:invertIfNegative val="0"/>
            <c:spPr>
              <a:solidFill xmlns:a="http://schemas.openxmlformats.org/drawingml/2006/main">
                <a:srgbClr val="0B5B8C"/>
              </a:solidFill>
            </c:spPr>
          </c:dPt>
          <c:dPt>
            <c:idx val="3"/>
            <c:invertIfNegative val="0"/>
            <c:spPr>
              <a:solidFill xmlns:a="http://schemas.openxmlformats.org/drawingml/2006/main">
                <a:srgbClr val="082C4C"/>
              </a:solidFill>
            </c:spPr>
          </c:dPt>
          <c:dPt>
            <c:idx val="4"/>
            <c:invertIfNegative val="0"/>
            <c:spPr>
              <a:solidFill xmlns:a="http://schemas.openxmlformats.org/drawingml/2006/main">
                <a:srgbClr val="00A9B7"/>
              </a:solidFill>
            </c:spPr>
          </c:dPt>
          <c:cat>
            <c:strLit>
              <c:ptCount val="5"/>
              <c:pt idx="0">
                <c:v>320
Soy/Rice</c:v>
              </c:pt>
              <c:pt idx="1">
                <c:v>473
Rice</c:v>
              </c:pt>
              <c:pt idx="2">
                <c:v>589
Soy</c:v>
              </c:pt>
              <c:pt idx="3">
                <c:v>667
Control</c:v>
              </c:pt>
              <c:pt idx="4">
                <c:v>798
S/R/P</c:v>
              </c:pt>
            </c:strLit>
          </c:cat>
          <c:val>
            <c:numLit>
              <c:formatCode>General</c:formatCode>
              <c:ptCount val="5"/>
              <c:pt idx="0">
                <c:v>5.56</c:v>
              </c:pt>
              <c:pt idx="1">
                <c:v>6.27</c:v>
              </c:pt>
              <c:pt idx="2">
                <c:v>6.09</c:v>
              </c:pt>
              <c:pt idx="3">
                <c:v>7.04</c:v>
              </c:pt>
              <c:pt idx="4">
                <c:v>6.56</c:v>
              </c:pt>
            </c:numLit>
          </c:val>
        </c:ser>
        <c:dLbls>
          <c:txPr>
            <a:bodyPr xmlns:a="http://schemas.openxmlformats.org/drawingml/2006/main" anchorCtr="1"/>
            <a:lstStyle xmlns:a="http://schemas.openxmlformats.org/drawingml/2006/main"/>
            <a:p xmlns:a="http://schemas.openxmlformats.org/drawingml/2006/main">
              <a:pPr>
                <a:defRPr sz="1050"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9F0F4"/>
            </a:solidFill>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Overall liking (1–9)</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1"/>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Soy screening</c:v>
          </c:tx>
          <c:spPr>
            <a:solidFill xmlns:a="http://schemas.openxmlformats.org/drawingml/2006/main">
              <a:srgbClr val="0B5B8C"/>
            </a:solidFill>
          </c:spPr>
          <c:cat>
            <c:strLit>
              <c:ptCount val="4"/>
              <c:pt idx="0">
                <c:v>Control</c:v>
              </c:pt>
              <c:pt idx="1">
                <c:v>2%</c:v>
              </c:pt>
              <c:pt idx="2">
                <c:v>4%</c:v>
              </c:pt>
              <c:pt idx="3">
                <c:v>6%</c:v>
              </c:pt>
            </c:strLit>
          </c:cat>
          <c:val>
            <c:numLit>
              <c:formatCode>General</c:formatCode>
              <c:ptCount val="4"/>
              <c:pt idx="0">
                <c:v>30</c:v>
              </c:pt>
              <c:pt idx="1">
                <c:v>36.3</c:v>
              </c:pt>
              <c:pt idx="2">
                <c:v>61</c:v>
              </c:pt>
              <c:pt idx="3">
                <c:v>136.6</c:v>
              </c:pt>
            </c:numLit>
          </c:val>
        </c:ser>
        <c:dLbls>
          <c:txPr>
            <a:bodyPr xmlns:a="http://schemas.openxmlformats.org/drawingml/2006/main" anchorCtr="1"/>
            <a:lstStyle xmlns:a="http://schemas.openxmlformats.org/drawingml/2006/main"/>
            <a:p xmlns:a="http://schemas.openxmlformats.org/drawingml/2006/main">
              <a:pPr>
                <a:defRPr sz="975"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mPa·s at ≈100 s⁻¹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50"/>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Rice 4% pilot</c:v>
          </c:tx>
          <c:spPr>
            <a:solidFill xmlns:a="http://schemas.openxmlformats.org/drawingml/2006/main">
              <a:srgbClr val="D8B77B"/>
            </a:solidFill>
          </c:spPr>
          <c:dPt>
            <c:idx val="1"/>
            <c:invertIfNegative val="0"/>
            <c:spPr>
              <a:solidFill xmlns:a="http://schemas.openxmlformats.org/drawingml/2006/main">
                <a:srgbClr val="B64A50"/>
              </a:solidFill>
            </c:spPr>
          </c:dPt>
          <c:cat>
            <c:strLit>
              <c:ptCount val="2"/>
              <c:pt idx="0">
                <c:v>Before heating</c:v>
              </c:pt>
              <c:pt idx="1">
                <c:v>After heating</c:v>
              </c:pt>
            </c:strLit>
          </c:cat>
          <c:val>
            <c:numLit>
              <c:formatCode>General</c:formatCode>
              <c:ptCount val="2"/>
              <c:pt idx="0">
                <c:v>11.6</c:v>
              </c:pt>
              <c:pt idx="1">
                <c:v>86.1</c:v>
              </c:pt>
            </c:numLit>
          </c:val>
        </c:ser>
        <c:dLbls>
          <c:txPr>
            <a:bodyPr xmlns:a="http://schemas.openxmlformats.org/drawingml/2006/main" anchorCtr="1"/>
            <a:lstStyle xmlns:a="http://schemas.openxmlformats.org/drawingml/2006/main"/>
            <a:p xmlns:a="http://schemas.openxmlformats.org/drawingml/2006/main">
              <a:pPr>
                <a:defRPr sz="975"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878"/>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mPa·s at ≈100 s⁻¹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20"/>
      </c:valAx>
    </c:plotArea>
    <c:plotVisOnly val="1"/>
  </c:chart>
</c:chartSpace>
</file>

<file path=ppt/slides/charts/chart5.xml><?xml version="1.0" encoding="utf-8"?>
<c:chartSpace xmlns:c="http://schemas.openxmlformats.org/drawingml/2006/chart">
  <c:lang val="en-US"/>
  <c:chart>
    <c:plotArea>
      <c:barChart>
        <c:barDir val="bar"/>
        <c:grouping val="clustered"/>
        <c:varyColors val="0"/>
        <c:ser>
          <c:idx val="0"/>
          <c:order val="0"/>
          <c:tx>
            <c:v>Central JAR region</c:v>
          </c:tx>
          <c:spPr>
            <a:solidFill xmlns:a="http://schemas.openxmlformats.org/drawingml/2006/main">
              <a:srgbClr val="00A9B7"/>
            </a:solidFill>
          </c:spPr>
          <c:dPt>
            <c:idx val="1"/>
            <c:invertIfNegative val="0"/>
            <c:spPr>
              <a:solidFill xmlns:a="http://schemas.openxmlformats.org/drawingml/2006/main">
                <a:srgbClr val="D8B77B"/>
              </a:solidFill>
            </c:spPr>
          </c:dPt>
          <c:cat>
            <c:strLit>
              <c:ptCount val="5"/>
              <c:pt idx="0">
                <c:v>Sweetness</c:v>
              </c:pt>
              <c:pt idx="1">
                <c:v>Bitterness</c:v>
              </c:pt>
              <c:pt idx="2">
                <c:v>Flavour intensity</c:v>
              </c:pt>
              <c:pt idx="3">
                <c:v>Creaminess</c:v>
              </c:pt>
              <c:pt idx="4">
                <c:v>Thickness</c:v>
              </c:pt>
            </c:strLit>
          </c:cat>
          <c:val>
            <c:numLit>
              <c:formatCode>General</c:formatCode>
              <c:ptCount val="5"/>
              <c:pt idx="0">
                <c:v>84</c:v>
              </c:pt>
              <c:pt idx="1">
                <c:v>60</c:v>
              </c:pt>
              <c:pt idx="2">
                <c:v>88</c:v>
              </c:pt>
              <c:pt idx="3">
                <c:v>84</c:v>
              </c:pt>
              <c:pt idx="4">
                <c:v>80</c:v>
              </c:pt>
            </c:numLit>
          </c:val>
        </c:ser>
        <c:dLbls>
          <c:txPr>
            <a:bodyPr xmlns:a="http://schemas.openxmlformats.org/drawingml/2006/main" anchorCtr="1"/>
            <a:lstStyle xmlns:a="http://schemas.openxmlformats.org/drawingml/2006/main"/>
            <a:p xmlns:a="http://schemas.openxmlformats.org/drawingml/2006/main">
              <a:pPr>
                <a:defRPr sz="1050"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Participants in central JAR region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9F0F4"/>
            </a:solidFill>
          </a:ln>
        </c:spPr>
        <c:txPr>
          <a:bodyPr xmlns:a="http://schemas.openxmlformats.org/drawingml/2006/main" anchorCtr="1"/>
          <a:lstStyle xmlns:a="http://schemas.openxmlformats.org/drawingml/2006/main"/>
          <a:p xmlns:a="http://schemas.openxmlformats.org/drawingml/2006/main">
            <a:pPr>
              <a:defRPr sz="1050">
                <a:solidFill>
                  <a:srgbClr val="173244"/>
                </a:solidFill>
                <a:latin typeface="Arial"/>
                <a:ea typeface="Arial"/>
                <a:cs typeface="Arial"/>
              </a:defRPr>
            </a:pPr>
          </a:p>
        </c:txPr>
        <c:crossAx val="48650112"/>
        <c:crossBetween val="between"/>
      </c:valAx>
    </c:plotArea>
    <c:plotVisOnly val="1"/>
  </c:chart>
</c:chartSpace>
</file>

<file path=ppt/slides/charts/chart6.xml><?xml version="1.0" encoding="utf-8"?>
<c:chartSpace xmlns:c="http://schemas.openxmlformats.org/drawingml/2006/chart">
  <c:lang val="en-US"/>
  <c:chart>
    <c:plotArea>
      <c:barChart>
        <c:barDir val="col"/>
        <c:grouping val="clustered"/>
        <c:varyColors val="0"/>
        <c:ser>
          <c:idx val="0"/>
          <c:order val="0"/>
          <c:tx>
            <c:v>First-choice votes</c:v>
          </c:tx>
          <c:spPr>
            <a:solidFill xmlns:a="http://schemas.openxmlformats.org/drawingml/2006/main">
              <a:srgbClr val="98A8B3"/>
            </a:solidFill>
          </c:spPr>
          <c:dPt>
            <c:idx val="5"/>
            <c:invertIfNegative val="0"/>
            <c:spPr>
              <a:solidFill xmlns:a="http://schemas.openxmlformats.org/drawingml/2006/main">
                <a:srgbClr val="082C4C"/>
              </a:solidFill>
            </c:spPr>
          </c:dPt>
          <c:dPt>
            <c:idx val="6"/>
            <c:invertIfNegative val="0"/>
            <c:spPr>
              <a:solidFill xmlns:a="http://schemas.openxmlformats.org/drawingml/2006/main">
                <a:srgbClr val="00A9B7"/>
              </a:solidFill>
            </c:spPr>
          </c:dPt>
          <c:cat>
            <c:numLit>
              <c:formatCode>General</c:formatCode>
              <c:ptCount val="7"/>
              <c:pt idx="0">
                <c:v>156</c:v>
              </c:pt>
              <c:pt idx="1">
                <c:v>235</c:v>
              </c:pt>
              <c:pt idx="2">
                <c:v>320</c:v>
              </c:pt>
              <c:pt idx="3">
                <c:v>473</c:v>
              </c:pt>
              <c:pt idx="4">
                <c:v>589</c:v>
              </c:pt>
              <c:pt idx="5">
                <c:v>667</c:v>
              </c:pt>
              <c:pt idx="6">
                <c:v>798</c:v>
              </c:pt>
            </c:numLit>
          </c:cat>
          <c:val>
            <c:numLit>
              <c:formatCode>General</c:formatCode>
              <c:ptCount val="7"/>
              <c:pt idx="0">
                <c:v>3</c:v>
              </c:pt>
              <c:pt idx="1">
                <c:v>1</c:v>
              </c:pt>
              <c:pt idx="2">
                <c:v>4</c:v>
              </c:pt>
              <c:pt idx="3">
                <c:v>3</c:v>
              </c:pt>
              <c:pt idx="4">
                <c:v>0</c:v>
              </c:pt>
              <c:pt idx="5">
                <c:v>11</c:v>
              </c:pt>
              <c:pt idx="6">
                <c:v>3</c:v>
              </c:pt>
            </c:numLit>
          </c:val>
        </c:ser>
        <c:dLbls>
          <c:txPr>
            <a:bodyPr xmlns:a="http://schemas.openxmlformats.org/drawingml/2006/main" anchorCtr="1"/>
            <a:lstStyle xmlns:a="http://schemas.openxmlformats.org/drawingml/2006/main"/>
            <a:p xmlns:a="http://schemas.openxmlformats.org/drawingml/2006/main">
              <a:pPr>
                <a:defRPr sz="1050" b="1">
                  <a:solidFill>
                    <a:srgbClr val="173244"/>
                  </a:solidFill>
                  <a:latin typeface="Arial"/>
                  <a:ea typeface="Arial"/>
                  <a:cs typeface="Arial"/>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878"/>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E9F0F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First-choice votes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878"/>
                </a:solidFill>
                <a:latin typeface="Arial"/>
                <a:ea typeface="Arial"/>
                <a:cs typeface="Arial"/>
              </a:defRPr>
            </a:pPr>
          </a:p>
        </c:txPr>
        <c:crossAx val="48650112"/>
        <c:crossBetween val="between"/>
        <c:majorUnit val="2"/>
      </c:valAx>
    </c:plotArea>
    <c:plotVisOnly val="1"/>
  </c:chart>
</c:chartSpace>
</file>

<file path=ppt/slides/slide1.xml><?xml version="1.0" encoding="utf-8"?>
<p:sld xmlns:p="http://schemas.openxmlformats.org/presentationml/2006/main">
  <p:cSld>
    <p:bg>
      <p:bgPr>
        <a:solidFill xmlns:a="http://schemas.openxmlformats.org/drawingml/2006/main">
          <a:srgbClr val="082C4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4b128324f0f4b5b"/>
          <a:srcRect xmlns:a="http://schemas.openxmlformats.org/drawingml/2006/main" l="19271" t="0" r="192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F0D21A-19F8-44A3-B153-7E058F1A483B}"/>
              </a:ext>
            </a:extLst>
          </p:cNvPr>
          <p:cNvSpPr>
            <a:spLocks xmlns:a="http://schemas.openxmlformats.org/drawingml/2006/main" noGrp="1"/>
          </p:cNvSpPr>
          <p:nvPr/>
        </p:nvSpPr>
        <p:spPr>
          <a:xfrm xmlns:a="http://schemas.openxmlformats.org/drawingml/2006/main">
            <a:off x="5953125" y="0"/>
            <a:ext cx="1524000" cy="6858000"/>
          </a:xfrm>
          <a:prstGeom xmlns:a="http://schemas.openxmlformats.org/drawingml/2006/main" prst="rect">
            <a:avLst/>
          </a:prstGeom>
          <a:solidFill xmlns:a="http://schemas.openxmlformats.org/drawingml/2006/main">
            <a:srgbClr val="082C4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22D62A-B165-4E69-8BD6-1A6DC53813A0}"/>
              </a:ext>
            </a:extLst>
          </p:cNvPr>
          <p:cNvSpPr>
            <a:spLocks xmlns:a="http://schemas.openxmlformats.org/drawingml/2006/main" noGrp="1"/>
          </p:cNvSpPr>
          <p:nvPr/>
        </p:nvSpPr>
        <p:spPr>
          <a:xfrm xmlns:a="http://schemas.openxmlformats.org/drawingml/2006/main">
            <a:off x="6096000" y="0"/>
            <a:ext cx="9525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936922-5740-48AE-911F-2982CC6E3FA3}"/>
              </a:ext>
            </a:extLst>
          </p:cNvPr>
          <p:cNvSpPr>
            <a:spLocks xmlns:a="http://schemas.openxmlformats.org/drawingml/2006/main" noGrp="1"/>
          </p:cNvSpPr>
          <p:nvPr/>
        </p:nvSpPr>
        <p:spPr>
          <a:xfrm xmlns:a="http://schemas.openxmlformats.org/drawingml/2006/main">
            <a:off x="666750" y="6667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ENGINEERING INTERNSHIP DEFENSE</a:t>
            </a:r>
          </a:p>
        </p:txBody>
      </p:sp>
      <p:sp>
        <p:nvSpPr>
          <p:cNvPr id="5" name="">
            <a:extLst xmlns:a="http://schemas.openxmlformats.org/drawingml/2006/main">
              <a:ext uri="{FF2B5EF4-FFF2-40B4-BE49-F238E27FC236}">
                <a16:creationId xmlns:a16="http://schemas.microsoft.com/office/drawing/2014/main" id="{CC711F9B-D0F6-4673-A707-98F785F2560C}"/>
              </a:ext>
            </a:extLst>
          </p:cNvPr>
          <p:cNvSpPr>
            <a:spLocks xmlns:a="http://schemas.openxmlformats.org/drawingml/2006/main" noGrp="1"/>
          </p:cNvSpPr>
          <p:nvPr/>
        </p:nvSpPr>
        <p:spPr>
          <a:xfrm xmlns:a="http://schemas.openxmlformats.org/drawingml/2006/main">
            <a:off x="666750" y="1104900"/>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60"/>
          </a:bodyPr>
          <a:lstStyle xmlns:a="http://schemas.openxmlformats.org/drawingml/2006/main"/>
          <a:p xmlns:a="http://schemas.openxmlformats.org/drawingml/2006/main">
            <a:pPr algn="l">
              <a:defRPr sz="3450" b="1" i="0">
                <a:solidFill>
                  <a:srgbClr val="FFFFFF"/>
                </a:solidFill>
                <a:latin typeface="Arial"/>
                <a:ea typeface="Arial"/>
                <a:cs typeface="Arial"/>
              </a:defRPr>
            </a:pPr>
            <a:r>
              <a:rPr sz="3450" b="1" i="0">
                <a:solidFill>
                  <a:srgbClr val="FFFFFF"/>
                </a:solidFill>
                <a:latin typeface="Arial"/>
                <a:ea typeface="Arial"/>
                <a:cs typeface="Arial"/>
              </a:rPr>
              <a:t>Protein Enrichment</a:t>
            </a:r>
          </a:p>
          <a:p xmlns:a="http://schemas.openxmlformats.org/drawingml/2006/main">
            <a:pPr algn="l">
              <a:defRPr sz="3450" b="1" i="0">
                <a:solidFill>
                  <a:srgbClr val="FFFFFF"/>
                </a:solidFill>
                <a:latin typeface="Arial"/>
                <a:ea typeface="Arial"/>
                <a:cs typeface="Arial"/>
              </a:defRPr>
            </a:pPr>
            <a:r>
              <a:rPr sz="3450" b="1" i="0">
                <a:solidFill>
                  <a:srgbClr val="FFFFFF"/>
                </a:solidFill>
                <a:latin typeface="Arial"/>
                <a:ea typeface="Arial"/>
                <a:cs typeface="Arial"/>
              </a:rPr>
              <a:t>of an Oat-Based Beverage</a:t>
            </a:r>
          </a:p>
        </p:txBody>
      </p:sp>
      <p:sp>
        <p:nvSpPr>
          <p:cNvPr id="6" name="">
            <a:extLst xmlns:a="http://schemas.openxmlformats.org/drawingml/2006/main">
              <a:ext uri="{FF2B5EF4-FFF2-40B4-BE49-F238E27FC236}">
                <a16:creationId xmlns:a16="http://schemas.microsoft.com/office/drawing/2014/main" id="{3935B8E2-25C8-400E-BE84-D7101FFD51DE}"/>
              </a:ext>
            </a:extLst>
          </p:cNvPr>
          <p:cNvSpPr>
            <a:spLocks xmlns:a="http://schemas.openxmlformats.org/drawingml/2006/main" noGrp="1"/>
          </p:cNvSpPr>
          <p:nvPr/>
        </p:nvSpPr>
        <p:spPr>
          <a:xfrm xmlns:a="http://schemas.openxmlformats.org/drawingml/2006/main">
            <a:off x="666750" y="29051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D9EAF1"/>
                </a:solidFill>
                <a:latin typeface="Arial"/>
                <a:ea typeface="Arial"/>
                <a:cs typeface="Arial"/>
              </a:defRPr>
            </a:pPr>
            <a:r>
              <a:rPr sz="1575" b="0" i="0">
                <a:solidFill>
                  <a:srgbClr val="D9EAF1"/>
                </a:solidFill>
                <a:latin typeface="Arial"/>
                <a:ea typeface="Arial"/>
                <a:cs typeface="Arial"/>
              </a:rPr>
              <a:t>Engineering Internship at Auckland University of Technology</a:t>
            </a:r>
          </a:p>
        </p:txBody>
      </p:sp>
      <p:sp>
        <p:nvSpPr>
          <p:cNvPr id="7" name="">
            <a:extLst xmlns:a="http://schemas.openxmlformats.org/drawingml/2006/main">
              <a:ext uri="{FF2B5EF4-FFF2-40B4-BE49-F238E27FC236}">
                <a16:creationId xmlns:a16="http://schemas.microsoft.com/office/drawing/2014/main" id="{A7555661-5744-475E-85F6-0DC7781AAE63}"/>
              </a:ext>
            </a:extLst>
          </p:cNvPr>
          <p:cNvSpPr>
            <a:spLocks xmlns:a="http://schemas.openxmlformats.org/drawingml/2006/main" noGrp="1"/>
          </p:cNvSpPr>
          <p:nvPr/>
        </p:nvSpPr>
        <p:spPr>
          <a:xfrm xmlns:a="http://schemas.openxmlformats.org/drawingml/2006/main">
            <a:off x="666750" y="4000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i="0">
                <a:solidFill>
                  <a:srgbClr val="FFFFFF"/>
                </a:solidFill>
                <a:latin typeface="Arial"/>
                <a:ea typeface="Arial"/>
                <a:cs typeface="Arial"/>
              </a:defRPr>
            </a:pPr>
            <a:r>
              <a:rPr sz="1800" b="1" i="0">
                <a:solidFill>
                  <a:srgbClr val="FFFFFF"/>
                </a:solidFill>
                <a:latin typeface="Arial"/>
                <a:ea typeface="Arial"/>
                <a:cs typeface="Arial"/>
              </a:rPr>
              <a:t>Kali Mana</a:t>
            </a:r>
          </a:p>
        </p:txBody>
      </p:sp>
      <p:sp>
        <p:nvSpPr>
          <p:cNvPr id="8" name="">
            <a:extLst xmlns:a="http://schemas.openxmlformats.org/drawingml/2006/main">
              <a:ext uri="{FF2B5EF4-FFF2-40B4-BE49-F238E27FC236}">
                <a16:creationId xmlns:a16="http://schemas.microsoft.com/office/drawing/2014/main" id="{CFEF93B7-B9A5-4CC9-9341-941E157921AB}"/>
              </a:ext>
            </a:extLst>
          </p:cNvPr>
          <p:cNvSpPr>
            <a:spLocks xmlns:a="http://schemas.openxmlformats.org/drawingml/2006/main" noGrp="1"/>
          </p:cNvSpPr>
          <p:nvPr/>
        </p:nvSpPr>
        <p:spPr>
          <a:xfrm xmlns:a="http://schemas.openxmlformats.org/drawingml/2006/main">
            <a:off x="666750" y="440055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D9EAF1"/>
                </a:solidFill>
                <a:latin typeface="Arial"/>
                <a:ea typeface="Arial"/>
                <a:cs typeface="Arial"/>
              </a:defRPr>
            </a:pPr>
            <a:r>
              <a:rPr sz="1275" b="0" i="0">
                <a:solidFill>
                  <a:srgbClr val="D9EAF1"/>
                </a:solidFill>
                <a:latin typeface="Arial"/>
                <a:ea typeface="Arial"/>
                <a:cs typeface="Arial"/>
              </a:rPr>
              <a:t>Food Engineering · ESIROI</a:t>
            </a:r>
          </a:p>
          <a:p xmlns:a="http://schemas.openxmlformats.org/drawingml/2006/main">
            <a:pPr algn="l">
              <a:defRPr sz="1275" b="0" i="0">
                <a:solidFill>
                  <a:srgbClr val="D9EAF1"/>
                </a:solidFill>
                <a:latin typeface="Arial"/>
                <a:ea typeface="Arial"/>
                <a:cs typeface="Arial"/>
              </a:defRPr>
            </a:pPr>
            <a:r>
              <a:rPr sz="1275" b="0" i="0">
                <a:solidFill>
                  <a:srgbClr val="D9EAF1"/>
                </a:solidFill>
                <a:latin typeface="Arial"/>
                <a:ea typeface="Arial"/>
                <a:cs typeface="Arial"/>
              </a:rPr>
              <a:t>Auckland, New Zealand</a:t>
            </a:r>
          </a:p>
          <a:p xmlns:a="http://schemas.openxmlformats.org/drawingml/2006/main">
            <a:pPr algn="l">
              <a:defRPr sz="1275" b="0" i="0">
                <a:solidFill>
                  <a:srgbClr val="D9EAF1"/>
                </a:solidFill>
                <a:latin typeface="Arial"/>
                <a:ea typeface="Arial"/>
                <a:cs typeface="Arial"/>
              </a:defRPr>
            </a:pPr>
            <a:r>
              <a:rPr sz="1275" b="0" i="0">
                <a:solidFill>
                  <a:srgbClr val="D9EAF1"/>
                </a:solidFill>
                <a:latin typeface="Arial"/>
                <a:ea typeface="Arial"/>
                <a:cs typeface="Arial"/>
              </a:rPr>
              <a:t>April – August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60d867e458046b3"/>
          <a:stretch xmlns:a="http://schemas.openxmlformats.org/drawingml/2006/main"/>
        </p:blipFill>
        <p:spPr>
          <a:xfrm xmlns:a="http://schemas.openxmlformats.org/drawingml/2006/main">
            <a:off x="1147763" y="5886450"/>
            <a:ext cx="514350" cy="5143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73b1aaeeb244774"/>
          <a:stretch xmlns:a="http://schemas.openxmlformats.org/drawingml/2006/main"/>
        </p:blipFill>
        <p:spPr>
          <a:xfrm xmlns:a="http://schemas.openxmlformats.org/drawingml/2006/main">
            <a:off x="2397702" y="5886450"/>
            <a:ext cx="1776845" cy="5143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a7e1cbd09914a2a"/>
          <a:stretch xmlns:a="http://schemas.openxmlformats.org/drawingml/2006/main"/>
        </p:blipFill>
        <p:spPr>
          <a:xfrm xmlns:a="http://schemas.openxmlformats.org/drawingml/2006/main">
            <a:off x="4633732" y="5810250"/>
            <a:ext cx="924285" cy="628650"/>
          </a:xfrm>
          <a:prstGeom xmlns:a="http://schemas.openxmlformats.org/drawingml/2006/main" prst="rect">
            <a:avLst/>
          </a:prstGeom>
        </p:spPr>
      </p:pic>
    </p:spTree>
    <p:extLst>
      <p:ext uri="{BB962C8B-B14F-4D97-AF65-F5344CB8AC3E}">
        <p14:creationId xmlns:p14="http://schemas.microsoft.com/office/powerpoint/2010/main" val="13094817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2FA6A2A-D5B3-47FF-9CBE-A5E9AA2C136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7E2A66-19B6-4161-A5E9-732365B12281}"/>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13887081-F906-43FD-B347-898B625D1C4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D54CBAFD-AD16-439E-BB74-E3E868C4B947}"/>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A44B5D1F-E585-463F-89C5-1AD490966E2D}"/>
              </a:ext>
            </a:extLst>
          </p:cNvPr>
          <p:cNvSpPr>
            <a:spLocks xmlns:a="http://schemas.openxmlformats.org/drawingml/2006/main" noGrp="1"/>
          </p:cNvSpPr>
          <p:nvPr/>
        </p:nvSpPr>
        <p:spPr>
          <a:xfrm xmlns:a="http://schemas.openxmlformats.org/drawingml/2006/main">
            <a:off x="66675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0B5B8C"/>
                </a:solidFill>
                <a:latin typeface="Arial"/>
                <a:ea typeface="Arial"/>
                <a:cs typeface="Arial"/>
              </a:defRPr>
            </a:pPr>
            <a:r>
              <a:rPr sz="3300" b="1" i="0">
                <a:solidFill>
                  <a:srgbClr val="0B5B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9387223-17D1-4B35-A9E3-8D21F11C6503}"/>
              </a:ext>
            </a:extLst>
          </p:cNvPr>
          <p:cNvSpPr>
            <a:spLocks xmlns:a="http://schemas.openxmlformats.org/drawingml/2006/main" noGrp="1"/>
          </p:cNvSpPr>
          <p:nvPr/>
        </p:nvSpPr>
        <p:spPr>
          <a:xfrm xmlns:a="http://schemas.openxmlformats.org/drawingml/2006/main">
            <a:off x="666750" y="2571750"/>
            <a:ext cx="2381250" cy="9525"/>
          </a:xfrm>
          <a:prstGeom xmlns:a="http://schemas.openxmlformats.org/drawingml/2006/main" prst="line">
            <a:avLst/>
          </a:prstGeom>
          <a:noFill xmlns:a="http://schemas.openxmlformats.org/drawingml/2006/main"/>
          <a:ln xmlns:a="http://schemas.openxmlformats.org/drawingml/2006/main" w="38100">
            <a:solidFill>
              <a:srgbClr val="0B5B8C"/>
            </a:solidFill>
          </a:ln>
        </p:spPr>
      </p:sp>
      <p:sp>
        <p:nvSpPr>
          <p:cNvPr id="7" name="">
            <a:extLst xmlns:a="http://schemas.openxmlformats.org/drawingml/2006/main">
              <a:ext uri="{FF2B5EF4-FFF2-40B4-BE49-F238E27FC236}">
                <a16:creationId xmlns:a16="http://schemas.microsoft.com/office/drawing/2014/main" id="{ADB6A754-D51C-47E7-8B2B-30A028828A8E}"/>
              </a:ext>
            </a:extLst>
          </p:cNvPr>
          <p:cNvSpPr>
            <a:spLocks xmlns:a="http://schemas.openxmlformats.org/drawingml/2006/main" noGrp="1"/>
          </p:cNvSpPr>
          <p:nvPr/>
        </p:nvSpPr>
        <p:spPr>
          <a:xfrm xmlns:a="http://schemas.openxmlformats.org/drawingml/2006/main">
            <a:off x="66675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AUT and internship context</a:t>
            </a:r>
          </a:p>
        </p:txBody>
      </p:sp>
      <p:sp>
        <p:nvSpPr>
          <p:cNvPr id="8" name="">
            <a:extLst xmlns:a="http://schemas.openxmlformats.org/drawingml/2006/main">
              <a:ext uri="{FF2B5EF4-FFF2-40B4-BE49-F238E27FC236}">
                <a16:creationId xmlns:a16="http://schemas.microsoft.com/office/drawing/2014/main" id="{38C3FDF7-EC1B-4754-845F-8DE810B33B5A}"/>
              </a:ext>
            </a:extLst>
          </p:cNvPr>
          <p:cNvSpPr>
            <a:spLocks xmlns:a="http://schemas.openxmlformats.org/drawingml/2006/main" noGrp="1"/>
          </p:cNvSpPr>
          <p:nvPr/>
        </p:nvSpPr>
        <p:spPr>
          <a:xfrm xmlns:a="http://schemas.openxmlformats.org/drawingml/2006/main">
            <a:off x="3048000" y="2476500"/>
            <a:ext cx="304800"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9" name="">
            <a:extLst xmlns:a="http://schemas.openxmlformats.org/drawingml/2006/main">
              <a:ext uri="{FF2B5EF4-FFF2-40B4-BE49-F238E27FC236}">
                <a16:creationId xmlns:a16="http://schemas.microsoft.com/office/drawing/2014/main" id="{A52AF9AD-AD02-4E23-B2D3-ED042F56B32E}"/>
              </a:ext>
            </a:extLst>
          </p:cNvPr>
          <p:cNvSpPr>
            <a:spLocks xmlns:a="http://schemas.openxmlformats.org/drawingml/2006/main" noGrp="1"/>
          </p:cNvSpPr>
          <p:nvPr/>
        </p:nvSpPr>
        <p:spPr>
          <a:xfrm xmlns:a="http://schemas.openxmlformats.org/drawingml/2006/main">
            <a:off x="3276600" y="24193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394F93-6FF1-48A1-BD10-A5445AFFA233}"/>
              </a:ext>
            </a:extLst>
          </p:cNvPr>
          <p:cNvSpPr>
            <a:spLocks xmlns:a="http://schemas.openxmlformats.org/drawingml/2006/main" noGrp="1"/>
          </p:cNvSpPr>
          <p:nvPr/>
        </p:nvSpPr>
        <p:spPr>
          <a:xfrm xmlns:a="http://schemas.openxmlformats.org/drawingml/2006/main">
            <a:off x="350520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00A9B7"/>
                </a:solidFill>
                <a:latin typeface="Arial"/>
                <a:ea typeface="Arial"/>
                <a:cs typeface="Arial"/>
              </a:defRPr>
            </a:pPr>
            <a:r>
              <a:rPr sz="3300" b="1" i="0">
                <a:solidFill>
                  <a:srgbClr val="00A9B7"/>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2207910-25F2-4018-A3CC-ADDF342B1DB8}"/>
              </a:ext>
            </a:extLst>
          </p:cNvPr>
          <p:cNvSpPr>
            <a:spLocks xmlns:a="http://schemas.openxmlformats.org/drawingml/2006/main" noGrp="1"/>
          </p:cNvSpPr>
          <p:nvPr/>
        </p:nvSpPr>
        <p:spPr>
          <a:xfrm xmlns:a="http://schemas.openxmlformats.org/drawingml/2006/main">
            <a:off x="3505200" y="2571750"/>
            <a:ext cx="2381250" cy="9525"/>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12" name="">
            <a:extLst xmlns:a="http://schemas.openxmlformats.org/drawingml/2006/main">
              <a:ext uri="{FF2B5EF4-FFF2-40B4-BE49-F238E27FC236}">
                <a16:creationId xmlns:a16="http://schemas.microsoft.com/office/drawing/2014/main" id="{853F5D9D-64AB-4520-AD67-0C31F85F34CA}"/>
              </a:ext>
            </a:extLst>
          </p:cNvPr>
          <p:cNvSpPr>
            <a:spLocks xmlns:a="http://schemas.openxmlformats.org/drawingml/2006/main" noGrp="1"/>
          </p:cNvSpPr>
          <p:nvPr/>
        </p:nvSpPr>
        <p:spPr>
          <a:xfrm xmlns:a="http://schemas.openxmlformats.org/drawingml/2006/main">
            <a:off x="350520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From virtual reality to oat beverage development</a:t>
            </a:r>
          </a:p>
        </p:txBody>
      </p:sp>
      <p:sp>
        <p:nvSpPr>
          <p:cNvPr id="13" name="">
            <a:extLst xmlns:a="http://schemas.openxmlformats.org/drawingml/2006/main">
              <a:ext uri="{FF2B5EF4-FFF2-40B4-BE49-F238E27FC236}">
                <a16:creationId xmlns:a16="http://schemas.microsoft.com/office/drawing/2014/main" id="{F7BA877E-EFC4-469C-A316-493E2FFFEA1C}"/>
              </a:ext>
            </a:extLst>
          </p:cNvPr>
          <p:cNvSpPr>
            <a:spLocks xmlns:a="http://schemas.openxmlformats.org/drawingml/2006/main" noGrp="1"/>
          </p:cNvSpPr>
          <p:nvPr/>
        </p:nvSpPr>
        <p:spPr>
          <a:xfrm xmlns:a="http://schemas.openxmlformats.org/drawingml/2006/main">
            <a:off x="5886450" y="2476500"/>
            <a:ext cx="304800"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4" name="">
            <a:extLst xmlns:a="http://schemas.openxmlformats.org/drawingml/2006/main">
              <a:ext uri="{FF2B5EF4-FFF2-40B4-BE49-F238E27FC236}">
                <a16:creationId xmlns:a16="http://schemas.microsoft.com/office/drawing/2014/main" id="{01C7A78B-8F8C-4083-82E5-ED8D7D294797}"/>
              </a:ext>
            </a:extLst>
          </p:cNvPr>
          <p:cNvSpPr>
            <a:spLocks xmlns:a="http://schemas.openxmlformats.org/drawingml/2006/main" noGrp="1"/>
          </p:cNvSpPr>
          <p:nvPr/>
        </p:nvSpPr>
        <p:spPr>
          <a:xfrm xmlns:a="http://schemas.openxmlformats.org/drawingml/2006/main">
            <a:off x="6115050" y="24193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29BD9B-1310-47A5-B5E5-D1C0183F0BFF}"/>
              </a:ext>
            </a:extLst>
          </p:cNvPr>
          <p:cNvSpPr>
            <a:spLocks xmlns:a="http://schemas.openxmlformats.org/drawingml/2006/main" noGrp="1"/>
          </p:cNvSpPr>
          <p:nvPr/>
        </p:nvSpPr>
        <p:spPr>
          <a:xfrm xmlns:a="http://schemas.openxmlformats.org/drawingml/2006/main">
            <a:off x="634365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6F8F72"/>
                </a:solidFill>
                <a:latin typeface="Arial"/>
                <a:ea typeface="Arial"/>
                <a:cs typeface="Arial"/>
              </a:defRPr>
            </a:pPr>
            <a:r>
              <a:rPr sz="3300" b="1" i="0">
                <a:solidFill>
                  <a:srgbClr val="6F8F72"/>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C7E08E8-5556-48D9-96C2-FB47981CDF64}"/>
              </a:ext>
            </a:extLst>
          </p:cNvPr>
          <p:cNvSpPr>
            <a:spLocks xmlns:a="http://schemas.openxmlformats.org/drawingml/2006/main" noGrp="1"/>
          </p:cNvSpPr>
          <p:nvPr/>
        </p:nvSpPr>
        <p:spPr>
          <a:xfrm xmlns:a="http://schemas.openxmlformats.org/drawingml/2006/main">
            <a:off x="6343650" y="2571750"/>
            <a:ext cx="2381250" cy="9525"/>
          </a:xfrm>
          <a:prstGeom xmlns:a="http://schemas.openxmlformats.org/drawingml/2006/main" prst="line">
            <a:avLst/>
          </a:prstGeom>
          <a:noFill xmlns:a="http://schemas.openxmlformats.org/drawingml/2006/main"/>
          <a:ln xmlns:a="http://schemas.openxmlformats.org/drawingml/2006/main" w="38100">
            <a:solidFill>
              <a:srgbClr val="6F8F72"/>
            </a:solidFill>
          </a:ln>
        </p:spPr>
      </p:sp>
      <p:sp>
        <p:nvSpPr>
          <p:cNvPr id="17" name="">
            <a:extLst xmlns:a="http://schemas.openxmlformats.org/drawingml/2006/main">
              <a:ext uri="{FF2B5EF4-FFF2-40B4-BE49-F238E27FC236}">
                <a16:creationId xmlns:a16="http://schemas.microsoft.com/office/drawing/2014/main" id="{98B9151C-9F63-46F4-9837-A66880AAB7C0}"/>
              </a:ext>
            </a:extLst>
          </p:cNvPr>
          <p:cNvSpPr>
            <a:spLocks xmlns:a="http://schemas.openxmlformats.org/drawingml/2006/main" noGrp="1"/>
          </p:cNvSpPr>
          <p:nvPr/>
        </p:nvSpPr>
        <p:spPr>
          <a:xfrm xmlns:a="http://schemas.openxmlformats.org/drawingml/2006/main">
            <a:off x="634365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Protein-enriched oat beverage project</a:t>
            </a:r>
          </a:p>
        </p:txBody>
      </p:sp>
      <p:sp>
        <p:nvSpPr>
          <p:cNvPr id="18" name="">
            <a:extLst xmlns:a="http://schemas.openxmlformats.org/drawingml/2006/main">
              <a:ext uri="{FF2B5EF4-FFF2-40B4-BE49-F238E27FC236}">
                <a16:creationId xmlns:a16="http://schemas.microsoft.com/office/drawing/2014/main" id="{CEE355DB-A390-4B81-9F9D-13FE9D2DEFB1}"/>
              </a:ext>
            </a:extLst>
          </p:cNvPr>
          <p:cNvSpPr>
            <a:spLocks xmlns:a="http://schemas.openxmlformats.org/drawingml/2006/main" noGrp="1"/>
          </p:cNvSpPr>
          <p:nvPr/>
        </p:nvSpPr>
        <p:spPr>
          <a:xfrm xmlns:a="http://schemas.openxmlformats.org/drawingml/2006/main">
            <a:off x="8724900" y="2476500"/>
            <a:ext cx="304800"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9" name="">
            <a:extLst xmlns:a="http://schemas.openxmlformats.org/drawingml/2006/main">
              <a:ext uri="{FF2B5EF4-FFF2-40B4-BE49-F238E27FC236}">
                <a16:creationId xmlns:a16="http://schemas.microsoft.com/office/drawing/2014/main" id="{D8A6B0F4-8088-4212-A352-D583FABD0EC1}"/>
              </a:ext>
            </a:extLst>
          </p:cNvPr>
          <p:cNvSpPr>
            <a:spLocks xmlns:a="http://schemas.openxmlformats.org/drawingml/2006/main" noGrp="1"/>
          </p:cNvSpPr>
          <p:nvPr/>
        </p:nvSpPr>
        <p:spPr>
          <a:xfrm xmlns:a="http://schemas.openxmlformats.org/drawingml/2006/main">
            <a:off x="8953500" y="24193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8A0985D-2ABF-4779-B411-579B99D7E309}"/>
              </a:ext>
            </a:extLst>
          </p:cNvPr>
          <p:cNvSpPr>
            <a:spLocks xmlns:a="http://schemas.openxmlformats.org/drawingml/2006/main" noGrp="1"/>
          </p:cNvSpPr>
          <p:nvPr/>
        </p:nvSpPr>
        <p:spPr>
          <a:xfrm xmlns:a="http://schemas.openxmlformats.org/drawingml/2006/main">
            <a:off x="9182100" y="1809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i="0">
                <a:solidFill>
                  <a:srgbClr val="D8B77B"/>
                </a:solidFill>
                <a:latin typeface="Arial"/>
                <a:ea typeface="Arial"/>
                <a:cs typeface="Arial"/>
              </a:defRPr>
            </a:pPr>
            <a:r>
              <a:rPr sz="3300" b="1" i="0">
                <a:solidFill>
                  <a:srgbClr val="D8B77B"/>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0B5FF71C-F724-4752-AF23-75D2CAD36BAA}"/>
              </a:ext>
            </a:extLst>
          </p:cNvPr>
          <p:cNvSpPr>
            <a:spLocks xmlns:a="http://schemas.openxmlformats.org/drawingml/2006/main" noGrp="1"/>
          </p:cNvSpPr>
          <p:nvPr/>
        </p:nvSpPr>
        <p:spPr>
          <a:xfrm xmlns:a="http://schemas.openxmlformats.org/drawingml/2006/main">
            <a:off x="9182100" y="2571750"/>
            <a:ext cx="2381250" cy="9525"/>
          </a:xfrm>
          <a:prstGeom xmlns:a="http://schemas.openxmlformats.org/drawingml/2006/main" prst="line">
            <a:avLst/>
          </a:prstGeom>
          <a:noFill xmlns:a="http://schemas.openxmlformats.org/drawingml/2006/main"/>
          <a:ln xmlns:a="http://schemas.openxmlformats.org/drawingml/2006/main" w="38100">
            <a:solidFill>
              <a:srgbClr val="D8B77B"/>
            </a:solidFill>
          </a:ln>
        </p:spPr>
      </p:sp>
      <p:sp>
        <p:nvSpPr>
          <p:cNvPr id="22" name="">
            <a:extLst xmlns:a="http://schemas.openxmlformats.org/drawingml/2006/main">
              <a:ext uri="{FF2B5EF4-FFF2-40B4-BE49-F238E27FC236}">
                <a16:creationId xmlns:a16="http://schemas.microsoft.com/office/drawing/2014/main" id="{98111347-7FA8-4187-B1B0-BD4ADEAE0902}"/>
              </a:ext>
            </a:extLst>
          </p:cNvPr>
          <p:cNvSpPr>
            <a:spLocks xmlns:a="http://schemas.openxmlformats.org/drawingml/2006/main" noGrp="1"/>
          </p:cNvSpPr>
          <p:nvPr/>
        </p:nvSpPr>
        <p:spPr>
          <a:xfrm xmlns:a="http://schemas.openxmlformats.org/drawingml/2006/main">
            <a:off x="9182100" y="28003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173244"/>
                </a:solidFill>
                <a:latin typeface="Arial"/>
                <a:ea typeface="Arial"/>
                <a:cs typeface="Arial"/>
              </a:defRPr>
            </a:pPr>
            <a:r>
              <a:rPr sz="1500" b="1" i="0">
                <a:solidFill>
                  <a:srgbClr val="173244"/>
                </a:solidFill>
                <a:latin typeface="Arial"/>
                <a:ea typeface="Arial"/>
                <a:cs typeface="Arial"/>
              </a:rPr>
              <a:t>Results, recommendations and professional outcomes</a:t>
            </a:r>
          </a:p>
        </p:txBody>
      </p:sp>
      <p:sp>
        <p:nvSpPr>
          <p:cNvPr id="23" name="">
            <a:extLst xmlns:a="http://schemas.openxmlformats.org/drawingml/2006/main">
              <a:ext uri="{FF2B5EF4-FFF2-40B4-BE49-F238E27FC236}">
                <a16:creationId xmlns:a16="http://schemas.microsoft.com/office/drawing/2014/main" id="{D6FFDE51-465A-427B-A957-6977828F186B}"/>
              </a:ext>
            </a:extLst>
          </p:cNvPr>
          <p:cNvSpPr>
            <a:spLocks xmlns:a="http://schemas.openxmlformats.org/drawingml/2006/main" noGrp="1"/>
          </p:cNvSpPr>
          <p:nvPr/>
        </p:nvSpPr>
        <p:spPr>
          <a:xfrm xmlns:a="http://schemas.openxmlformats.org/drawingml/2006/main">
            <a:off x="666750" y="4953000"/>
            <a:ext cx="10858500" cy="6096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82C4C"/>
                </a:solidFill>
                <a:latin typeface="Arial"/>
                <a:ea typeface="Arial"/>
                <a:cs typeface="Arial"/>
              </a:defRPr>
            </a:pPr>
            <a:r>
              <a:rPr sz="1875" b="1" i="0">
                <a:solidFill>
                  <a:srgbClr val="082C4C"/>
                </a:solidFill>
                <a:latin typeface="Arial"/>
                <a:ea typeface="Arial"/>
                <a:cs typeface="Arial"/>
              </a:rPr>
              <a:t>The oat beverage project forms the core of this defense.</a:t>
            </a:r>
          </a:p>
        </p:txBody>
      </p:sp>
      <p:sp>
        <p:nvSpPr>
          <p:cNvPr id="24" name="">
            <a:extLst xmlns:a="http://schemas.openxmlformats.org/drawingml/2006/main">
              <a:ext uri="{FF2B5EF4-FFF2-40B4-BE49-F238E27FC236}">
                <a16:creationId xmlns:a16="http://schemas.microsoft.com/office/drawing/2014/main" id="{C9EC6579-5CA4-4634-A165-A0F618B0EF10}"/>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5" name="">
            <a:extLst xmlns:a="http://schemas.openxmlformats.org/drawingml/2006/main">
              <a:ext uri="{FF2B5EF4-FFF2-40B4-BE49-F238E27FC236}">
                <a16:creationId xmlns:a16="http://schemas.microsoft.com/office/drawing/2014/main" id="{79BC476F-481F-434C-A866-680E71B310F8}"/>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02</a:t>
            </a:r>
          </a:p>
        </p:txBody>
      </p:sp>
    </p:spTree>
    <p:extLst>
      <p:ext uri="{BB962C8B-B14F-4D97-AF65-F5344CB8AC3E}">
        <p14:creationId xmlns:p14="http://schemas.microsoft.com/office/powerpoint/2010/main" val="12050456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8D9CDF4-16C3-4CAD-A5A3-A70CAFA4DFE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74ED20-DD82-4B96-9581-20889031B5E4}"/>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CONTEXT</a:t>
            </a:r>
          </a:p>
        </p:txBody>
      </p:sp>
      <p:sp>
        <p:nvSpPr>
          <p:cNvPr id="3" name="">
            <a:extLst xmlns:a="http://schemas.openxmlformats.org/drawingml/2006/main">
              <a:ext uri="{FF2B5EF4-FFF2-40B4-BE49-F238E27FC236}">
                <a16:creationId xmlns:a16="http://schemas.microsoft.com/office/drawing/2014/main" id="{E4B4F6F8-5AE7-4AA9-8034-F0797E888D05}"/>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Internship environment — Auckland University of Technology</a:t>
            </a:r>
          </a:p>
        </p:txBody>
      </p:sp>
      <p:sp>
        <p:nvSpPr>
          <p:cNvPr id="4" name="">
            <a:extLst xmlns:a="http://schemas.openxmlformats.org/drawingml/2006/main">
              <a:ext uri="{FF2B5EF4-FFF2-40B4-BE49-F238E27FC236}">
                <a16:creationId xmlns:a16="http://schemas.microsoft.com/office/drawing/2014/main" id="{A712E9B1-46FB-4F9E-9ACE-FAE39205C0B8}"/>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6033536d7db4c05"/>
          <a:stretch xmlns:a="http://schemas.openxmlformats.org/drawingml/2006/main"/>
        </p:blipFill>
        <p:spPr>
          <a:xfrm xmlns:a="http://schemas.openxmlformats.org/drawingml/2006/main">
            <a:off x="571500" y="1476375"/>
            <a:ext cx="285750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D14D6A1-27EB-4376-833F-48199D943D5F}"/>
              </a:ext>
            </a:extLst>
          </p:cNvPr>
          <p:cNvSpPr>
            <a:spLocks xmlns:a="http://schemas.openxmlformats.org/drawingml/2006/main" noGrp="1"/>
          </p:cNvSpPr>
          <p:nvPr/>
        </p:nvSpPr>
        <p:spPr>
          <a:xfrm xmlns:a="http://schemas.openxmlformats.org/drawingml/2006/main">
            <a:off x="819150" y="56959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98A8B3"/>
                </a:solidFill>
                <a:latin typeface="Arial"/>
                <a:ea typeface="Arial"/>
                <a:cs typeface="Arial"/>
              </a:defRPr>
            </a:pPr>
            <a:r>
              <a:rPr sz="1050" b="1" i="0">
                <a:solidFill>
                  <a:srgbClr val="98A8B3"/>
                </a:solidFill>
                <a:latin typeface="Arial"/>
                <a:ea typeface="Arial"/>
                <a:cs typeface="Arial"/>
              </a:rPr>
              <a:t>NEW ZEALAND</a:t>
            </a:r>
          </a:p>
        </p:txBody>
      </p:sp>
      <p:sp>
        <p:nvSpPr>
          <p:cNvPr id="7" name="">
            <a:extLst xmlns:a="http://schemas.openxmlformats.org/drawingml/2006/main">
              <a:ext uri="{FF2B5EF4-FFF2-40B4-BE49-F238E27FC236}">
                <a16:creationId xmlns:a16="http://schemas.microsoft.com/office/drawing/2014/main" id="{2A884DAD-FFAE-48B0-B6EE-F405DA737927}"/>
              </a:ext>
            </a:extLst>
          </p:cNvPr>
          <p:cNvSpPr>
            <a:spLocks xmlns:a="http://schemas.openxmlformats.org/drawingml/2006/main" noGrp="1"/>
          </p:cNvSpPr>
          <p:nvPr/>
        </p:nvSpPr>
        <p:spPr>
          <a:xfrm xmlns:a="http://schemas.openxmlformats.org/drawingml/2006/main">
            <a:off x="3571875" y="3619500"/>
            <a:ext cx="619125" cy="0"/>
          </a:xfrm>
          <a:prstGeom xmlns:a="http://schemas.openxmlformats.org/drawingml/2006/main" prst="line">
            <a:avLst/>
          </a:prstGeom>
          <a:noFill xmlns:a="http://schemas.openxmlformats.org/drawingml/2006/main"/>
          <a:ln xmlns:a="http://schemas.openxmlformats.org/drawingml/2006/main" w="28575">
            <a:solidFill>
              <a:srgbClr val="00A9B7"/>
            </a:solidFill>
          </a:ln>
        </p:spPr>
      </p:sp>
      <p:sp>
        <p:nvSpPr>
          <p:cNvPr id="8" name="">
            <a:extLst xmlns:a="http://schemas.openxmlformats.org/drawingml/2006/main">
              <a:ext uri="{FF2B5EF4-FFF2-40B4-BE49-F238E27FC236}">
                <a16:creationId xmlns:a16="http://schemas.microsoft.com/office/drawing/2014/main" id="{C79A5290-2C47-41B3-8BB6-5254F5A3BECA}"/>
              </a:ext>
            </a:extLst>
          </p:cNvPr>
          <p:cNvSpPr>
            <a:spLocks xmlns:a="http://schemas.openxmlformats.org/drawingml/2006/main" noGrp="1"/>
          </p:cNvSpPr>
          <p:nvPr/>
        </p:nvSpPr>
        <p:spPr>
          <a:xfrm xmlns:a="http://schemas.openxmlformats.org/drawingml/2006/main">
            <a:off x="4114800" y="3562350"/>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dd4e72ace324ec4"/>
          <a:srcRect xmlns:a="http://schemas.openxmlformats.org/drawingml/2006/main" l="0" t="3488" r="0" b="3488"/>
          <a:stretch xmlns:a="http://schemas.openxmlformats.org/drawingml/2006/main">
            <a:fillRect l="0" t="0" r="0" b="0"/>
          </a:stretch>
        </p:blipFill>
        <p:spPr>
          <a:xfrm xmlns:a="http://schemas.openxmlformats.org/drawingml/2006/main">
            <a:off x="4333875" y="1571625"/>
            <a:ext cx="4095750" cy="2857500"/>
          </a:xfrm>
          <a:prstGeom xmlns:a="http://schemas.openxmlformats.org/drawingml/2006/main" prst="roundRect">
            <a:avLst>
              <a:gd name="adj" fmla="val 5333"/>
            </a:avLst>
          </a:prstGeom>
        </p:spPr>
      </p:pic>
      <p:sp>
        <p:nvSpPr>
          <p:cNvPr id="10" name="">
            <a:extLst xmlns:a="http://schemas.openxmlformats.org/drawingml/2006/main">
              <a:ext uri="{FF2B5EF4-FFF2-40B4-BE49-F238E27FC236}">
                <a16:creationId xmlns:a16="http://schemas.microsoft.com/office/drawing/2014/main" id="{45ABB9DB-A653-40E8-9412-9BFAD9BCADBD}"/>
              </a:ext>
            </a:extLst>
          </p:cNvPr>
          <p:cNvSpPr>
            <a:spLocks xmlns:a="http://schemas.openxmlformats.org/drawingml/2006/main" noGrp="1"/>
          </p:cNvSpPr>
          <p:nvPr/>
        </p:nvSpPr>
        <p:spPr>
          <a:xfrm xmlns:a="http://schemas.openxmlformats.org/drawingml/2006/main">
            <a:off x="8810625" y="16192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667"/>
          </a:bodyPr>
          <a:lstStyle xmlns:a="http://schemas.openxmlformats.org/drawingml/2006/main"/>
          <a:p xmlns:a="http://schemas.openxmlformats.org/drawingml/2006/main">
            <a:pPr algn="l">
              <a:defRPr sz="3750" b="1" i="0">
                <a:solidFill>
                  <a:srgbClr val="0B5B8C"/>
                </a:solidFill>
                <a:latin typeface="Arial"/>
                <a:ea typeface="Arial"/>
                <a:cs typeface="Arial"/>
              </a:defRPr>
            </a:pPr>
            <a:r>
              <a:rPr sz="3750" b="1" i="0">
                <a:solidFill>
                  <a:srgbClr val="0B5B8C"/>
                </a:solidFill>
                <a:latin typeface="Arial"/>
                <a:ea typeface="Arial"/>
                <a:cs typeface="Arial"/>
              </a:rPr>
              <a:t>AUT</a:t>
            </a:r>
          </a:p>
        </p:txBody>
      </p:sp>
      <p:sp>
        <p:nvSpPr>
          <p:cNvPr id="11" name="">
            <a:extLst xmlns:a="http://schemas.openxmlformats.org/drawingml/2006/main">
              <a:ext uri="{FF2B5EF4-FFF2-40B4-BE49-F238E27FC236}">
                <a16:creationId xmlns:a16="http://schemas.microsoft.com/office/drawing/2014/main" id="{950EB41B-8404-4C29-B983-560979B5B85F}"/>
              </a:ext>
            </a:extLst>
          </p:cNvPr>
          <p:cNvSpPr>
            <a:spLocks xmlns:a="http://schemas.openxmlformats.org/drawingml/2006/main" noGrp="1"/>
          </p:cNvSpPr>
          <p:nvPr/>
        </p:nvSpPr>
        <p:spPr>
          <a:xfrm xmlns:a="http://schemas.openxmlformats.org/drawingml/2006/main">
            <a:off x="8810625" y="21145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School of Science</a:t>
            </a:r>
          </a:p>
        </p:txBody>
      </p:sp>
      <p:sp>
        <p:nvSpPr>
          <p:cNvPr id="12" name="">
            <a:extLst xmlns:a="http://schemas.openxmlformats.org/drawingml/2006/main">
              <a:ext uri="{FF2B5EF4-FFF2-40B4-BE49-F238E27FC236}">
                <a16:creationId xmlns:a16="http://schemas.microsoft.com/office/drawing/2014/main" id="{EDEA3ADC-2E90-4FE6-91AC-8C7DF818C90D}"/>
              </a:ext>
            </a:extLst>
          </p:cNvPr>
          <p:cNvSpPr>
            <a:spLocks xmlns:a="http://schemas.openxmlformats.org/drawingml/2006/main" noGrp="1"/>
          </p:cNvSpPr>
          <p:nvPr/>
        </p:nvSpPr>
        <p:spPr>
          <a:xfrm xmlns:a="http://schemas.openxmlformats.org/drawingml/2006/main">
            <a:off x="8810625" y="271462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593"/>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Food Science and Microbiology</a:t>
            </a:r>
          </a:p>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City Campus, Auckland</a:t>
            </a:r>
          </a:p>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Supervised by Dr Nazimah Hamid</a:t>
            </a:r>
          </a:p>
        </p:txBody>
      </p:sp>
      <p:sp>
        <p:nvSpPr>
          <p:cNvPr id="13" name="">
            <a:extLst xmlns:a="http://schemas.openxmlformats.org/drawingml/2006/main">
              <a:ext uri="{FF2B5EF4-FFF2-40B4-BE49-F238E27FC236}">
                <a16:creationId xmlns:a16="http://schemas.microsoft.com/office/drawing/2014/main" id="{5EE4FBA5-5345-4DA9-AE6B-AC26C4A81D9F}"/>
              </a:ext>
            </a:extLst>
          </p:cNvPr>
          <p:cNvSpPr>
            <a:spLocks xmlns:a="http://schemas.openxmlformats.org/drawingml/2006/main" noGrp="1"/>
          </p:cNvSpPr>
          <p:nvPr/>
        </p:nvSpPr>
        <p:spPr>
          <a:xfrm xmlns:a="http://schemas.openxmlformats.org/drawingml/2006/main">
            <a:off x="4333875" y="4762500"/>
            <a:ext cx="685800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63C4F5-4E7A-470C-A672-A59F2092F651}"/>
              </a:ext>
            </a:extLst>
          </p:cNvPr>
          <p:cNvSpPr>
            <a:spLocks xmlns:a="http://schemas.openxmlformats.org/drawingml/2006/main" noGrp="1"/>
          </p:cNvSpPr>
          <p:nvPr/>
        </p:nvSpPr>
        <p:spPr>
          <a:xfrm xmlns:a="http://schemas.openxmlformats.org/drawingml/2006/main">
            <a:off x="4333875" y="4762500"/>
            <a:ext cx="66675" cy="1143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EAF88D6-7DDC-4C79-B875-A781C7599EE6}"/>
              </a:ext>
            </a:extLst>
          </p:cNvPr>
          <p:cNvSpPr>
            <a:spLocks xmlns:a="http://schemas.openxmlformats.org/drawingml/2006/main" noGrp="1"/>
          </p:cNvSpPr>
          <p:nvPr/>
        </p:nvSpPr>
        <p:spPr>
          <a:xfrm xmlns:a="http://schemas.openxmlformats.org/drawingml/2006/main">
            <a:off x="4543425" y="4876800"/>
            <a:ext cx="651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Experimental setting</a:t>
            </a:r>
          </a:p>
        </p:txBody>
      </p:sp>
      <p:sp>
        <p:nvSpPr>
          <p:cNvPr id="16" name="">
            <a:extLst xmlns:a="http://schemas.openxmlformats.org/drawingml/2006/main">
              <a:ext uri="{FF2B5EF4-FFF2-40B4-BE49-F238E27FC236}">
                <a16:creationId xmlns:a16="http://schemas.microsoft.com/office/drawing/2014/main" id="{51F5C55F-0122-444B-B42B-FB94F8E5EA8D}"/>
              </a:ext>
            </a:extLst>
          </p:cNvPr>
          <p:cNvSpPr>
            <a:spLocks xmlns:a="http://schemas.openxmlformats.org/drawingml/2006/main" noGrp="1"/>
          </p:cNvSpPr>
          <p:nvPr/>
        </p:nvSpPr>
        <p:spPr>
          <a:xfrm xmlns:a="http://schemas.openxmlformats.org/drawingml/2006/main">
            <a:off x="4543425" y="5181600"/>
            <a:ext cx="6515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Food processing, rheology, centrifugation, freeze-drying, Kjeldahl analysis and sensory preparation within AUT Food Science facilities.</a:t>
            </a:r>
          </a:p>
        </p:txBody>
      </p:sp>
      <p:sp>
        <p:nvSpPr>
          <p:cNvPr id="17" name="">
            <a:extLst xmlns:a="http://schemas.openxmlformats.org/drawingml/2006/main">
              <a:ext uri="{FF2B5EF4-FFF2-40B4-BE49-F238E27FC236}">
                <a16:creationId xmlns:a16="http://schemas.microsoft.com/office/drawing/2014/main" id="{F81D4630-09FC-473E-A3BB-EBA0EE1A5C48}"/>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18" name="">
            <a:extLst xmlns:a="http://schemas.openxmlformats.org/drawingml/2006/main">
              <a:ext uri="{FF2B5EF4-FFF2-40B4-BE49-F238E27FC236}">
                <a16:creationId xmlns:a16="http://schemas.microsoft.com/office/drawing/2014/main" id="{A020363E-5306-420D-80F9-16EAF9883EEB}"/>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03</a:t>
            </a:r>
          </a:p>
        </p:txBody>
      </p:sp>
    </p:spTree>
    <p:extLst>
      <p:ext uri="{BB962C8B-B14F-4D97-AF65-F5344CB8AC3E}">
        <p14:creationId xmlns:p14="http://schemas.microsoft.com/office/powerpoint/2010/main" val="15417235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DB3D046-5D56-4671-8941-3F2B3355E14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B05B2C-ECA5-4602-9F1E-22932A0D471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TRAJECTORY</a:t>
            </a:r>
          </a:p>
        </p:txBody>
      </p:sp>
      <p:sp>
        <p:nvSpPr>
          <p:cNvPr id="3" name="">
            <a:extLst xmlns:a="http://schemas.openxmlformats.org/drawingml/2006/main">
              <a:ext uri="{FF2B5EF4-FFF2-40B4-BE49-F238E27FC236}">
                <a16:creationId xmlns:a16="http://schemas.microsoft.com/office/drawing/2014/main" id="{DDE83496-25C3-49B2-833C-ADCF9AC4135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One internship, two successive projects</a:t>
            </a:r>
          </a:p>
        </p:txBody>
      </p:sp>
      <p:sp>
        <p:nvSpPr>
          <p:cNvPr id="4" name="">
            <a:extLst xmlns:a="http://schemas.openxmlformats.org/drawingml/2006/main">
              <a:ext uri="{FF2B5EF4-FFF2-40B4-BE49-F238E27FC236}">
                <a16:creationId xmlns:a16="http://schemas.microsoft.com/office/drawing/2014/main" id="{EC091981-8FE4-4875-94CD-A8BA6DA564F3}"/>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2FFCAF9B-ABF1-475E-B66B-0BB7083DC2C9}"/>
              </a:ext>
            </a:extLst>
          </p:cNvPr>
          <p:cNvSpPr>
            <a:spLocks xmlns:a="http://schemas.openxmlformats.org/drawingml/2006/main" noGrp="1"/>
          </p:cNvSpPr>
          <p:nvPr/>
        </p:nvSpPr>
        <p:spPr>
          <a:xfrm xmlns:a="http://schemas.openxmlformats.org/drawingml/2006/main">
            <a:off x="714375" y="15240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i="0">
                <a:solidFill>
                  <a:srgbClr val="98A8B3"/>
                </a:solidFill>
                <a:latin typeface="Arial"/>
                <a:ea typeface="Arial"/>
                <a:cs typeface="Arial"/>
              </a:defRPr>
            </a:pPr>
            <a:r>
              <a:rPr sz="1050" b="1" i="0">
                <a:solidFill>
                  <a:srgbClr val="98A8B3"/>
                </a:solidFill>
                <a:latin typeface="Arial"/>
                <a:ea typeface="Arial"/>
                <a:cs typeface="Arial"/>
              </a:rPr>
              <a:t>24 APRIL</a:t>
            </a:r>
          </a:p>
        </p:txBody>
      </p:sp>
      <p:sp>
        <p:nvSpPr>
          <p:cNvPr id="6" name="">
            <a:extLst xmlns:a="http://schemas.openxmlformats.org/drawingml/2006/main">
              <a:ext uri="{FF2B5EF4-FFF2-40B4-BE49-F238E27FC236}">
                <a16:creationId xmlns:a16="http://schemas.microsoft.com/office/drawing/2014/main" id="{52A0D730-5D42-4250-A152-7B3B7CEA6E4C}"/>
              </a:ext>
            </a:extLst>
          </p:cNvPr>
          <p:cNvSpPr>
            <a:spLocks xmlns:a="http://schemas.openxmlformats.org/drawingml/2006/main" noGrp="1"/>
          </p:cNvSpPr>
          <p:nvPr/>
        </p:nvSpPr>
        <p:spPr>
          <a:xfrm xmlns:a="http://schemas.openxmlformats.org/drawingml/2006/main">
            <a:off x="10001250" y="15240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i="0">
                <a:solidFill>
                  <a:srgbClr val="98A8B3"/>
                </a:solidFill>
                <a:latin typeface="Arial"/>
                <a:ea typeface="Arial"/>
                <a:cs typeface="Arial"/>
              </a:defRPr>
            </a:pPr>
            <a:r>
              <a:rPr sz="1050" b="1" i="0">
                <a:solidFill>
                  <a:srgbClr val="98A8B3"/>
                </a:solidFill>
                <a:latin typeface="Arial"/>
                <a:ea typeface="Arial"/>
                <a:cs typeface="Arial"/>
              </a:rPr>
              <a:t>24 AUGUST</a:t>
            </a:r>
          </a:p>
        </p:txBody>
      </p:sp>
      <p:sp>
        <p:nvSpPr>
          <p:cNvPr id="7" name="">
            <a:extLst xmlns:a="http://schemas.openxmlformats.org/drawingml/2006/main">
              <a:ext uri="{FF2B5EF4-FFF2-40B4-BE49-F238E27FC236}">
                <a16:creationId xmlns:a16="http://schemas.microsoft.com/office/drawing/2014/main" id="{708F4DA5-0D82-4CBB-8192-5318D21F0964}"/>
              </a:ext>
            </a:extLst>
          </p:cNvPr>
          <p:cNvSpPr>
            <a:spLocks xmlns:a="http://schemas.openxmlformats.org/drawingml/2006/main" noGrp="1"/>
          </p:cNvSpPr>
          <p:nvPr/>
        </p:nvSpPr>
        <p:spPr>
          <a:xfrm xmlns:a="http://schemas.openxmlformats.org/drawingml/2006/main">
            <a:off x="904875" y="2095500"/>
            <a:ext cx="10287000" cy="9525"/>
          </a:xfrm>
          <a:prstGeom xmlns:a="http://schemas.openxmlformats.org/drawingml/2006/main" prst="line">
            <a:avLst/>
          </a:prstGeom>
          <a:noFill xmlns:a="http://schemas.openxmlformats.org/drawingml/2006/main"/>
          <a:ln xmlns:a="http://schemas.openxmlformats.org/drawingml/2006/main" w="57150">
            <a:solidFill>
              <a:srgbClr val="E9F0F4"/>
            </a:solidFill>
          </a:ln>
        </p:spPr>
      </p:sp>
      <p:sp>
        <p:nvSpPr>
          <p:cNvPr id="8" name="">
            <a:extLst xmlns:a="http://schemas.openxmlformats.org/drawingml/2006/main">
              <a:ext uri="{FF2B5EF4-FFF2-40B4-BE49-F238E27FC236}">
                <a16:creationId xmlns:a16="http://schemas.microsoft.com/office/drawing/2014/main" id="{31A4733E-350B-4D09-9D86-7D7F991DDDC5}"/>
              </a:ext>
            </a:extLst>
          </p:cNvPr>
          <p:cNvSpPr>
            <a:spLocks xmlns:a="http://schemas.openxmlformats.org/drawingml/2006/main" noGrp="1"/>
          </p:cNvSpPr>
          <p:nvPr/>
        </p:nvSpPr>
        <p:spPr>
          <a:xfrm xmlns:a="http://schemas.openxmlformats.org/drawingml/2006/main">
            <a:off x="1809750" y="1971675"/>
            <a:ext cx="247650" cy="2476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812867-60A3-46A2-8047-D3C9852BB7CD}"/>
              </a:ext>
            </a:extLst>
          </p:cNvPr>
          <p:cNvSpPr>
            <a:spLocks xmlns:a="http://schemas.openxmlformats.org/drawingml/2006/main" noGrp="1"/>
          </p:cNvSpPr>
          <p:nvPr/>
        </p:nvSpPr>
        <p:spPr>
          <a:xfrm xmlns:a="http://schemas.openxmlformats.org/drawingml/2006/main">
            <a:off x="5810250" y="1933575"/>
            <a:ext cx="323850" cy="32385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BAF9C11-4AEC-49C6-BF73-45EC8EFC27E6}"/>
              </a:ext>
            </a:extLst>
          </p:cNvPr>
          <p:cNvSpPr>
            <a:spLocks xmlns:a="http://schemas.openxmlformats.org/drawingml/2006/main" noGrp="1"/>
          </p:cNvSpPr>
          <p:nvPr/>
        </p:nvSpPr>
        <p:spPr>
          <a:xfrm xmlns:a="http://schemas.openxmlformats.org/drawingml/2006/main">
            <a:off x="10287000" y="1971675"/>
            <a:ext cx="247650" cy="247650"/>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8D8A32-20A6-40AC-AC42-1886312831AF}"/>
              </a:ext>
            </a:extLst>
          </p:cNvPr>
          <p:cNvSpPr>
            <a:spLocks xmlns:a="http://schemas.openxmlformats.org/drawingml/2006/main" noGrp="1"/>
          </p:cNvSpPr>
          <p:nvPr/>
        </p:nvSpPr>
        <p:spPr>
          <a:xfrm xmlns:a="http://schemas.openxmlformats.org/drawingml/2006/main">
            <a:off x="762000" y="2619375"/>
            <a:ext cx="3714750" cy="2381250"/>
          </a:xfrm>
          <a:prstGeom xmlns:a="http://schemas.openxmlformats.org/drawingml/2006/main" prst="roundRect">
            <a:avLst>
              <a:gd name="adj" fmla="val 3200"/>
            </a:avLst>
          </a:prstGeom>
          <a:solidFill xmlns:a="http://schemas.openxmlformats.org/drawingml/2006/main">
            <a:srgbClr val="EEF5F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ABA1BA-411D-46E3-8454-EC6226EB9EE4}"/>
              </a:ext>
            </a:extLst>
          </p:cNvPr>
          <p:cNvSpPr>
            <a:spLocks xmlns:a="http://schemas.openxmlformats.org/drawingml/2006/main" noGrp="1"/>
          </p:cNvSpPr>
          <p:nvPr/>
        </p:nvSpPr>
        <p:spPr>
          <a:xfrm xmlns:a="http://schemas.openxmlformats.org/drawingml/2006/main">
            <a:off x="762000" y="2619375"/>
            <a:ext cx="66675" cy="23812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1DCB1C-E565-49B5-858F-B18C1099D05E}"/>
              </a:ext>
            </a:extLst>
          </p:cNvPr>
          <p:cNvSpPr>
            <a:spLocks xmlns:a="http://schemas.openxmlformats.org/drawingml/2006/main" noGrp="1"/>
          </p:cNvSpPr>
          <p:nvPr/>
        </p:nvSpPr>
        <p:spPr>
          <a:xfrm xmlns:a="http://schemas.openxmlformats.org/drawingml/2006/main">
            <a:off x="971550" y="273367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Phase 1 · April to mid-June</a:t>
            </a:r>
          </a:p>
        </p:txBody>
      </p:sp>
      <p:sp>
        <p:nvSpPr>
          <p:cNvPr id="14" name="">
            <a:extLst xmlns:a="http://schemas.openxmlformats.org/drawingml/2006/main">
              <a:ext uri="{FF2B5EF4-FFF2-40B4-BE49-F238E27FC236}">
                <a16:creationId xmlns:a16="http://schemas.microsoft.com/office/drawing/2014/main" id="{8ABCA078-3B89-49E6-90B3-E4618900302F}"/>
              </a:ext>
            </a:extLst>
          </p:cNvPr>
          <p:cNvSpPr>
            <a:spLocks xmlns:a="http://schemas.openxmlformats.org/drawingml/2006/main" noGrp="1"/>
          </p:cNvSpPr>
          <p:nvPr/>
        </p:nvSpPr>
        <p:spPr>
          <a:xfrm xmlns:a="http://schemas.openxmlformats.org/drawingml/2006/main">
            <a:off x="971550" y="3038475"/>
            <a:ext cx="33718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Virtual Reality and Eating Behaviour</a:t>
            </a:r>
          </a:p>
          <a:p xmlns:a="http://schemas.openxmlformats.org/drawingml/2006/main">
            <a:r>
              <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Unity familiarisation</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Previous project review</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Headset testing</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Feasibility assessment</a:t>
            </a:r>
          </a:p>
        </p:txBody>
      </p:sp>
      <p:sp>
        <p:nvSpPr>
          <p:cNvPr id="15" name="">
            <a:extLst xmlns:a="http://schemas.openxmlformats.org/drawingml/2006/main">
              <a:ext uri="{FF2B5EF4-FFF2-40B4-BE49-F238E27FC236}">
                <a16:creationId xmlns:a16="http://schemas.microsoft.com/office/drawing/2014/main" id="{DD1F47C9-5031-45C8-9DE1-04730581D2C4}"/>
              </a:ext>
            </a:extLst>
          </p:cNvPr>
          <p:cNvSpPr>
            <a:spLocks xmlns:a="http://schemas.openxmlformats.org/drawingml/2006/main" noGrp="1"/>
          </p:cNvSpPr>
          <p:nvPr/>
        </p:nvSpPr>
        <p:spPr>
          <a:xfrm xmlns:a="http://schemas.openxmlformats.org/drawingml/2006/main">
            <a:off x="4762500" y="30480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00A9B7"/>
                </a:solidFill>
                <a:latin typeface="Arial"/>
                <a:ea typeface="Arial"/>
                <a:cs typeface="Arial"/>
              </a:defRPr>
            </a:pPr>
            <a:r>
              <a:rPr sz="1200" b="1" i="0">
                <a:solidFill>
                  <a:srgbClr val="00A9B7"/>
                </a:solidFill>
                <a:latin typeface="Arial"/>
                <a:ea typeface="Arial"/>
                <a:cs typeface="Arial"/>
              </a:rPr>
              <a:t>PROJECT REDIRECTION</a:t>
            </a:r>
          </a:p>
        </p:txBody>
      </p:sp>
      <p:sp>
        <p:nvSpPr>
          <p:cNvPr id="16" name="">
            <a:extLst xmlns:a="http://schemas.openxmlformats.org/drawingml/2006/main">
              <a:ext uri="{FF2B5EF4-FFF2-40B4-BE49-F238E27FC236}">
                <a16:creationId xmlns:a16="http://schemas.microsoft.com/office/drawing/2014/main" id="{72751B76-1B34-4FB5-87E4-695C5C87CA62}"/>
              </a:ext>
            </a:extLst>
          </p:cNvPr>
          <p:cNvSpPr>
            <a:spLocks xmlns:a="http://schemas.openxmlformats.org/drawingml/2006/main" noGrp="1"/>
          </p:cNvSpPr>
          <p:nvPr/>
        </p:nvSpPr>
        <p:spPr>
          <a:xfrm xmlns:a="http://schemas.openxmlformats.org/drawingml/2006/main">
            <a:off x="4810125" y="4000500"/>
            <a:ext cx="1619250" cy="0"/>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17" name="">
            <a:extLst xmlns:a="http://schemas.openxmlformats.org/drawingml/2006/main">
              <a:ext uri="{FF2B5EF4-FFF2-40B4-BE49-F238E27FC236}">
                <a16:creationId xmlns:a16="http://schemas.microsoft.com/office/drawing/2014/main" id="{CD083309-DAC6-4A8C-9E35-8C243C2B6CA0}"/>
              </a:ext>
            </a:extLst>
          </p:cNvPr>
          <p:cNvSpPr>
            <a:spLocks xmlns:a="http://schemas.openxmlformats.org/drawingml/2006/main" noGrp="1"/>
          </p:cNvSpPr>
          <p:nvPr/>
        </p:nvSpPr>
        <p:spPr>
          <a:xfrm xmlns:a="http://schemas.openxmlformats.org/drawingml/2006/main">
            <a:off x="6353175" y="3943350"/>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99455AE-DE29-4A74-AFAD-190E6162B849}"/>
              </a:ext>
            </a:extLst>
          </p:cNvPr>
          <p:cNvSpPr>
            <a:spLocks xmlns:a="http://schemas.openxmlformats.org/drawingml/2006/main" noGrp="1"/>
          </p:cNvSpPr>
          <p:nvPr/>
        </p:nvSpPr>
        <p:spPr>
          <a:xfrm xmlns:a="http://schemas.openxmlformats.org/drawingml/2006/main">
            <a:off x="6667500" y="2381250"/>
            <a:ext cx="4667250" cy="2857500"/>
          </a:xfrm>
          <a:prstGeom xmlns:a="http://schemas.openxmlformats.org/drawingml/2006/main" prst="roundRect">
            <a:avLst>
              <a:gd name="adj" fmla="val 2667"/>
            </a:avLst>
          </a:prstGeom>
          <a:solidFill xmlns:a="http://schemas.openxmlformats.org/drawingml/2006/main">
            <a:srgbClr val="F4EBD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F9E6C90-8D05-44F5-A6B3-E3DF803816F7}"/>
              </a:ext>
            </a:extLst>
          </p:cNvPr>
          <p:cNvSpPr>
            <a:spLocks xmlns:a="http://schemas.openxmlformats.org/drawingml/2006/main" noGrp="1"/>
          </p:cNvSpPr>
          <p:nvPr/>
        </p:nvSpPr>
        <p:spPr>
          <a:xfrm xmlns:a="http://schemas.openxmlformats.org/drawingml/2006/main">
            <a:off x="6667500" y="2381250"/>
            <a:ext cx="66675" cy="285750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524BBB-F17A-412A-87D2-2F164C45785C}"/>
              </a:ext>
            </a:extLst>
          </p:cNvPr>
          <p:cNvSpPr>
            <a:spLocks xmlns:a="http://schemas.openxmlformats.org/drawingml/2006/main" noGrp="1"/>
          </p:cNvSpPr>
          <p:nvPr/>
        </p:nvSpPr>
        <p:spPr>
          <a:xfrm xmlns:a="http://schemas.openxmlformats.org/drawingml/2006/main">
            <a:off x="6877050" y="2495550"/>
            <a:ext cx="432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Phase 2 · Late June to 24 August</a:t>
            </a:r>
          </a:p>
        </p:txBody>
      </p:sp>
      <p:sp>
        <p:nvSpPr>
          <p:cNvPr id="21" name="">
            <a:extLst xmlns:a="http://schemas.openxmlformats.org/drawingml/2006/main">
              <a:ext uri="{FF2B5EF4-FFF2-40B4-BE49-F238E27FC236}">
                <a16:creationId xmlns:a16="http://schemas.microsoft.com/office/drawing/2014/main" id="{56422CC7-4B96-4993-8A32-F42E4867C049}"/>
              </a:ext>
            </a:extLst>
          </p:cNvPr>
          <p:cNvSpPr>
            <a:spLocks xmlns:a="http://schemas.openxmlformats.org/drawingml/2006/main" noGrp="1"/>
          </p:cNvSpPr>
          <p:nvPr/>
        </p:nvSpPr>
        <p:spPr>
          <a:xfrm xmlns:a="http://schemas.openxmlformats.org/drawingml/2006/main">
            <a:off x="6877050" y="2800350"/>
            <a:ext cx="43243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Protein-enriched oat beverage</a:t>
            </a:r>
          </a:p>
          <a:p xmlns:a="http://schemas.openxmlformats.org/drawingml/2006/main">
            <a:r>
              <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Process trials and formulation screening</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Rheology and Kjeldahl analysis</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Sensory test and candidate selection</a:t>
            </a:r>
          </a:p>
        </p:txBody>
      </p:sp>
      <p:sp>
        <p:nvSpPr>
          <p:cNvPr id="22" name="">
            <a:extLst xmlns:a="http://schemas.openxmlformats.org/drawingml/2006/main">
              <a:ext uri="{FF2B5EF4-FFF2-40B4-BE49-F238E27FC236}">
                <a16:creationId xmlns:a16="http://schemas.microsoft.com/office/drawing/2014/main" id="{F275DDFE-29E4-477E-9713-15587313EE80}"/>
              </a:ext>
            </a:extLst>
          </p:cNvPr>
          <p:cNvSpPr>
            <a:spLocks xmlns:a="http://schemas.openxmlformats.org/drawingml/2006/main" noGrp="1"/>
          </p:cNvSpPr>
          <p:nvPr/>
        </p:nvSpPr>
        <p:spPr>
          <a:xfrm xmlns:a="http://schemas.openxmlformats.org/drawingml/2006/main">
            <a:off x="6667500" y="54768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Phase 2 became the main experimental project.</a:t>
            </a:r>
          </a:p>
        </p:txBody>
      </p:sp>
      <p:sp>
        <p:nvSpPr>
          <p:cNvPr id="23" name="">
            <a:extLst xmlns:a="http://schemas.openxmlformats.org/drawingml/2006/main">
              <a:ext uri="{FF2B5EF4-FFF2-40B4-BE49-F238E27FC236}">
                <a16:creationId xmlns:a16="http://schemas.microsoft.com/office/drawing/2014/main" id="{CB496354-91CD-4FE2-A21F-3DFEA972425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4" name="">
            <a:extLst xmlns:a="http://schemas.openxmlformats.org/drawingml/2006/main">
              <a:ext uri="{FF2B5EF4-FFF2-40B4-BE49-F238E27FC236}">
                <a16:creationId xmlns:a16="http://schemas.microsoft.com/office/drawing/2014/main" id="{F69B1706-39C7-4DE2-95F2-1001E1E1BA5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04</a:t>
            </a:r>
          </a:p>
        </p:txBody>
      </p:sp>
    </p:spTree>
    <p:extLst>
      <p:ext uri="{BB962C8B-B14F-4D97-AF65-F5344CB8AC3E}">
        <p14:creationId xmlns:p14="http://schemas.microsoft.com/office/powerpoint/2010/main" val="10325947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C17F403-6312-4CB8-A167-9BCFF6A8476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965398-AAB6-4153-A449-AC44F2FF9B97}"/>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ENGINEERING DECISION</a:t>
            </a:r>
          </a:p>
        </p:txBody>
      </p:sp>
      <p:sp>
        <p:nvSpPr>
          <p:cNvPr id="3" name="">
            <a:extLst xmlns:a="http://schemas.openxmlformats.org/drawingml/2006/main">
              <a:ext uri="{FF2B5EF4-FFF2-40B4-BE49-F238E27FC236}">
                <a16:creationId xmlns:a16="http://schemas.microsoft.com/office/drawing/2014/main" id="{344AF9F9-6564-4B2A-89AC-0720B99F486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Why the original project changed</a:t>
            </a:r>
          </a:p>
        </p:txBody>
      </p:sp>
      <p:sp>
        <p:nvSpPr>
          <p:cNvPr id="4" name="">
            <a:extLst xmlns:a="http://schemas.openxmlformats.org/drawingml/2006/main">
              <a:ext uri="{FF2B5EF4-FFF2-40B4-BE49-F238E27FC236}">
                <a16:creationId xmlns:a16="http://schemas.microsoft.com/office/drawing/2014/main" id="{5DDF6A3C-89D9-46C8-8E1D-17F97254660D}"/>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56df58e5fab4364"/>
          <a:srcRect xmlns:a="http://schemas.openxmlformats.org/drawingml/2006/main" l="0" t="20536" r="0" b="20536"/>
          <a:stretch xmlns:a="http://schemas.openxmlformats.org/drawingml/2006/main">
            <a:fillRect l="0" t="0" r="0" b="0"/>
          </a:stretch>
        </p:blipFill>
        <p:spPr>
          <a:xfrm xmlns:a="http://schemas.openxmlformats.org/drawingml/2006/main">
            <a:off x="666750" y="1524000"/>
            <a:ext cx="2000250" cy="1571625"/>
          </a:xfrm>
          <a:prstGeom xmlns:a="http://schemas.openxmlformats.org/drawingml/2006/main" prst="roundRect">
            <a:avLst>
              <a:gd name="adj" fmla="val 7273"/>
            </a:avLst>
          </a:prstGeom>
        </p:spPr>
      </p:pic>
      <p:sp>
        <p:nvSpPr>
          <p:cNvPr id="6" name="">
            <a:extLst xmlns:a="http://schemas.openxmlformats.org/drawingml/2006/main">
              <a:ext uri="{FF2B5EF4-FFF2-40B4-BE49-F238E27FC236}">
                <a16:creationId xmlns:a16="http://schemas.microsoft.com/office/drawing/2014/main" id="{D58CFFB4-1F6A-4A76-B891-EED21F40D401}"/>
              </a:ext>
            </a:extLst>
          </p:cNvPr>
          <p:cNvSpPr>
            <a:spLocks xmlns:a="http://schemas.openxmlformats.org/drawingml/2006/main" noGrp="1"/>
          </p:cNvSpPr>
          <p:nvPr/>
        </p:nvSpPr>
        <p:spPr>
          <a:xfrm xmlns:a="http://schemas.openxmlformats.org/drawingml/2006/main">
            <a:off x="666750" y="32194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Initial VR study</a:t>
            </a:r>
          </a:p>
        </p:txBody>
      </p:sp>
      <p:sp>
        <p:nvSpPr>
          <p:cNvPr id="7" name="">
            <a:extLst xmlns:a="http://schemas.openxmlformats.org/drawingml/2006/main">
              <a:ext uri="{FF2B5EF4-FFF2-40B4-BE49-F238E27FC236}">
                <a16:creationId xmlns:a16="http://schemas.microsoft.com/office/drawing/2014/main" id="{35BA2853-7607-43BD-810D-50774F0F0C13}"/>
              </a:ext>
            </a:extLst>
          </p:cNvPr>
          <p:cNvSpPr>
            <a:spLocks xmlns:a="http://schemas.openxmlformats.org/drawingml/2006/main" noGrp="1"/>
          </p:cNvSpPr>
          <p:nvPr/>
        </p:nvSpPr>
        <p:spPr>
          <a:xfrm xmlns:a="http://schemas.openxmlformats.org/drawingml/2006/main">
            <a:off x="2809875" y="2333625"/>
            <a:ext cx="571500" cy="0"/>
          </a:xfrm>
          <a:prstGeom xmlns:a="http://schemas.openxmlformats.org/drawingml/2006/main" prst="line">
            <a:avLst/>
          </a:prstGeom>
          <a:noFill xmlns:a="http://schemas.openxmlformats.org/drawingml/2006/main"/>
          <a:ln xmlns:a="http://schemas.openxmlformats.org/drawingml/2006/main" w="28575">
            <a:solidFill>
              <a:srgbClr val="00A9B7"/>
            </a:solidFill>
          </a:ln>
        </p:spPr>
      </p:sp>
      <p:sp>
        <p:nvSpPr>
          <p:cNvPr id="8" name="">
            <a:extLst xmlns:a="http://schemas.openxmlformats.org/drawingml/2006/main">
              <a:ext uri="{FF2B5EF4-FFF2-40B4-BE49-F238E27FC236}">
                <a16:creationId xmlns:a16="http://schemas.microsoft.com/office/drawing/2014/main" id="{B0DEC506-99A3-4C74-8941-827122693B0A}"/>
              </a:ext>
            </a:extLst>
          </p:cNvPr>
          <p:cNvSpPr>
            <a:spLocks xmlns:a="http://schemas.openxmlformats.org/drawingml/2006/main" noGrp="1"/>
          </p:cNvSpPr>
          <p:nvPr/>
        </p:nvSpPr>
        <p:spPr>
          <a:xfrm xmlns:a="http://schemas.openxmlformats.org/drawingml/2006/main">
            <a:off x="3305175" y="2276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68E69B3-2E5E-4CEF-8C7F-0427D1E38934}"/>
              </a:ext>
            </a:extLst>
          </p:cNvPr>
          <p:cNvSpPr>
            <a:spLocks xmlns:a="http://schemas.openxmlformats.org/drawingml/2006/main" noGrp="1"/>
          </p:cNvSpPr>
          <p:nvPr/>
        </p:nvSpPr>
        <p:spPr>
          <a:xfrm xmlns:a="http://schemas.openxmlformats.org/drawingml/2006/main">
            <a:off x="3524250" y="1428750"/>
            <a:ext cx="4095750" cy="2381250"/>
          </a:xfrm>
          <a:prstGeom xmlns:a="http://schemas.openxmlformats.org/drawingml/2006/main" prst="roundRect">
            <a:avLst>
              <a:gd name="adj" fmla="val 3200"/>
            </a:avLst>
          </a:prstGeom>
          <a:solidFill xmlns:a="http://schemas.openxmlformats.org/drawingml/2006/main">
            <a:srgbClr val="F7FA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99D6748-0F13-463A-86FC-F6D6D419F75E}"/>
              </a:ext>
            </a:extLst>
          </p:cNvPr>
          <p:cNvSpPr>
            <a:spLocks xmlns:a="http://schemas.openxmlformats.org/drawingml/2006/main" noGrp="1"/>
          </p:cNvSpPr>
          <p:nvPr/>
        </p:nvSpPr>
        <p:spPr>
          <a:xfrm xmlns:a="http://schemas.openxmlformats.org/drawingml/2006/main">
            <a:off x="3524250" y="1428750"/>
            <a:ext cx="66675" cy="23812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66FB8D7-9625-4B6C-BE5B-53A0498CC692}"/>
              </a:ext>
            </a:extLst>
          </p:cNvPr>
          <p:cNvSpPr>
            <a:spLocks xmlns:a="http://schemas.openxmlformats.org/drawingml/2006/main" noGrp="1"/>
          </p:cNvSpPr>
          <p:nvPr/>
        </p:nvSpPr>
        <p:spPr>
          <a:xfrm xmlns:a="http://schemas.openxmlformats.org/drawingml/2006/main">
            <a:off x="3733800" y="1543050"/>
            <a:ext cx="3752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Technical constraints</a:t>
            </a:r>
          </a:p>
        </p:txBody>
      </p:sp>
      <p:sp>
        <p:nvSpPr>
          <p:cNvPr id="12" name="">
            <a:extLst xmlns:a="http://schemas.openxmlformats.org/drawingml/2006/main">
              <a:ext uri="{FF2B5EF4-FFF2-40B4-BE49-F238E27FC236}">
                <a16:creationId xmlns:a16="http://schemas.microsoft.com/office/drawing/2014/main" id="{59729D7A-E1E5-433F-B883-ACFE74F15FCA}"/>
              </a:ext>
            </a:extLst>
          </p:cNvPr>
          <p:cNvSpPr>
            <a:spLocks xmlns:a="http://schemas.openxmlformats.org/drawingml/2006/main" noGrp="1"/>
          </p:cNvSpPr>
          <p:nvPr/>
        </p:nvSpPr>
        <p:spPr>
          <a:xfrm xmlns:a="http://schemas.openxmlformats.org/drawingml/2006/main">
            <a:off x="3733800" y="1847850"/>
            <a:ext cx="37528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Access delayed by about six weeks</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High-resolution headset incompatible with the system</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Custom Unity player unavailable</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Older headset provided insufficient image quality</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ICT troubleshooting could not restore the setup in time</a:t>
            </a:r>
          </a:p>
        </p:txBody>
      </p:sp>
      <p:sp>
        <p:nvSpPr>
          <p:cNvPr id="13" name="">
            <a:extLst xmlns:a="http://schemas.openxmlformats.org/drawingml/2006/main">
              <a:ext uri="{FF2B5EF4-FFF2-40B4-BE49-F238E27FC236}">
                <a16:creationId xmlns:a16="http://schemas.microsoft.com/office/drawing/2014/main" id="{2A4DB115-FA7E-4365-856A-C1D8AB4781EB}"/>
              </a:ext>
            </a:extLst>
          </p:cNvPr>
          <p:cNvSpPr>
            <a:spLocks xmlns:a="http://schemas.openxmlformats.org/drawingml/2006/main" noGrp="1"/>
          </p:cNvSpPr>
          <p:nvPr/>
        </p:nvSpPr>
        <p:spPr>
          <a:xfrm xmlns:a="http://schemas.openxmlformats.org/drawingml/2006/main">
            <a:off x="7762875" y="2619375"/>
            <a:ext cx="571500" cy="0"/>
          </a:xfrm>
          <a:prstGeom xmlns:a="http://schemas.openxmlformats.org/drawingml/2006/main" prst="line">
            <a:avLst/>
          </a:prstGeom>
          <a:noFill xmlns:a="http://schemas.openxmlformats.org/drawingml/2006/main"/>
          <a:ln xmlns:a="http://schemas.openxmlformats.org/drawingml/2006/main" w="28575">
            <a:solidFill>
              <a:srgbClr val="00A9B7"/>
            </a:solidFill>
          </a:ln>
        </p:spPr>
      </p:sp>
      <p:sp>
        <p:nvSpPr>
          <p:cNvPr id="14" name="">
            <a:extLst xmlns:a="http://schemas.openxmlformats.org/drawingml/2006/main">
              <a:ext uri="{FF2B5EF4-FFF2-40B4-BE49-F238E27FC236}">
                <a16:creationId xmlns:a16="http://schemas.microsoft.com/office/drawing/2014/main" id="{97BCA9DB-2747-4933-8672-B18DAA679575}"/>
              </a:ext>
            </a:extLst>
          </p:cNvPr>
          <p:cNvSpPr>
            <a:spLocks xmlns:a="http://schemas.openxmlformats.org/drawingml/2006/main" noGrp="1"/>
          </p:cNvSpPr>
          <p:nvPr/>
        </p:nvSpPr>
        <p:spPr>
          <a:xfrm xmlns:a="http://schemas.openxmlformats.org/drawingml/2006/main">
            <a:off x="8258175" y="25622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6E8F4FA-E233-43FD-9AD4-E0F3D6740611}"/>
              </a:ext>
            </a:extLst>
          </p:cNvPr>
          <p:cNvSpPr>
            <a:spLocks xmlns:a="http://schemas.openxmlformats.org/drawingml/2006/main" noGrp="1"/>
          </p:cNvSpPr>
          <p:nvPr/>
        </p:nvSpPr>
        <p:spPr>
          <a:xfrm xmlns:a="http://schemas.openxmlformats.org/drawingml/2006/main">
            <a:off x="8477250" y="1809750"/>
            <a:ext cx="2857500" cy="1619250"/>
          </a:xfrm>
          <a:prstGeom xmlns:a="http://schemas.openxmlformats.org/drawingml/2006/main" prst="roundRect">
            <a:avLst>
              <a:gd name="adj" fmla="val 4706"/>
            </a:avLst>
          </a:prstGeom>
          <a:solidFill xmlns:a="http://schemas.openxmlformats.org/drawingml/2006/main">
            <a:srgbClr val="FBF1F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077A084-40CE-4099-A78C-C6F2B8F16D47}"/>
              </a:ext>
            </a:extLst>
          </p:cNvPr>
          <p:cNvSpPr>
            <a:spLocks xmlns:a="http://schemas.openxmlformats.org/drawingml/2006/main" noGrp="1"/>
          </p:cNvSpPr>
          <p:nvPr/>
        </p:nvSpPr>
        <p:spPr>
          <a:xfrm xmlns:a="http://schemas.openxmlformats.org/drawingml/2006/main">
            <a:off x="8477250" y="1809750"/>
            <a:ext cx="66675" cy="16192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75C6A0-5DBE-4B5C-97AD-864A74C1E4FE}"/>
              </a:ext>
            </a:extLst>
          </p:cNvPr>
          <p:cNvSpPr>
            <a:spLocks xmlns:a="http://schemas.openxmlformats.org/drawingml/2006/main" noGrp="1"/>
          </p:cNvSpPr>
          <p:nvPr/>
        </p:nvSpPr>
        <p:spPr>
          <a:xfrm xmlns:a="http://schemas.openxmlformats.org/drawingml/2006/main">
            <a:off x="8686800" y="19240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Scientific consequence</a:t>
            </a:r>
          </a:p>
        </p:txBody>
      </p:sp>
      <p:sp>
        <p:nvSpPr>
          <p:cNvPr id="18" name="">
            <a:extLst xmlns:a="http://schemas.openxmlformats.org/drawingml/2006/main">
              <a:ext uri="{FF2B5EF4-FFF2-40B4-BE49-F238E27FC236}">
                <a16:creationId xmlns:a16="http://schemas.microsoft.com/office/drawing/2014/main" id="{A5C7A749-63BE-499D-86C4-39447B0D8341}"/>
              </a:ext>
            </a:extLst>
          </p:cNvPr>
          <p:cNvSpPr>
            <a:spLocks xmlns:a="http://schemas.openxmlformats.org/drawingml/2006/main" noGrp="1"/>
          </p:cNvSpPr>
          <p:nvPr/>
        </p:nvSpPr>
        <p:spPr>
          <a:xfrm xmlns:a="http://schemas.openxmlformats.org/drawingml/2006/main">
            <a:off x="8686800" y="2228850"/>
            <a:ext cx="2514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Experimental reliability and reproducibility could not be guaranteed. No participants were recruited and no usable VR dataset was produced.</a:t>
            </a:r>
          </a:p>
        </p:txBody>
      </p:sp>
      <p:sp>
        <p:nvSpPr>
          <p:cNvPr id="19" name="">
            <a:extLst xmlns:a="http://schemas.openxmlformats.org/drawingml/2006/main">
              <a:ext uri="{FF2B5EF4-FFF2-40B4-BE49-F238E27FC236}">
                <a16:creationId xmlns:a16="http://schemas.microsoft.com/office/drawing/2014/main" id="{8683C6B8-35F3-41E1-9D1A-407897A99EE0}"/>
              </a:ext>
            </a:extLst>
          </p:cNvPr>
          <p:cNvSpPr>
            <a:spLocks xmlns:a="http://schemas.openxmlformats.org/drawingml/2006/main" noGrp="1"/>
          </p:cNvSpPr>
          <p:nvPr/>
        </p:nvSpPr>
        <p:spPr>
          <a:xfrm xmlns:a="http://schemas.openxmlformats.org/drawingml/2006/main">
            <a:off x="6096000" y="4000500"/>
            <a:ext cx="0" cy="523875"/>
          </a:xfrm>
          <a:prstGeom xmlns:a="http://schemas.openxmlformats.org/drawingml/2006/main" prst="line">
            <a:avLst/>
          </a:prstGeom>
          <a:noFill xmlns:a="http://schemas.openxmlformats.org/drawingml/2006/main"/>
          <a:ln xmlns:a="http://schemas.openxmlformats.org/drawingml/2006/main" w="38100">
            <a:solidFill>
              <a:srgbClr val="6F8F72"/>
            </a:solidFill>
          </a:ln>
        </p:spPr>
      </p:sp>
      <p:sp>
        <p:nvSpPr>
          <p:cNvPr id="20" name="">
            <a:extLst xmlns:a="http://schemas.openxmlformats.org/drawingml/2006/main">
              <a:ext uri="{FF2B5EF4-FFF2-40B4-BE49-F238E27FC236}">
                <a16:creationId xmlns:a16="http://schemas.microsoft.com/office/drawing/2014/main" id="{F44E6F57-94EE-4413-8B82-51A37F15BA0B}"/>
              </a:ext>
            </a:extLst>
          </p:cNvPr>
          <p:cNvSpPr>
            <a:spLocks xmlns:a="http://schemas.openxmlformats.org/drawingml/2006/main" noGrp="1"/>
          </p:cNvSpPr>
          <p:nvPr/>
        </p:nvSpPr>
        <p:spPr>
          <a:xfrm xmlns:a="http://schemas.openxmlformats.org/drawingml/2006/main">
            <a:off x="6019800" y="4467225"/>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1EDBC35-D543-4BA0-A546-1F806F8163CF}"/>
              </a:ext>
            </a:extLst>
          </p:cNvPr>
          <p:cNvSpPr>
            <a:spLocks xmlns:a="http://schemas.openxmlformats.org/drawingml/2006/main" noGrp="1"/>
          </p:cNvSpPr>
          <p:nvPr/>
        </p:nvSpPr>
        <p:spPr>
          <a:xfrm xmlns:a="http://schemas.openxmlformats.org/drawingml/2006/main">
            <a:off x="4524375" y="45243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6F8F72"/>
                </a:solidFill>
                <a:latin typeface="Arial"/>
                <a:ea typeface="Arial"/>
                <a:cs typeface="Arial"/>
              </a:defRPr>
            </a:pPr>
            <a:r>
              <a:rPr sz="1050" b="1" i="0">
                <a:solidFill>
                  <a:srgbClr val="6F8F72"/>
                </a:solidFill>
                <a:latin typeface="Arial"/>
                <a:ea typeface="Arial"/>
                <a:cs typeface="Arial"/>
              </a:rPr>
              <a:t>ENGINEERING DECISION</a:t>
            </a:r>
          </a:p>
        </p:txBody>
      </p:sp>
      <p:sp>
        <p:nvSpPr>
          <p:cNvPr id="22" name="">
            <a:extLst xmlns:a="http://schemas.openxmlformats.org/drawingml/2006/main">
              <a:ext uri="{FF2B5EF4-FFF2-40B4-BE49-F238E27FC236}">
                <a16:creationId xmlns:a16="http://schemas.microsoft.com/office/drawing/2014/main" id="{07ED8645-2272-42B1-AEFD-D8789204BC0F}"/>
              </a:ext>
            </a:extLst>
          </p:cNvPr>
          <p:cNvSpPr>
            <a:spLocks xmlns:a="http://schemas.openxmlformats.org/drawingml/2006/main" noGrp="1"/>
          </p:cNvSpPr>
          <p:nvPr/>
        </p:nvSpPr>
        <p:spPr>
          <a:xfrm xmlns:a="http://schemas.openxmlformats.org/drawingml/2006/main">
            <a:off x="2667000" y="4953000"/>
            <a:ext cx="6858000" cy="5715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80769"/>
          </a:bodyPr>
          <a:lstStyle xmlns:a="http://schemas.openxmlformats.org/drawingml/2006/main"/>
          <a:p xmlns:a="http://schemas.openxmlformats.org/drawingml/2006/main">
            <a:pPr algn="ctr">
              <a:defRPr sz="1950" b="1" i="0">
                <a:solidFill>
                  <a:srgbClr val="082C4C"/>
                </a:solidFill>
                <a:latin typeface="Arial"/>
                <a:ea typeface="Arial"/>
                <a:cs typeface="Arial"/>
              </a:defRPr>
            </a:pPr>
            <a:r>
              <a:rPr sz="1950" b="1" i="0">
                <a:solidFill>
                  <a:srgbClr val="082C4C"/>
                </a:solidFill>
                <a:latin typeface="Arial"/>
                <a:ea typeface="Arial"/>
                <a:cs typeface="Arial"/>
              </a:rPr>
              <a:t>Redirect the internship toward an experimentally feasible oat beverage project</a:t>
            </a:r>
          </a:p>
        </p:txBody>
      </p:sp>
      <p:sp>
        <p:nvSpPr>
          <p:cNvPr id="23" name="">
            <a:extLst xmlns:a="http://schemas.openxmlformats.org/drawingml/2006/main">
              <a:ext uri="{FF2B5EF4-FFF2-40B4-BE49-F238E27FC236}">
                <a16:creationId xmlns:a16="http://schemas.microsoft.com/office/drawing/2014/main" id="{B01CC788-24CE-4277-A6FB-854211C4E36F}"/>
              </a:ext>
            </a:extLst>
          </p:cNvPr>
          <p:cNvSpPr>
            <a:spLocks xmlns:a="http://schemas.openxmlformats.org/drawingml/2006/main" noGrp="1"/>
          </p:cNvSpPr>
          <p:nvPr/>
        </p:nvSpPr>
        <p:spPr>
          <a:xfrm xmlns:a="http://schemas.openxmlformats.org/drawingml/2006/main">
            <a:off x="2333625" y="5676900"/>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526878"/>
                </a:solidFill>
                <a:latin typeface="Arial"/>
                <a:ea typeface="Arial"/>
                <a:cs typeface="Arial"/>
              </a:defRPr>
            </a:pPr>
            <a:r>
              <a:rPr sz="1275" b="0" i="0">
                <a:solidFill>
                  <a:srgbClr val="526878"/>
                </a:solidFill>
                <a:latin typeface="Arial"/>
                <a:ea typeface="Arial"/>
                <a:cs typeface="Arial"/>
              </a:rPr>
              <a:t>The change preserved experimental reliability and allowed usable results within the remaining time.</a:t>
            </a:r>
          </a:p>
        </p:txBody>
      </p:sp>
      <p:sp>
        <p:nvSpPr>
          <p:cNvPr id="24" name="">
            <a:extLst xmlns:a="http://schemas.openxmlformats.org/drawingml/2006/main">
              <a:ext uri="{FF2B5EF4-FFF2-40B4-BE49-F238E27FC236}">
                <a16:creationId xmlns:a16="http://schemas.microsoft.com/office/drawing/2014/main" id="{ED7099EC-378F-4E43-831D-9C1EE2D02BFF}"/>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5" name="">
            <a:extLst xmlns:a="http://schemas.openxmlformats.org/drawingml/2006/main">
              <a:ext uri="{FF2B5EF4-FFF2-40B4-BE49-F238E27FC236}">
                <a16:creationId xmlns:a16="http://schemas.microsoft.com/office/drawing/2014/main" id="{75E49895-3E13-4CC3-BBEE-48C43C4EF35B}"/>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05</a:t>
            </a:r>
          </a:p>
        </p:txBody>
      </p:sp>
    </p:spTree>
    <p:extLst>
      <p:ext uri="{BB962C8B-B14F-4D97-AF65-F5344CB8AC3E}">
        <p14:creationId xmlns:p14="http://schemas.microsoft.com/office/powerpoint/2010/main" val="6460304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B6E74A0-CCE4-4A67-9746-1CBC38E033C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1490D9-A3C3-4DC1-8DC4-51BE6964C767}"/>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19E8A32D-F469-44EF-8B92-00B19BD610EA}"/>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Protein enrichment as a formulation challenge</a:t>
            </a:r>
          </a:p>
        </p:txBody>
      </p:sp>
      <p:sp>
        <p:nvSpPr>
          <p:cNvPr id="4" name="">
            <a:extLst xmlns:a="http://schemas.openxmlformats.org/drawingml/2006/main">
              <a:ext uri="{FF2B5EF4-FFF2-40B4-BE49-F238E27FC236}">
                <a16:creationId xmlns:a16="http://schemas.microsoft.com/office/drawing/2014/main" id="{7DC1B282-965A-4E93-AABD-60997BED7427}"/>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45AECD98-80C8-4042-9F1F-2A249254D95E}"/>
              </a:ext>
            </a:extLst>
          </p:cNvPr>
          <p:cNvSpPr>
            <a:spLocks xmlns:a="http://schemas.openxmlformats.org/drawingml/2006/main" noGrp="1"/>
          </p:cNvSpPr>
          <p:nvPr/>
        </p:nvSpPr>
        <p:spPr>
          <a:xfrm xmlns:a="http://schemas.openxmlformats.org/drawingml/2006/main">
            <a:off x="1381125" y="1428750"/>
            <a:ext cx="942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778"/>
          </a:bodyPr>
          <a:lstStyle xmlns:a="http://schemas.openxmlformats.org/drawingml/2006/main"/>
          <a:p xmlns:a="http://schemas.openxmlformats.org/drawingml/2006/main">
            <a:pPr algn="ctr">
              <a:defRPr sz="2250" b="1" i="0">
                <a:solidFill>
                  <a:srgbClr val="082C4C"/>
                </a:solidFill>
                <a:latin typeface="Arial"/>
                <a:ea typeface="Arial"/>
                <a:cs typeface="Arial"/>
              </a:defRPr>
            </a:pPr>
            <a:r>
              <a:rPr sz="2250" b="1" i="0">
                <a:solidFill>
                  <a:srgbClr val="082C4C"/>
                </a:solidFill>
                <a:latin typeface="Arial"/>
                <a:ea typeface="Arial"/>
                <a:cs typeface="Arial"/>
              </a:rPr>
              <a:t>How can the protein content be increased while acceptable sensory properties are maintained?</a:t>
            </a:r>
          </a:p>
        </p:txBody>
      </p:sp>
      <p:sp>
        <p:nvSpPr>
          <p:cNvPr id="6" name="">
            <a:extLst xmlns:a="http://schemas.openxmlformats.org/drawingml/2006/main">
              <a:ext uri="{FF2B5EF4-FFF2-40B4-BE49-F238E27FC236}">
                <a16:creationId xmlns:a16="http://schemas.microsoft.com/office/drawing/2014/main" id="{32A95C3C-3570-43C6-BD9A-E7737EC02E11}"/>
              </a:ext>
            </a:extLst>
          </p:cNvPr>
          <p:cNvSpPr>
            <a:spLocks xmlns:a="http://schemas.openxmlformats.org/drawingml/2006/main" noGrp="1"/>
          </p:cNvSpPr>
          <p:nvPr/>
        </p:nvSpPr>
        <p:spPr>
          <a:xfrm xmlns:a="http://schemas.openxmlformats.org/drawingml/2006/main">
            <a:off x="4953000" y="2524125"/>
            <a:ext cx="2286000" cy="2286000"/>
          </a:xfrm>
          <a:prstGeom xmlns:a="http://schemas.openxmlformats.org/drawingml/2006/main" prst="ellipse">
            <a:avLst/>
          </a:prstGeom>
          <a:solidFill xmlns:a="http://schemas.openxmlformats.org/drawingml/2006/main">
            <a:srgbClr val="F4EBDD"/>
          </a:solidFill>
          <a:ln xmlns:a="http://schemas.openxmlformats.org/drawingml/2006/main" w="28575">
            <a:solidFill>
              <a:srgbClr val="D8B77B"/>
            </a:solidFill>
          </a:ln>
        </p:spPr>
      </p:sp>
      <p:sp>
        <p:nvSpPr>
          <p:cNvPr id="7" name="">
            <a:extLst xmlns:a="http://schemas.openxmlformats.org/drawingml/2006/main">
              <a:ext uri="{FF2B5EF4-FFF2-40B4-BE49-F238E27FC236}">
                <a16:creationId xmlns:a16="http://schemas.microsoft.com/office/drawing/2014/main" id="{C6437497-83DA-4E8E-A693-F2A87E814DEE}"/>
              </a:ext>
            </a:extLst>
          </p:cNvPr>
          <p:cNvSpPr>
            <a:spLocks xmlns:a="http://schemas.openxmlformats.org/drawingml/2006/main" noGrp="1"/>
          </p:cNvSpPr>
          <p:nvPr/>
        </p:nvSpPr>
        <p:spPr>
          <a:xfrm xmlns:a="http://schemas.openxmlformats.org/drawingml/2006/main">
            <a:off x="5286375" y="2876550"/>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782"/>
          </a:bodyPr>
          <a:lstStyle xmlns:a="http://schemas.openxmlformats.org/drawingml/2006/main"/>
          <a:p xmlns:a="http://schemas.openxmlformats.org/drawingml/2006/main">
            <a:pPr algn="ctr">
              <a:defRPr sz="3900" b="1" i="0">
                <a:solidFill>
                  <a:srgbClr val="082C4C"/>
                </a:solidFill>
                <a:latin typeface="Arial"/>
                <a:ea typeface="Arial"/>
                <a:cs typeface="Arial"/>
              </a:defRPr>
            </a:pPr>
            <a:r>
              <a:rPr sz="3900" b="1" i="0">
                <a:solidFill>
                  <a:srgbClr val="082C4C"/>
                </a:solidFill>
                <a:latin typeface="Arial"/>
                <a:ea typeface="Arial"/>
                <a:cs typeface="Arial"/>
              </a:rPr>
              <a:t>2.39</a:t>
            </a:r>
          </a:p>
        </p:txBody>
      </p:sp>
      <p:sp>
        <p:nvSpPr>
          <p:cNvPr id="8" name="">
            <a:extLst xmlns:a="http://schemas.openxmlformats.org/drawingml/2006/main">
              <a:ext uri="{FF2B5EF4-FFF2-40B4-BE49-F238E27FC236}">
                <a16:creationId xmlns:a16="http://schemas.microsoft.com/office/drawing/2014/main" id="{BD0A13B4-6723-434D-B798-09012F088D9E}"/>
              </a:ext>
            </a:extLst>
          </p:cNvPr>
          <p:cNvSpPr>
            <a:spLocks xmlns:a="http://schemas.openxmlformats.org/drawingml/2006/main" noGrp="1"/>
          </p:cNvSpPr>
          <p:nvPr/>
        </p:nvSpPr>
        <p:spPr>
          <a:xfrm xmlns:a="http://schemas.openxmlformats.org/drawingml/2006/main">
            <a:off x="5286375" y="3476625"/>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g protein / 100 mL</a:t>
            </a:r>
          </a:p>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selected base</a:t>
            </a:r>
          </a:p>
        </p:txBody>
      </p:sp>
      <p:sp>
        <p:nvSpPr>
          <p:cNvPr id="9" name="">
            <a:extLst xmlns:a="http://schemas.openxmlformats.org/drawingml/2006/main">
              <a:ext uri="{FF2B5EF4-FFF2-40B4-BE49-F238E27FC236}">
                <a16:creationId xmlns:a16="http://schemas.microsoft.com/office/drawing/2014/main" id="{FE1C7C8D-60C8-415A-B88D-B825187D8AB6}"/>
              </a:ext>
            </a:extLst>
          </p:cNvPr>
          <p:cNvSpPr>
            <a:spLocks xmlns:a="http://schemas.openxmlformats.org/drawingml/2006/main" noGrp="1"/>
          </p:cNvSpPr>
          <p:nvPr/>
        </p:nvSpPr>
        <p:spPr>
          <a:xfrm xmlns:a="http://schemas.openxmlformats.org/drawingml/2006/main">
            <a:off x="5286375" y="40386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i="0">
                <a:solidFill>
                  <a:srgbClr val="00A9B7"/>
                </a:solidFill>
                <a:latin typeface="Arial"/>
                <a:ea typeface="Arial"/>
                <a:cs typeface="Arial"/>
              </a:defRPr>
            </a:pPr>
            <a:r>
              <a:rPr sz="2325" b="1" i="0">
                <a:solidFill>
                  <a:srgbClr val="00A9B7"/>
                </a:solidFill>
                <a:latin typeface="Arial"/>
                <a:ea typeface="Arial"/>
                <a:cs typeface="Arial"/>
              </a:rPr>
              <a:t>≈4.85%</a:t>
            </a:r>
          </a:p>
        </p:txBody>
      </p:sp>
      <p:sp>
        <p:nvSpPr>
          <p:cNvPr id="10" name="">
            <a:extLst xmlns:a="http://schemas.openxmlformats.org/drawingml/2006/main">
              <a:ext uri="{FF2B5EF4-FFF2-40B4-BE49-F238E27FC236}">
                <a16:creationId xmlns:a16="http://schemas.microsoft.com/office/drawing/2014/main" id="{4CF3F3B7-B967-4909-B824-2ECCE272B016}"/>
              </a:ext>
            </a:extLst>
          </p:cNvPr>
          <p:cNvSpPr>
            <a:spLocks xmlns:a="http://schemas.openxmlformats.org/drawingml/2006/main" noGrp="1"/>
          </p:cNvSpPr>
          <p:nvPr/>
        </p:nvSpPr>
        <p:spPr>
          <a:xfrm xmlns:a="http://schemas.openxmlformats.org/drawingml/2006/main">
            <a:off x="762000" y="2667000"/>
            <a:ext cx="3333750" cy="1428750"/>
          </a:xfrm>
          <a:prstGeom xmlns:a="http://schemas.openxmlformats.org/drawingml/2006/main" prst="roundRect">
            <a:avLst>
              <a:gd name="adj" fmla="val 5333"/>
            </a:avLst>
          </a:prstGeom>
          <a:solidFill xmlns:a="http://schemas.openxmlformats.org/drawingml/2006/main">
            <a:srgbClr val="EFF5E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9CC494-2D12-4041-AA16-8F3B4C2331DC}"/>
              </a:ext>
            </a:extLst>
          </p:cNvPr>
          <p:cNvSpPr>
            <a:spLocks xmlns:a="http://schemas.openxmlformats.org/drawingml/2006/main" noGrp="1"/>
          </p:cNvSpPr>
          <p:nvPr/>
        </p:nvSpPr>
        <p:spPr>
          <a:xfrm xmlns:a="http://schemas.openxmlformats.org/drawingml/2006/main">
            <a:off x="762000" y="2667000"/>
            <a:ext cx="66675" cy="142875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281118-08BF-41D1-8063-93A505C17070}"/>
              </a:ext>
            </a:extLst>
          </p:cNvPr>
          <p:cNvSpPr>
            <a:spLocks xmlns:a="http://schemas.openxmlformats.org/drawingml/2006/main" noGrp="1"/>
          </p:cNvSpPr>
          <p:nvPr/>
        </p:nvSpPr>
        <p:spPr>
          <a:xfrm xmlns:a="http://schemas.openxmlformats.org/drawingml/2006/main">
            <a:off x="971550" y="27813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Nutritional objective</a:t>
            </a:r>
          </a:p>
        </p:txBody>
      </p:sp>
      <p:sp>
        <p:nvSpPr>
          <p:cNvPr id="13" name="">
            <a:extLst xmlns:a="http://schemas.openxmlformats.org/drawingml/2006/main">
              <a:ext uri="{FF2B5EF4-FFF2-40B4-BE49-F238E27FC236}">
                <a16:creationId xmlns:a16="http://schemas.microsoft.com/office/drawing/2014/main" id="{D6D357AB-915D-4418-9D0F-AA23EDF3F247}"/>
              </a:ext>
            </a:extLst>
          </p:cNvPr>
          <p:cNvSpPr>
            <a:spLocks xmlns:a="http://schemas.openxmlformats.org/drawingml/2006/main" noGrp="1"/>
          </p:cNvSpPr>
          <p:nvPr/>
        </p:nvSpPr>
        <p:spPr>
          <a:xfrm xmlns:a="http://schemas.openxmlformats.org/drawingml/2006/main">
            <a:off x="971550" y="3086100"/>
            <a:ext cx="2990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Increase plant protein using soy, rice and pea powders while keeping the formulations comparable.</a:t>
            </a:r>
          </a:p>
        </p:txBody>
      </p:sp>
      <p:sp>
        <p:nvSpPr>
          <p:cNvPr id="14" name="">
            <a:extLst xmlns:a="http://schemas.openxmlformats.org/drawingml/2006/main">
              <a:ext uri="{FF2B5EF4-FFF2-40B4-BE49-F238E27FC236}">
                <a16:creationId xmlns:a16="http://schemas.microsoft.com/office/drawing/2014/main" id="{4F3E141D-9029-4A8D-8669-9DC6787DAB2E}"/>
              </a:ext>
            </a:extLst>
          </p:cNvPr>
          <p:cNvSpPr>
            <a:spLocks xmlns:a="http://schemas.openxmlformats.org/drawingml/2006/main" noGrp="1"/>
          </p:cNvSpPr>
          <p:nvPr/>
        </p:nvSpPr>
        <p:spPr>
          <a:xfrm xmlns:a="http://schemas.openxmlformats.org/drawingml/2006/main">
            <a:off x="8096250" y="2476500"/>
            <a:ext cx="3333750" cy="1809750"/>
          </a:xfrm>
          <a:prstGeom xmlns:a="http://schemas.openxmlformats.org/drawingml/2006/main" prst="roundRect">
            <a:avLst>
              <a:gd name="adj" fmla="val 4211"/>
            </a:avLst>
          </a:prstGeom>
          <a:solidFill xmlns:a="http://schemas.openxmlformats.org/drawingml/2006/main">
            <a:srgbClr val="FBF1F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8E11541-1C62-43B4-BE88-52B490C2B1BD}"/>
              </a:ext>
            </a:extLst>
          </p:cNvPr>
          <p:cNvSpPr>
            <a:spLocks xmlns:a="http://schemas.openxmlformats.org/drawingml/2006/main" noGrp="1"/>
          </p:cNvSpPr>
          <p:nvPr/>
        </p:nvSpPr>
        <p:spPr>
          <a:xfrm xmlns:a="http://schemas.openxmlformats.org/drawingml/2006/main">
            <a:off x="8096250" y="2476500"/>
            <a:ext cx="66675" cy="1809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78EE204-81F8-4A9C-93A0-FC6815443368}"/>
              </a:ext>
            </a:extLst>
          </p:cNvPr>
          <p:cNvSpPr>
            <a:spLocks xmlns:a="http://schemas.openxmlformats.org/drawingml/2006/main" noGrp="1"/>
          </p:cNvSpPr>
          <p:nvPr/>
        </p:nvSpPr>
        <p:spPr>
          <a:xfrm xmlns:a="http://schemas.openxmlformats.org/drawingml/2006/main">
            <a:off x="8305800" y="25908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Formulation risks</a:t>
            </a:r>
          </a:p>
        </p:txBody>
      </p:sp>
      <p:sp>
        <p:nvSpPr>
          <p:cNvPr id="17" name="">
            <a:extLst xmlns:a="http://schemas.openxmlformats.org/drawingml/2006/main">
              <a:ext uri="{FF2B5EF4-FFF2-40B4-BE49-F238E27FC236}">
                <a16:creationId xmlns:a16="http://schemas.microsoft.com/office/drawing/2014/main" id="{EC381F88-55AD-49B3-9F5E-E7934A78023A}"/>
              </a:ext>
            </a:extLst>
          </p:cNvPr>
          <p:cNvSpPr>
            <a:spLocks xmlns:a="http://schemas.openxmlformats.org/drawingml/2006/main" noGrp="1"/>
          </p:cNvSpPr>
          <p:nvPr/>
        </p:nvSpPr>
        <p:spPr>
          <a:xfrm xmlns:a="http://schemas.openxmlformats.org/drawingml/2006/main">
            <a:off x="8305800" y="2895600"/>
            <a:ext cx="2990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Poor dispersion and lumps</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Higher viscosity</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Powdery or gritty mouthfeel</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Bitterness and flavour changes</a:t>
            </a:r>
          </a:p>
        </p:txBody>
      </p:sp>
      <p:sp>
        <p:nvSpPr>
          <p:cNvPr id="18" name="">
            <a:extLst xmlns:a="http://schemas.openxmlformats.org/drawingml/2006/main">
              <a:ext uri="{FF2B5EF4-FFF2-40B4-BE49-F238E27FC236}">
                <a16:creationId xmlns:a16="http://schemas.microsoft.com/office/drawing/2014/main" id="{E9F4B352-DD6F-4427-AE5F-6EE09408E5DF}"/>
              </a:ext>
            </a:extLst>
          </p:cNvPr>
          <p:cNvSpPr>
            <a:spLocks xmlns:a="http://schemas.openxmlformats.org/drawingml/2006/main" noGrp="1"/>
          </p:cNvSpPr>
          <p:nvPr/>
        </p:nvSpPr>
        <p:spPr>
          <a:xfrm xmlns:a="http://schemas.openxmlformats.org/drawingml/2006/main">
            <a:off x="2000250" y="5286375"/>
            <a:ext cx="819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28"/>
          </a:bodyPr>
          <a:lstStyle xmlns:a="http://schemas.openxmlformats.org/drawingml/2006/main"/>
          <a:p xmlns:a="http://schemas.openxmlformats.org/drawingml/2006/main">
            <a:pPr algn="ctr">
              <a:defRPr sz="1725" b="1" i="0">
                <a:solidFill>
                  <a:srgbClr val="173244"/>
                </a:solidFill>
                <a:latin typeface="Arial"/>
                <a:ea typeface="Arial"/>
                <a:cs typeface="Arial"/>
              </a:defRPr>
            </a:pPr>
            <a:r>
              <a:rPr sz="1725" b="1" i="0">
                <a:solidFill>
                  <a:srgbClr val="173244"/>
                </a:solidFill>
                <a:latin typeface="Arial"/>
                <a:ea typeface="Arial"/>
                <a:cs typeface="Arial"/>
              </a:rPr>
              <a:t>The target must balance composition, process feasibility and sensory acceptance.</a:t>
            </a:r>
          </a:p>
        </p:txBody>
      </p:sp>
      <p:sp>
        <p:nvSpPr>
          <p:cNvPr id="19" name="">
            <a:extLst xmlns:a="http://schemas.openxmlformats.org/drawingml/2006/main">
              <a:ext uri="{FF2B5EF4-FFF2-40B4-BE49-F238E27FC236}">
                <a16:creationId xmlns:a16="http://schemas.microsoft.com/office/drawing/2014/main" id="{DBAE3FE5-A2D3-4797-A20A-7C012840A9E0}"/>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0" name="">
            <a:extLst xmlns:a="http://schemas.openxmlformats.org/drawingml/2006/main">
              <a:ext uri="{FF2B5EF4-FFF2-40B4-BE49-F238E27FC236}">
                <a16:creationId xmlns:a16="http://schemas.microsoft.com/office/drawing/2014/main" id="{175EF903-44B6-45BB-BD7E-05F19A48123E}"/>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06</a:t>
            </a:r>
          </a:p>
        </p:txBody>
      </p:sp>
    </p:spTree>
    <p:extLst>
      <p:ext uri="{BB962C8B-B14F-4D97-AF65-F5344CB8AC3E}">
        <p14:creationId xmlns:p14="http://schemas.microsoft.com/office/powerpoint/2010/main" val="13551932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D933189E-6B4B-469C-8BE5-95EC557AC3E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345996-3C24-49E6-87C3-D0ED7C4B025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PROJECT LOGIC</a:t>
            </a:r>
          </a:p>
        </p:txBody>
      </p:sp>
      <p:sp>
        <p:nvSpPr>
          <p:cNvPr id="3" name="">
            <a:extLst xmlns:a="http://schemas.openxmlformats.org/drawingml/2006/main">
              <a:ext uri="{FF2B5EF4-FFF2-40B4-BE49-F238E27FC236}">
                <a16:creationId xmlns:a16="http://schemas.microsoft.com/office/drawing/2014/main" id="{BBF8EF0B-9788-4396-BEA8-EB50C0968C8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Experimental strategy</a:t>
            </a:r>
          </a:p>
        </p:txBody>
      </p:sp>
      <p:sp>
        <p:nvSpPr>
          <p:cNvPr id="4" name="">
            <a:extLst xmlns:a="http://schemas.openxmlformats.org/drawingml/2006/main">
              <a:ext uri="{FF2B5EF4-FFF2-40B4-BE49-F238E27FC236}">
                <a16:creationId xmlns:a16="http://schemas.microsoft.com/office/drawing/2014/main" id="{B2AD7600-69E7-4E1C-A1EF-F19FFE542142}"/>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AF194761-FED6-42C0-80F3-D1A490DCD309}"/>
              </a:ext>
            </a:extLst>
          </p:cNvPr>
          <p:cNvSpPr>
            <a:spLocks xmlns:a="http://schemas.openxmlformats.org/drawingml/2006/main" noGrp="1"/>
          </p:cNvSpPr>
          <p:nvPr/>
        </p:nvSpPr>
        <p:spPr>
          <a:xfrm xmlns:a="http://schemas.openxmlformats.org/drawingml/2006/main">
            <a:off x="523875" y="2190750"/>
            <a:ext cx="685800" cy="68580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1F142C-9EFE-4DDA-9E05-787DA3BFFA8C}"/>
              </a:ext>
            </a:extLst>
          </p:cNvPr>
          <p:cNvSpPr>
            <a:spLocks xmlns:a="http://schemas.openxmlformats.org/drawingml/2006/main" noGrp="1"/>
          </p:cNvSpPr>
          <p:nvPr/>
        </p:nvSpPr>
        <p:spPr>
          <a:xfrm xmlns:a="http://schemas.openxmlformats.org/drawingml/2006/main">
            <a:off x="52387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D25339E-63E8-4E39-BDFE-EE00889E9523}"/>
              </a:ext>
            </a:extLst>
          </p:cNvPr>
          <p:cNvSpPr>
            <a:spLocks xmlns:a="http://schemas.openxmlformats.org/drawingml/2006/main" noGrp="1"/>
          </p:cNvSpPr>
          <p:nvPr/>
        </p:nvSpPr>
        <p:spPr>
          <a:xfrm xmlns:a="http://schemas.openxmlformats.org/drawingml/2006/main">
            <a:off x="25717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Oat beverage</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production</a:t>
            </a:r>
          </a:p>
        </p:txBody>
      </p:sp>
      <p:sp>
        <p:nvSpPr>
          <p:cNvPr id="8" name="">
            <a:extLst xmlns:a="http://schemas.openxmlformats.org/drawingml/2006/main">
              <a:ext uri="{FF2B5EF4-FFF2-40B4-BE49-F238E27FC236}">
                <a16:creationId xmlns:a16="http://schemas.microsoft.com/office/drawing/2014/main" id="{37475375-A58D-4012-A198-CAC67F53ABC5}"/>
              </a:ext>
            </a:extLst>
          </p:cNvPr>
          <p:cNvSpPr>
            <a:spLocks xmlns:a="http://schemas.openxmlformats.org/drawingml/2006/main" noGrp="1"/>
          </p:cNvSpPr>
          <p:nvPr/>
        </p:nvSpPr>
        <p:spPr>
          <a:xfrm xmlns:a="http://schemas.openxmlformats.org/drawingml/2006/main">
            <a:off x="126682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9" name="">
            <a:extLst xmlns:a="http://schemas.openxmlformats.org/drawingml/2006/main">
              <a:ext uri="{FF2B5EF4-FFF2-40B4-BE49-F238E27FC236}">
                <a16:creationId xmlns:a16="http://schemas.microsoft.com/office/drawing/2014/main" id="{5F344299-C723-4D0E-92F1-6152236F13DF}"/>
              </a:ext>
            </a:extLst>
          </p:cNvPr>
          <p:cNvSpPr>
            <a:spLocks xmlns:a="http://schemas.openxmlformats.org/drawingml/2006/main" noGrp="1"/>
          </p:cNvSpPr>
          <p:nvPr/>
        </p:nvSpPr>
        <p:spPr>
          <a:xfrm xmlns:a="http://schemas.openxmlformats.org/drawingml/2006/main">
            <a:off x="178117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7307AA8-ED6B-4BC0-8C3E-532BAEBC1FC6}"/>
              </a:ext>
            </a:extLst>
          </p:cNvPr>
          <p:cNvSpPr>
            <a:spLocks xmlns:a="http://schemas.openxmlformats.org/drawingml/2006/main" noGrp="1"/>
          </p:cNvSpPr>
          <p:nvPr/>
        </p:nvSpPr>
        <p:spPr>
          <a:xfrm xmlns:a="http://schemas.openxmlformats.org/drawingml/2006/main">
            <a:off x="1962150" y="2190750"/>
            <a:ext cx="685800" cy="68580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EA0E87-DD9F-46C6-AEC4-609739FD7B9C}"/>
              </a:ext>
            </a:extLst>
          </p:cNvPr>
          <p:cNvSpPr>
            <a:spLocks xmlns:a="http://schemas.openxmlformats.org/drawingml/2006/main" noGrp="1"/>
          </p:cNvSpPr>
          <p:nvPr/>
        </p:nvSpPr>
        <p:spPr>
          <a:xfrm xmlns:a="http://schemas.openxmlformats.org/drawingml/2006/main">
            <a:off x="196215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5C3AE410-6834-4A90-82B9-561C8823C3D0}"/>
              </a:ext>
            </a:extLst>
          </p:cNvPr>
          <p:cNvSpPr>
            <a:spLocks xmlns:a="http://schemas.openxmlformats.org/drawingml/2006/main" noGrp="1"/>
          </p:cNvSpPr>
          <p:nvPr/>
        </p:nvSpPr>
        <p:spPr>
          <a:xfrm xmlns:a="http://schemas.openxmlformats.org/drawingml/2006/main">
            <a:off x="169545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Preliminary</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protein trials</a:t>
            </a:r>
          </a:p>
        </p:txBody>
      </p:sp>
      <p:sp>
        <p:nvSpPr>
          <p:cNvPr id="13" name="">
            <a:extLst xmlns:a="http://schemas.openxmlformats.org/drawingml/2006/main">
              <a:ext uri="{FF2B5EF4-FFF2-40B4-BE49-F238E27FC236}">
                <a16:creationId xmlns:a16="http://schemas.microsoft.com/office/drawing/2014/main" id="{D73ED9CB-987A-4B2E-83FA-E401AED40114}"/>
              </a:ext>
            </a:extLst>
          </p:cNvPr>
          <p:cNvSpPr>
            <a:spLocks xmlns:a="http://schemas.openxmlformats.org/drawingml/2006/main" noGrp="1"/>
          </p:cNvSpPr>
          <p:nvPr/>
        </p:nvSpPr>
        <p:spPr>
          <a:xfrm xmlns:a="http://schemas.openxmlformats.org/drawingml/2006/main">
            <a:off x="2705100"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14" name="">
            <a:extLst xmlns:a="http://schemas.openxmlformats.org/drawingml/2006/main">
              <a:ext uri="{FF2B5EF4-FFF2-40B4-BE49-F238E27FC236}">
                <a16:creationId xmlns:a16="http://schemas.microsoft.com/office/drawing/2014/main" id="{166A9CA4-3939-4413-83F0-F641B4E86572}"/>
              </a:ext>
            </a:extLst>
          </p:cNvPr>
          <p:cNvSpPr>
            <a:spLocks xmlns:a="http://schemas.openxmlformats.org/drawingml/2006/main" noGrp="1"/>
          </p:cNvSpPr>
          <p:nvPr/>
        </p:nvSpPr>
        <p:spPr>
          <a:xfrm xmlns:a="http://schemas.openxmlformats.org/drawingml/2006/main">
            <a:off x="3219450"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F04AE6-5A6F-4A97-BA8F-763283B5F228}"/>
              </a:ext>
            </a:extLst>
          </p:cNvPr>
          <p:cNvSpPr>
            <a:spLocks xmlns:a="http://schemas.openxmlformats.org/drawingml/2006/main" noGrp="1"/>
          </p:cNvSpPr>
          <p:nvPr/>
        </p:nvSpPr>
        <p:spPr>
          <a:xfrm xmlns:a="http://schemas.openxmlformats.org/drawingml/2006/main">
            <a:off x="3400425" y="2190750"/>
            <a:ext cx="685800" cy="68580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3E077B0-A64B-486B-9411-F9D0345A5DF4}"/>
              </a:ext>
            </a:extLst>
          </p:cNvPr>
          <p:cNvSpPr>
            <a:spLocks xmlns:a="http://schemas.openxmlformats.org/drawingml/2006/main" noGrp="1"/>
          </p:cNvSpPr>
          <p:nvPr/>
        </p:nvSpPr>
        <p:spPr>
          <a:xfrm xmlns:a="http://schemas.openxmlformats.org/drawingml/2006/main">
            <a:off x="340042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304E7816-BFAA-4FEB-9B98-6FC60567911B}"/>
              </a:ext>
            </a:extLst>
          </p:cNvPr>
          <p:cNvSpPr>
            <a:spLocks xmlns:a="http://schemas.openxmlformats.org/drawingml/2006/main" noGrp="1"/>
          </p:cNvSpPr>
          <p:nvPr/>
        </p:nvSpPr>
        <p:spPr>
          <a:xfrm xmlns:a="http://schemas.openxmlformats.org/drawingml/2006/main">
            <a:off x="313372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pH and rheology</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screening</a:t>
            </a:r>
          </a:p>
        </p:txBody>
      </p:sp>
      <p:sp>
        <p:nvSpPr>
          <p:cNvPr id="18" name="">
            <a:extLst xmlns:a="http://schemas.openxmlformats.org/drawingml/2006/main">
              <a:ext uri="{FF2B5EF4-FFF2-40B4-BE49-F238E27FC236}">
                <a16:creationId xmlns:a16="http://schemas.microsoft.com/office/drawing/2014/main" id="{C359B49F-B359-47EE-AE7E-46E6E22F6A71}"/>
              </a:ext>
            </a:extLst>
          </p:cNvPr>
          <p:cNvSpPr>
            <a:spLocks xmlns:a="http://schemas.openxmlformats.org/drawingml/2006/main" noGrp="1"/>
          </p:cNvSpPr>
          <p:nvPr/>
        </p:nvSpPr>
        <p:spPr>
          <a:xfrm xmlns:a="http://schemas.openxmlformats.org/drawingml/2006/main">
            <a:off x="414337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19" name="">
            <a:extLst xmlns:a="http://schemas.openxmlformats.org/drawingml/2006/main">
              <a:ext uri="{FF2B5EF4-FFF2-40B4-BE49-F238E27FC236}">
                <a16:creationId xmlns:a16="http://schemas.microsoft.com/office/drawing/2014/main" id="{CDB0D627-A9D8-4435-AE0D-3F7E2BDB12C1}"/>
              </a:ext>
            </a:extLst>
          </p:cNvPr>
          <p:cNvSpPr>
            <a:spLocks xmlns:a="http://schemas.openxmlformats.org/drawingml/2006/main" noGrp="1"/>
          </p:cNvSpPr>
          <p:nvPr/>
        </p:nvSpPr>
        <p:spPr>
          <a:xfrm xmlns:a="http://schemas.openxmlformats.org/drawingml/2006/main">
            <a:off x="465772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10D93C6-0B94-46FE-A236-228F00A1D52D}"/>
              </a:ext>
            </a:extLst>
          </p:cNvPr>
          <p:cNvSpPr>
            <a:spLocks xmlns:a="http://schemas.openxmlformats.org/drawingml/2006/main" noGrp="1"/>
          </p:cNvSpPr>
          <p:nvPr/>
        </p:nvSpPr>
        <p:spPr>
          <a:xfrm xmlns:a="http://schemas.openxmlformats.org/drawingml/2006/main">
            <a:off x="4838700" y="2190750"/>
            <a:ext cx="685800" cy="68580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E739316-3183-4CC7-813B-455F61D3B4FF}"/>
              </a:ext>
            </a:extLst>
          </p:cNvPr>
          <p:cNvSpPr>
            <a:spLocks xmlns:a="http://schemas.openxmlformats.org/drawingml/2006/main" noGrp="1"/>
          </p:cNvSpPr>
          <p:nvPr/>
        </p:nvSpPr>
        <p:spPr>
          <a:xfrm xmlns:a="http://schemas.openxmlformats.org/drawingml/2006/main">
            <a:off x="483870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FACB0557-273E-427B-994D-EF531D53F79D}"/>
              </a:ext>
            </a:extLst>
          </p:cNvPr>
          <p:cNvSpPr>
            <a:spLocks xmlns:a="http://schemas.openxmlformats.org/drawingml/2006/main" noGrp="1"/>
          </p:cNvSpPr>
          <p:nvPr/>
        </p:nvSpPr>
        <p:spPr>
          <a:xfrm xmlns:a="http://schemas.openxmlformats.org/drawingml/2006/main">
            <a:off x="457200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Kjeldahl</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analysis</a:t>
            </a:r>
          </a:p>
        </p:txBody>
      </p:sp>
      <p:sp>
        <p:nvSpPr>
          <p:cNvPr id="23" name="">
            <a:extLst xmlns:a="http://schemas.openxmlformats.org/drawingml/2006/main">
              <a:ext uri="{FF2B5EF4-FFF2-40B4-BE49-F238E27FC236}">
                <a16:creationId xmlns:a16="http://schemas.microsoft.com/office/drawing/2014/main" id="{8043572A-C4D9-401F-9306-2996757EF3F4}"/>
              </a:ext>
            </a:extLst>
          </p:cNvPr>
          <p:cNvSpPr>
            <a:spLocks xmlns:a="http://schemas.openxmlformats.org/drawingml/2006/main" noGrp="1"/>
          </p:cNvSpPr>
          <p:nvPr/>
        </p:nvSpPr>
        <p:spPr>
          <a:xfrm xmlns:a="http://schemas.openxmlformats.org/drawingml/2006/main">
            <a:off x="5581650"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4" name="">
            <a:extLst xmlns:a="http://schemas.openxmlformats.org/drawingml/2006/main">
              <a:ext uri="{FF2B5EF4-FFF2-40B4-BE49-F238E27FC236}">
                <a16:creationId xmlns:a16="http://schemas.microsoft.com/office/drawing/2014/main" id="{6BA57439-4B4D-4102-98E4-C2EFD777ADB9}"/>
              </a:ext>
            </a:extLst>
          </p:cNvPr>
          <p:cNvSpPr>
            <a:spLocks xmlns:a="http://schemas.openxmlformats.org/drawingml/2006/main" noGrp="1"/>
          </p:cNvSpPr>
          <p:nvPr/>
        </p:nvSpPr>
        <p:spPr>
          <a:xfrm xmlns:a="http://schemas.openxmlformats.org/drawingml/2006/main">
            <a:off x="6096000"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26112D0-D92A-46EB-83B4-05034E5FA9CB}"/>
              </a:ext>
            </a:extLst>
          </p:cNvPr>
          <p:cNvSpPr>
            <a:spLocks xmlns:a="http://schemas.openxmlformats.org/drawingml/2006/main" noGrp="1"/>
          </p:cNvSpPr>
          <p:nvPr/>
        </p:nvSpPr>
        <p:spPr>
          <a:xfrm xmlns:a="http://schemas.openxmlformats.org/drawingml/2006/main">
            <a:off x="6276975" y="2190750"/>
            <a:ext cx="685800" cy="68580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81B8631-A931-42C3-821E-37ED29CA3C57}"/>
              </a:ext>
            </a:extLst>
          </p:cNvPr>
          <p:cNvSpPr>
            <a:spLocks xmlns:a="http://schemas.openxmlformats.org/drawingml/2006/main" noGrp="1"/>
          </p:cNvSpPr>
          <p:nvPr/>
        </p:nvSpPr>
        <p:spPr>
          <a:xfrm xmlns:a="http://schemas.openxmlformats.org/drawingml/2006/main">
            <a:off x="627697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981AF8B9-9816-4659-B90B-7AD97C212D97}"/>
              </a:ext>
            </a:extLst>
          </p:cNvPr>
          <p:cNvSpPr>
            <a:spLocks xmlns:a="http://schemas.openxmlformats.org/drawingml/2006/main" noGrp="1"/>
          </p:cNvSpPr>
          <p:nvPr/>
        </p:nvSpPr>
        <p:spPr>
          <a:xfrm xmlns:a="http://schemas.openxmlformats.org/drawingml/2006/main">
            <a:off x="601027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Protein basis</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correction</a:t>
            </a:r>
          </a:p>
        </p:txBody>
      </p:sp>
      <p:sp>
        <p:nvSpPr>
          <p:cNvPr id="28" name="">
            <a:extLst xmlns:a="http://schemas.openxmlformats.org/drawingml/2006/main">
              <a:ext uri="{FF2B5EF4-FFF2-40B4-BE49-F238E27FC236}">
                <a16:creationId xmlns:a16="http://schemas.microsoft.com/office/drawing/2014/main" id="{32662F8D-B51C-4200-A208-7DE495B7FC52}"/>
              </a:ext>
            </a:extLst>
          </p:cNvPr>
          <p:cNvSpPr>
            <a:spLocks xmlns:a="http://schemas.openxmlformats.org/drawingml/2006/main" noGrp="1"/>
          </p:cNvSpPr>
          <p:nvPr/>
        </p:nvSpPr>
        <p:spPr>
          <a:xfrm xmlns:a="http://schemas.openxmlformats.org/drawingml/2006/main">
            <a:off x="701992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9" name="">
            <a:extLst xmlns:a="http://schemas.openxmlformats.org/drawingml/2006/main">
              <a:ext uri="{FF2B5EF4-FFF2-40B4-BE49-F238E27FC236}">
                <a16:creationId xmlns:a16="http://schemas.microsoft.com/office/drawing/2014/main" id="{E5A314C0-4F13-4C3B-B731-559AFAF461DD}"/>
              </a:ext>
            </a:extLst>
          </p:cNvPr>
          <p:cNvSpPr>
            <a:spLocks xmlns:a="http://schemas.openxmlformats.org/drawingml/2006/main" noGrp="1"/>
          </p:cNvSpPr>
          <p:nvPr/>
        </p:nvSpPr>
        <p:spPr>
          <a:xfrm xmlns:a="http://schemas.openxmlformats.org/drawingml/2006/main">
            <a:off x="753427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8D3477E-0ACA-4B83-92CA-0154F50B346E}"/>
              </a:ext>
            </a:extLst>
          </p:cNvPr>
          <p:cNvSpPr>
            <a:spLocks xmlns:a="http://schemas.openxmlformats.org/drawingml/2006/main" noGrp="1"/>
          </p:cNvSpPr>
          <p:nvPr/>
        </p:nvSpPr>
        <p:spPr>
          <a:xfrm xmlns:a="http://schemas.openxmlformats.org/drawingml/2006/main">
            <a:off x="7715250" y="2190750"/>
            <a:ext cx="685800" cy="68580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BE822B5-43CE-4574-AC10-5F2DB32754B1}"/>
              </a:ext>
            </a:extLst>
          </p:cNvPr>
          <p:cNvSpPr>
            <a:spLocks xmlns:a="http://schemas.openxmlformats.org/drawingml/2006/main" noGrp="1"/>
          </p:cNvSpPr>
          <p:nvPr/>
        </p:nvSpPr>
        <p:spPr>
          <a:xfrm xmlns:a="http://schemas.openxmlformats.org/drawingml/2006/main">
            <a:off x="771525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06</a:t>
            </a:r>
          </a:p>
        </p:txBody>
      </p:sp>
      <p:sp>
        <p:nvSpPr>
          <p:cNvPr id="32" name="">
            <a:extLst xmlns:a="http://schemas.openxmlformats.org/drawingml/2006/main">
              <a:ext uri="{FF2B5EF4-FFF2-40B4-BE49-F238E27FC236}">
                <a16:creationId xmlns:a16="http://schemas.microsoft.com/office/drawing/2014/main" id="{01220855-36E6-4197-A6C3-D1419136D23D}"/>
              </a:ext>
            </a:extLst>
          </p:cNvPr>
          <p:cNvSpPr>
            <a:spLocks xmlns:a="http://schemas.openxmlformats.org/drawingml/2006/main" noGrp="1"/>
          </p:cNvSpPr>
          <p:nvPr/>
        </p:nvSpPr>
        <p:spPr>
          <a:xfrm xmlns:a="http://schemas.openxmlformats.org/drawingml/2006/main">
            <a:off x="744855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Final</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formulations</a:t>
            </a:r>
          </a:p>
        </p:txBody>
      </p:sp>
      <p:sp>
        <p:nvSpPr>
          <p:cNvPr id="33" name="">
            <a:extLst xmlns:a="http://schemas.openxmlformats.org/drawingml/2006/main">
              <a:ext uri="{FF2B5EF4-FFF2-40B4-BE49-F238E27FC236}">
                <a16:creationId xmlns:a16="http://schemas.microsoft.com/office/drawing/2014/main" id="{A21B3EEC-F898-4666-A97D-9C664B9FDCD1}"/>
              </a:ext>
            </a:extLst>
          </p:cNvPr>
          <p:cNvSpPr>
            <a:spLocks xmlns:a="http://schemas.openxmlformats.org/drawingml/2006/main" noGrp="1"/>
          </p:cNvSpPr>
          <p:nvPr/>
        </p:nvSpPr>
        <p:spPr>
          <a:xfrm xmlns:a="http://schemas.openxmlformats.org/drawingml/2006/main">
            <a:off x="8458200"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34" name="">
            <a:extLst xmlns:a="http://schemas.openxmlformats.org/drawingml/2006/main">
              <a:ext uri="{FF2B5EF4-FFF2-40B4-BE49-F238E27FC236}">
                <a16:creationId xmlns:a16="http://schemas.microsoft.com/office/drawing/2014/main" id="{02DF7C4B-5152-4979-8F1E-4609FA970F10}"/>
              </a:ext>
            </a:extLst>
          </p:cNvPr>
          <p:cNvSpPr>
            <a:spLocks xmlns:a="http://schemas.openxmlformats.org/drawingml/2006/main" noGrp="1"/>
          </p:cNvSpPr>
          <p:nvPr/>
        </p:nvSpPr>
        <p:spPr>
          <a:xfrm xmlns:a="http://schemas.openxmlformats.org/drawingml/2006/main">
            <a:off x="8972550"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2CB3025-0C0D-40C1-B5AE-41702A81ADC6}"/>
              </a:ext>
            </a:extLst>
          </p:cNvPr>
          <p:cNvSpPr>
            <a:spLocks xmlns:a="http://schemas.openxmlformats.org/drawingml/2006/main" noGrp="1"/>
          </p:cNvSpPr>
          <p:nvPr/>
        </p:nvSpPr>
        <p:spPr>
          <a:xfrm xmlns:a="http://schemas.openxmlformats.org/drawingml/2006/main">
            <a:off x="9153525" y="2190750"/>
            <a:ext cx="685800" cy="685800"/>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5B324F5-208C-4104-A4B0-6EB79AB9D668}"/>
              </a:ext>
            </a:extLst>
          </p:cNvPr>
          <p:cNvSpPr>
            <a:spLocks xmlns:a="http://schemas.openxmlformats.org/drawingml/2006/main" noGrp="1"/>
          </p:cNvSpPr>
          <p:nvPr/>
        </p:nvSpPr>
        <p:spPr>
          <a:xfrm xmlns:a="http://schemas.openxmlformats.org/drawingml/2006/main">
            <a:off x="9153525"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07</a:t>
            </a:r>
          </a:p>
        </p:txBody>
      </p:sp>
      <p:sp>
        <p:nvSpPr>
          <p:cNvPr id="37" name="">
            <a:extLst xmlns:a="http://schemas.openxmlformats.org/drawingml/2006/main">
              <a:ext uri="{FF2B5EF4-FFF2-40B4-BE49-F238E27FC236}">
                <a16:creationId xmlns:a16="http://schemas.microsoft.com/office/drawing/2014/main" id="{E3D11CA5-7CC2-439E-9C49-DAED8B3653F4}"/>
              </a:ext>
            </a:extLst>
          </p:cNvPr>
          <p:cNvSpPr>
            <a:spLocks xmlns:a="http://schemas.openxmlformats.org/drawingml/2006/main" noGrp="1"/>
          </p:cNvSpPr>
          <p:nvPr/>
        </p:nvSpPr>
        <p:spPr>
          <a:xfrm xmlns:a="http://schemas.openxmlformats.org/drawingml/2006/main">
            <a:off x="8886825"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Sensory</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evaluation</a:t>
            </a:r>
          </a:p>
        </p:txBody>
      </p:sp>
      <p:sp>
        <p:nvSpPr>
          <p:cNvPr id="38" name="">
            <a:extLst xmlns:a="http://schemas.openxmlformats.org/drawingml/2006/main">
              <a:ext uri="{FF2B5EF4-FFF2-40B4-BE49-F238E27FC236}">
                <a16:creationId xmlns:a16="http://schemas.microsoft.com/office/drawing/2014/main" id="{08D281F4-0E2A-4459-9CE2-3815759CA5E6}"/>
              </a:ext>
            </a:extLst>
          </p:cNvPr>
          <p:cNvSpPr>
            <a:spLocks xmlns:a="http://schemas.openxmlformats.org/drawingml/2006/main" noGrp="1"/>
          </p:cNvSpPr>
          <p:nvPr/>
        </p:nvSpPr>
        <p:spPr>
          <a:xfrm xmlns:a="http://schemas.openxmlformats.org/drawingml/2006/main">
            <a:off x="9896475" y="2533650"/>
            <a:ext cx="59055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39" name="">
            <a:extLst xmlns:a="http://schemas.openxmlformats.org/drawingml/2006/main">
              <a:ext uri="{FF2B5EF4-FFF2-40B4-BE49-F238E27FC236}">
                <a16:creationId xmlns:a16="http://schemas.microsoft.com/office/drawing/2014/main" id="{E291712B-F34F-4538-A26E-8E97BB5FA774}"/>
              </a:ext>
            </a:extLst>
          </p:cNvPr>
          <p:cNvSpPr>
            <a:spLocks xmlns:a="http://schemas.openxmlformats.org/drawingml/2006/main" noGrp="1"/>
          </p:cNvSpPr>
          <p:nvPr/>
        </p:nvSpPr>
        <p:spPr>
          <a:xfrm xmlns:a="http://schemas.openxmlformats.org/drawingml/2006/main">
            <a:off x="10410825" y="24765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9508E9E-725F-4B7A-B6B0-1BDCB008C16F}"/>
              </a:ext>
            </a:extLst>
          </p:cNvPr>
          <p:cNvSpPr>
            <a:spLocks xmlns:a="http://schemas.openxmlformats.org/drawingml/2006/main" noGrp="1"/>
          </p:cNvSpPr>
          <p:nvPr/>
        </p:nvSpPr>
        <p:spPr>
          <a:xfrm xmlns:a="http://schemas.openxmlformats.org/drawingml/2006/main">
            <a:off x="10591800" y="2190750"/>
            <a:ext cx="685800" cy="685800"/>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773D02B-3DF3-469E-B396-477F40C5C663}"/>
              </a:ext>
            </a:extLst>
          </p:cNvPr>
          <p:cNvSpPr>
            <a:spLocks xmlns:a="http://schemas.openxmlformats.org/drawingml/2006/main" noGrp="1"/>
          </p:cNvSpPr>
          <p:nvPr/>
        </p:nvSpPr>
        <p:spPr>
          <a:xfrm xmlns:a="http://schemas.openxmlformats.org/drawingml/2006/main">
            <a:off x="10591800" y="21907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08</a:t>
            </a:r>
          </a:p>
        </p:txBody>
      </p:sp>
      <p:sp>
        <p:nvSpPr>
          <p:cNvPr id="42" name="">
            <a:extLst xmlns:a="http://schemas.openxmlformats.org/drawingml/2006/main">
              <a:ext uri="{FF2B5EF4-FFF2-40B4-BE49-F238E27FC236}">
                <a16:creationId xmlns:a16="http://schemas.microsoft.com/office/drawing/2014/main" id="{3AF6CEF0-3586-4F75-BD91-8BC75E8BF6FE}"/>
              </a:ext>
            </a:extLst>
          </p:cNvPr>
          <p:cNvSpPr>
            <a:spLocks xmlns:a="http://schemas.openxmlformats.org/drawingml/2006/main" noGrp="1"/>
          </p:cNvSpPr>
          <p:nvPr/>
        </p:nvSpPr>
        <p:spPr>
          <a:xfrm xmlns:a="http://schemas.openxmlformats.org/drawingml/2006/main">
            <a:off x="10325100" y="3048000"/>
            <a:ext cx="121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Candidate</a:t>
            </a:r>
          </a:p>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selection</a:t>
            </a:r>
          </a:p>
        </p:txBody>
      </p:sp>
      <p:sp>
        <p:nvSpPr>
          <p:cNvPr id="43" name="">
            <a:extLst xmlns:a="http://schemas.openxmlformats.org/drawingml/2006/main">
              <a:ext uri="{FF2B5EF4-FFF2-40B4-BE49-F238E27FC236}">
                <a16:creationId xmlns:a16="http://schemas.microsoft.com/office/drawing/2014/main" id="{8CEFB730-EA20-44DD-9FC3-4019782C4E4C}"/>
              </a:ext>
            </a:extLst>
          </p:cNvPr>
          <p:cNvSpPr>
            <a:spLocks xmlns:a="http://schemas.openxmlformats.org/drawingml/2006/main" noGrp="1"/>
          </p:cNvSpPr>
          <p:nvPr/>
        </p:nvSpPr>
        <p:spPr>
          <a:xfrm xmlns:a="http://schemas.openxmlformats.org/drawingml/2006/main">
            <a:off x="1809750" y="4572000"/>
            <a:ext cx="8572500" cy="1047750"/>
          </a:xfrm>
          <a:prstGeom xmlns:a="http://schemas.openxmlformats.org/drawingml/2006/main" prst="roundRect">
            <a:avLst>
              <a:gd name="adj" fmla="val 7273"/>
            </a:avLst>
          </a:prstGeom>
          <a:solidFill xmlns:a="http://schemas.openxmlformats.org/drawingml/2006/main">
            <a:srgbClr val="F7FAFC"/>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D28DFC5-46B4-4BFE-BE3A-002318D57306}"/>
              </a:ext>
            </a:extLst>
          </p:cNvPr>
          <p:cNvSpPr>
            <a:spLocks xmlns:a="http://schemas.openxmlformats.org/drawingml/2006/main" noGrp="1"/>
          </p:cNvSpPr>
          <p:nvPr/>
        </p:nvSpPr>
        <p:spPr>
          <a:xfrm xmlns:a="http://schemas.openxmlformats.org/drawingml/2006/main">
            <a:off x="1809750" y="4572000"/>
            <a:ext cx="66675" cy="10477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8C79D24-FA07-4B7A-BEA4-182CDD6EAD92}"/>
              </a:ext>
            </a:extLst>
          </p:cNvPr>
          <p:cNvSpPr>
            <a:spLocks xmlns:a="http://schemas.openxmlformats.org/drawingml/2006/main" noGrp="1"/>
          </p:cNvSpPr>
          <p:nvPr/>
        </p:nvSpPr>
        <p:spPr>
          <a:xfrm xmlns:a="http://schemas.openxmlformats.org/drawingml/2006/main">
            <a:off x="2019300" y="468630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Sequential decision logic</a:t>
            </a:r>
          </a:p>
        </p:txBody>
      </p:sp>
      <p:sp>
        <p:nvSpPr>
          <p:cNvPr id="46" name="">
            <a:extLst xmlns:a="http://schemas.openxmlformats.org/drawingml/2006/main">
              <a:ext uri="{FF2B5EF4-FFF2-40B4-BE49-F238E27FC236}">
                <a16:creationId xmlns:a16="http://schemas.microsoft.com/office/drawing/2014/main" id="{46202C66-4A0D-4C62-B4AC-5F92FB56A960}"/>
              </a:ext>
            </a:extLst>
          </p:cNvPr>
          <p:cNvSpPr>
            <a:spLocks xmlns:a="http://schemas.openxmlformats.org/drawingml/2006/main" noGrp="1"/>
          </p:cNvSpPr>
          <p:nvPr/>
        </p:nvSpPr>
        <p:spPr>
          <a:xfrm xmlns:a="http://schemas.openxmlformats.org/drawingml/2006/main">
            <a:off x="2019300" y="499110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Each stage reduced uncertainty before the next formulation decision. Preliminary nominal protein levels were interpreted separately from the corrected final protein estimates.</a:t>
            </a:r>
          </a:p>
        </p:txBody>
      </p:sp>
      <p:sp>
        <p:nvSpPr>
          <p:cNvPr id="47" name="">
            <a:extLst xmlns:a="http://schemas.openxmlformats.org/drawingml/2006/main">
              <a:ext uri="{FF2B5EF4-FFF2-40B4-BE49-F238E27FC236}">
                <a16:creationId xmlns:a16="http://schemas.microsoft.com/office/drawing/2014/main" id="{70460200-59FB-45BB-B0B6-84A3904A61C3}"/>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48" name="">
            <a:extLst xmlns:a="http://schemas.openxmlformats.org/drawingml/2006/main">
              <a:ext uri="{FF2B5EF4-FFF2-40B4-BE49-F238E27FC236}">
                <a16:creationId xmlns:a16="http://schemas.microsoft.com/office/drawing/2014/main" id="{5F7C7981-21E3-4B6C-848B-131773F4E64E}"/>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07</a:t>
            </a:r>
          </a:p>
        </p:txBody>
      </p:sp>
    </p:spTree>
    <p:extLst>
      <p:ext uri="{BB962C8B-B14F-4D97-AF65-F5344CB8AC3E}">
        <p14:creationId xmlns:p14="http://schemas.microsoft.com/office/powerpoint/2010/main" val="5859040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82EC247-EB4D-4404-B2F3-51C4061CE42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AD77EB-95B6-4F5F-8572-7F94F80E173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PROCESSING</a:t>
            </a:r>
          </a:p>
        </p:txBody>
      </p:sp>
      <p:sp>
        <p:nvSpPr>
          <p:cNvPr id="3" name="">
            <a:extLst xmlns:a="http://schemas.openxmlformats.org/drawingml/2006/main">
              <a:ext uri="{FF2B5EF4-FFF2-40B4-BE49-F238E27FC236}">
                <a16:creationId xmlns:a16="http://schemas.microsoft.com/office/drawing/2014/main" id="{136724B3-E19D-4F9A-9DEE-6753AA0A597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Oat beverage process</a:t>
            </a:r>
          </a:p>
        </p:txBody>
      </p:sp>
      <p:sp>
        <p:nvSpPr>
          <p:cNvPr id="4" name="">
            <a:extLst xmlns:a="http://schemas.openxmlformats.org/drawingml/2006/main">
              <a:ext uri="{FF2B5EF4-FFF2-40B4-BE49-F238E27FC236}">
                <a16:creationId xmlns:a16="http://schemas.microsoft.com/office/drawing/2014/main" id="{389BA892-50F8-4180-A353-D4389667A266}"/>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c3b7281cdfcb49d2"/>
          <a:srcRect xmlns:a="http://schemas.openxmlformats.org/drawingml/2006/main" l="0" t="20918" r="0" b="20918"/>
          <a:stretch xmlns:a="http://schemas.openxmlformats.org/drawingml/2006/main">
            <a:fillRect l="0" t="0" r="0" b="0"/>
          </a:stretch>
        </p:blipFill>
        <p:spPr>
          <a:xfrm xmlns:a="http://schemas.openxmlformats.org/drawingml/2006/main">
            <a:off x="619125" y="1524000"/>
            <a:ext cx="2333625" cy="1809750"/>
          </a:xfrm>
          <a:prstGeom xmlns:a="http://schemas.openxmlformats.org/drawingml/2006/main" prst="roundRect">
            <a:avLst>
              <a:gd name="adj" fmla="val 6316"/>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98a8504ff6a47fe"/>
          <a:srcRect xmlns:a="http://schemas.openxmlformats.org/drawingml/2006/main" l="0" t="20918" r="0" b="20918"/>
          <a:stretch xmlns:a="http://schemas.openxmlformats.org/drawingml/2006/main">
            <a:fillRect l="0" t="0" r="0" b="0"/>
          </a:stretch>
        </p:blipFill>
        <p:spPr>
          <a:xfrm xmlns:a="http://schemas.openxmlformats.org/drawingml/2006/main">
            <a:off x="3143250" y="1524000"/>
            <a:ext cx="2333625" cy="1809750"/>
          </a:xfrm>
          <a:prstGeom xmlns:a="http://schemas.openxmlformats.org/drawingml/2006/main" prst="roundRect">
            <a:avLst>
              <a:gd name="adj" fmla="val 6316"/>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85d06da10874b21"/>
          <a:srcRect xmlns:a="http://schemas.openxmlformats.org/drawingml/2006/main" l="1645" t="0" r="1645" b="0"/>
          <a:stretch xmlns:a="http://schemas.openxmlformats.org/drawingml/2006/main">
            <a:fillRect l="0" t="0" r="0" b="0"/>
          </a:stretch>
        </p:blipFill>
        <p:spPr>
          <a:xfrm xmlns:a="http://schemas.openxmlformats.org/drawingml/2006/main">
            <a:off x="5667375" y="1524000"/>
            <a:ext cx="2333625"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9704CA1D-E964-4725-9317-8B34EBE99A89}"/>
              </a:ext>
            </a:extLst>
          </p:cNvPr>
          <p:cNvSpPr>
            <a:spLocks xmlns:a="http://schemas.openxmlformats.org/drawingml/2006/main" noGrp="1"/>
          </p:cNvSpPr>
          <p:nvPr/>
        </p:nvSpPr>
        <p:spPr>
          <a:xfrm xmlns:a="http://schemas.openxmlformats.org/drawingml/2006/main">
            <a:off x="8382000" y="16192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1" i="0">
                <a:solidFill>
                  <a:srgbClr val="082C4C"/>
                </a:solidFill>
                <a:latin typeface="Arial"/>
                <a:ea typeface="Arial"/>
                <a:cs typeface="Arial"/>
              </a:defRPr>
            </a:pPr>
            <a:r>
              <a:rPr sz="2625" b="1" i="0">
                <a:solidFill>
                  <a:srgbClr val="082C4C"/>
                </a:solidFill>
                <a:latin typeface="Arial"/>
                <a:ea typeface="Arial"/>
                <a:cs typeface="Arial"/>
              </a:rPr>
              <a:t>600 g + 3 L</a:t>
            </a:r>
          </a:p>
        </p:txBody>
      </p:sp>
      <p:sp>
        <p:nvSpPr>
          <p:cNvPr id="9" name="">
            <a:extLst xmlns:a="http://schemas.openxmlformats.org/drawingml/2006/main">
              <a:ext uri="{FF2B5EF4-FFF2-40B4-BE49-F238E27FC236}">
                <a16:creationId xmlns:a16="http://schemas.microsoft.com/office/drawing/2014/main" id="{3EB6A082-DE2E-4B56-A39E-7B1D43C6596F}"/>
              </a:ext>
            </a:extLst>
          </p:cNvPr>
          <p:cNvSpPr>
            <a:spLocks xmlns:a="http://schemas.openxmlformats.org/drawingml/2006/main" noGrp="1"/>
          </p:cNvSpPr>
          <p:nvPr/>
        </p:nvSpPr>
        <p:spPr>
          <a:xfrm xmlns:a="http://schemas.openxmlformats.org/drawingml/2006/main">
            <a:off x="8382000" y="21145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rolled oats + water</a:t>
            </a:r>
          </a:p>
        </p:txBody>
      </p:sp>
      <p:sp>
        <p:nvSpPr>
          <p:cNvPr id="10" name="">
            <a:extLst xmlns:a="http://schemas.openxmlformats.org/drawingml/2006/main">
              <a:ext uri="{FF2B5EF4-FFF2-40B4-BE49-F238E27FC236}">
                <a16:creationId xmlns:a16="http://schemas.microsoft.com/office/drawing/2014/main" id="{4282EA98-9564-420A-8ADD-278DF9D6E153}"/>
              </a:ext>
            </a:extLst>
          </p:cNvPr>
          <p:cNvSpPr>
            <a:spLocks xmlns:a="http://schemas.openxmlformats.org/drawingml/2006/main" noGrp="1"/>
          </p:cNvSpPr>
          <p:nvPr/>
        </p:nvSpPr>
        <p:spPr>
          <a:xfrm xmlns:a="http://schemas.openxmlformats.org/drawingml/2006/main">
            <a:off x="8382000" y="257175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i="0">
                <a:solidFill>
                  <a:srgbClr val="00A9B7"/>
                </a:solidFill>
                <a:latin typeface="Arial"/>
                <a:ea typeface="Arial"/>
                <a:cs typeface="Arial"/>
              </a:defRPr>
            </a:pPr>
            <a:r>
              <a:rPr sz="1425" b="1" i="0">
                <a:solidFill>
                  <a:srgbClr val="00A9B7"/>
                </a:solidFill>
                <a:latin typeface="Arial"/>
                <a:ea typeface="Arial"/>
                <a:cs typeface="Arial"/>
              </a:rPr>
              <a:t>BAN 528 µL</a:t>
            </a:r>
          </a:p>
          <a:p xmlns:a="http://schemas.openxmlformats.org/drawingml/2006/main">
            <a:pPr algn="l">
              <a:defRPr sz="1425" b="1" i="0">
                <a:solidFill>
                  <a:srgbClr val="00A9B7"/>
                </a:solidFill>
                <a:latin typeface="Arial"/>
                <a:ea typeface="Arial"/>
                <a:cs typeface="Arial"/>
              </a:defRPr>
            </a:pPr>
            <a:r>
              <a:rPr sz="1425" b="1" i="0">
                <a:solidFill>
                  <a:srgbClr val="00A9B7"/>
                </a:solidFill>
                <a:latin typeface="Arial"/>
                <a:ea typeface="Arial"/>
                <a:cs typeface="Arial"/>
              </a:rPr>
              <a:t>AMG 198 µL</a:t>
            </a:r>
          </a:p>
        </p:txBody>
      </p:sp>
      <p:sp>
        <p:nvSpPr>
          <p:cNvPr id="11" name="">
            <a:extLst xmlns:a="http://schemas.openxmlformats.org/drawingml/2006/main">
              <a:ext uri="{FF2B5EF4-FFF2-40B4-BE49-F238E27FC236}">
                <a16:creationId xmlns:a16="http://schemas.microsoft.com/office/drawing/2014/main" id="{70862A26-E9E2-468B-ADFC-91E60E270F41}"/>
              </a:ext>
            </a:extLst>
          </p:cNvPr>
          <p:cNvSpPr>
            <a:spLocks xmlns:a="http://schemas.openxmlformats.org/drawingml/2006/main" noGrp="1"/>
          </p:cNvSpPr>
          <p:nvPr/>
        </p:nvSpPr>
        <p:spPr>
          <a:xfrm xmlns:a="http://schemas.openxmlformats.org/drawingml/2006/main">
            <a:off x="5715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12" name="">
            <a:extLst xmlns:a="http://schemas.openxmlformats.org/drawingml/2006/main">
              <a:ext uri="{FF2B5EF4-FFF2-40B4-BE49-F238E27FC236}">
                <a16:creationId xmlns:a16="http://schemas.microsoft.com/office/drawing/2014/main" id="{B5F92260-B6B2-47ED-98CA-8D8FD8E7F45E}"/>
              </a:ext>
            </a:extLst>
          </p:cNvPr>
          <p:cNvSpPr>
            <a:spLocks xmlns:a="http://schemas.openxmlformats.org/drawingml/2006/main" noGrp="1"/>
          </p:cNvSpPr>
          <p:nvPr/>
        </p:nvSpPr>
        <p:spPr>
          <a:xfrm xmlns:a="http://schemas.openxmlformats.org/drawingml/2006/main">
            <a:off x="6477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Mix</a:t>
            </a:r>
          </a:p>
        </p:txBody>
      </p:sp>
      <p:sp>
        <p:nvSpPr>
          <p:cNvPr id="13" name="">
            <a:extLst xmlns:a="http://schemas.openxmlformats.org/drawingml/2006/main">
              <a:ext uri="{FF2B5EF4-FFF2-40B4-BE49-F238E27FC236}">
                <a16:creationId xmlns:a16="http://schemas.microsoft.com/office/drawing/2014/main" id="{D4193640-93AB-467E-A478-9C0C9E187C83}"/>
              </a:ext>
            </a:extLst>
          </p:cNvPr>
          <p:cNvSpPr>
            <a:spLocks xmlns:a="http://schemas.openxmlformats.org/drawingml/2006/main" noGrp="1"/>
          </p:cNvSpPr>
          <p:nvPr/>
        </p:nvSpPr>
        <p:spPr>
          <a:xfrm xmlns:a="http://schemas.openxmlformats.org/drawingml/2006/main">
            <a:off x="19050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4" name="">
            <a:extLst xmlns:a="http://schemas.openxmlformats.org/drawingml/2006/main">
              <a:ext uri="{FF2B5EF4-FFF2-40B4-BE49-F238E27FC236}">
                <a16:creationId xmlns:a16="http://schemas.microsoft.com/office/drawing/2014/main" id="{88AB5149-CDE8-4172-B08F-E41D096BB3FC}"/>
              </a:ext>
            </a:extLst>
          </p:cNvPr>
          <p:cNvSpPr>
            <a:spLocks xmlns:a="http://schemas.openxmlformats.org/drawingml/2006/main" noGrp="1"/>
          </p:cNvSpPr>
          <p:nvPr/>
        </p:nvSpPr>
        <p:spPr>
          <a:xfrm xmlns:a="http://schemas.openxmlformats.org/drawingml/2006/main">
            <a:off x="20193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10A12ED-1A96-4E9D-83E9-34A788C93A87}"/>
              </a:ext>
            </a:extLst>
          </p:cNvPr>
          <p:cNvSpPr>
            <a:spLocks xmlns:a="http://schemas.openxmlformats.org/drawingml/2006/main" noGrp="1"/>
          </p:cNvSpPr>
          <p:nvPr/>
        </p:nvSpPr>
        <p:spPr>
          <a:xfrm xmlns:a="http://schemas.openxmlformats.org/drawingml/2006/main">
            <a:off x="21717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16" name="">
            <a:extLst xmlns:a="http://schemas.openxmlformats.org/drawingml/2006/main">
              <a:ext uri="{FF2B5EF4-FFF2-40B4-BE49-F238E27FC236}">
                <a16:creationId xmlns:a16="http://schemas.microsoft.com/office/drawing/2014/main" id="{6C89CFE6-0735-496B-BED2-7166CAC9EA83}"/>
              </a:ext>
            </a:extLst>
          </p:cNvPr>
          <p:cNvSpPr>
            <a:spLocks xmlns:a="http://schemas.openxmlformats.org/drawingml/2006/main" noGrp="1"/>
          </p:cNvSpPr>
          <p:nvPr/>
        </p:nvSpPr>
        <p:spPr>
          <a:xfrm xmlns:a="http://schemas.openxmlformats.org/drawingml/2006/main">
            <a:off x="22479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Enzymatic</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hydrolysis</a:t>
            </a:r>
          </a:p>
        </p:txBody>
      </p:sp>
      <p:sp>
        <p:nvSpPr>
          <p:cNvPr id="17" name="">
            <a:extLst xmlns:a="http://schemas.openxmlformats.org/drawingml/2006/main">
              <a:ext uri="{FF2B5EF4-FFF2-40B4-BE49-F238E27FC236}">
                <a16:creationId xmlns:a16="http://schemas.microsoft.com/office/drawing/2014/main" id="{26BCDF66-D2C2-4F87-B139-7F6F61970285}"/>
              </a:ext>
            </a:extLst>
          </p:cNvPr>
          <p:cNvSpPr>
            <a:spLocks xmlns:a="http://schemas.openxmlformats.org/drawingml/2006/main" noGrp="1"/>
          </p:cNvSpPr>
          <p:nvPr/>
        </p:nvSpPr>
        <p:spPr>
          <a:xfrm xmlns:a="http://schemas.openxmlformats.org/drawingml/2006/main">
            <a:off x="35052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8" name="">
            <a:extLst xmlns:a="http://schemas.openxmlformats.org/drawingml/2006/main">
              <a:ext uri="{FF2B5EF4-FFF2-40B4-BE49-F238E27FC236}">
                <a16:creationId xmlns:a16="http://schemas.microsoft.com/office/drawing/2014/main" id="{DEF54FCF-D93F-4A03-AB9D-71EFAE55B165}"/>
              </a:ext>
            </a:extLst>
          </p:cNvPr>
          <p:cNvSpPr>
            <a:spLocks xmlns:a="http://schemas.openxmlformats.org/drawingml/2006/main" noGrp="1"/>
          </p:cNvSpPr>
          <p:nvPr/>
        </p:nvSpPr>
        <p:spPr>
          <a:xfrm xmlns:a="http://schemas.openxmlformats.org/drawingml/2006/main">
            <a:off x="36195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9C4D400-1E1B-4A0D-9E0A-020C4CDECBC2}"/>
              </a:ext>
            </a:extLst>
          </p:cNvPr>
          <p:cNvSpPr>
            <a:spLocks xmlns:a="http://schemas.openxmlformats.org/drawingml/2006/main" noGrp="1"/>
          </p:cNvSpPr>
          <p:nvPr/>
        </p:nvSpPr>
        <p:spPr>
          <a:xfrm xmlns:a="http://schemas.openxmlformats.org/drawingml/2006/main">
            <a:off x="3771900" y="4095750"/>
            <a:ext cx="1285875" cy="704850"/>
          </a:xfrm>
          <a:prstGeom xmlns:a="http://schemas.openxmlformats.org/drawingml/2006/main" prst="roundRect">
            <a:avLst>
              <a:gd name="adj" fmla="val 10811"/>
            </a:avLst>
          </a:prstGeom>
          <a:solidFill xmlns:a="http://schemas.openxmlformats.org/drawingml/2006/main">
            <a:srgbClr val="F4EBDD"/>
          </a:solidFill>
          <a:ln xmlns:a="http://schemas.openxmlformats.org/drawingml/2006/main" w="14288">
            <a:solidFill>
              <a:srgbClr val="D8B77B"/>
            </a:solidFill>
          </a:ln>
        </p:spPr>
      </p:sp>
      <p:sp>
        <p:nvSpPr>
          <p:cNvPr id="20" name="">
            <a:extLst xmlns:a="http://schemas.openxmlformats.org/drawingml/2006/main">
              <a:ext uri="{FF2B5EF4-FFF2-40B4-BE49-F238E27FC236}">
                <a16:creationId xmlns:a16="http://schemas.microsoft.com/office/drawing/2014/main" id="{AD0C5CE1-7067-4A95-8CEB-D275D8C7D69E}"/>
              </a:ext>
            </a:extLst>
          </p:cNvPr>
          <p:cNvSpPr>
            <a:spLocks xmlns:a="http://schemas.openxmlformats.org/drawingml/2006/main" noGrp="1"/>
          </p:cNvSpPr>
          <p:nvPr/>
        </p:nvSpPr>
        <p:spPr>
          <a:xfrm xmlns:a="http://schemas.openxmlformats.org/drawingml/2006/main">
            <a:off x="38481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97"/>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Empirical final</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heating</a:t>
            </a:r>
          </a:p>
        </p:txBody>
      </p:sp>
      <p:sp>
        <p:nvSpPr>
          <p:cNvPr id="21" name="">
            <a:extLst xmlns:a="http://schemas.openxmlformats.org/drawingml/2006/main">
              <a:ext uri="{FF2B5EF4-FFF2-40B4-BE49-F238E27FC236}">
                <a16:creationId xmlns:a16="http://schemas.microsoft.com/office/drawing/2014/main" id="{B8AA18A6-722F-405E-95B8-7CC676349900}"/>
              </a:ext>
            </a:extLst>
          </p:cNvPr>
          <p:cNvSpPr>
            <a:spLocks xmlns:a="http://schemas.openxmlformats.org/drawingml/2006/main" noGrp="1"/>
          </p:cNvSpPr>
          <p:nvPr/>
        </p:nvSpPr>
        <p:spPr>
          <a:xfrm xmlns:a="http://schemas.openxmlformats.org/drawingml/2006/main">
            <a:off x="51054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2" name="">
            <a:extLst xmlns:a="http://schemas.openxmlformats.org/drawingml/2006/main">
              <a:ext uri="{FF2B5EF4-FFF2-40B4-BE49-F238E27FC236}">
                <a16:creationId xmlns:a16="http://schemas.microsoft.com/office/drawing/2014/main" id="{48BB5C52-97F8-4050-92A0-68232BE4ED99}"/>
              </a:ext>
            </a:extLst>
          </p:cNvPr>
          <p:cNvSpPr>
            <a:spLocks xmlns:a="http://schemas.openxmlformats.org/drawingml/2006/main" noGrp="1"/>
          </p:cNvSpPr>
          <p:nvPr/>
        </p:nvSpPr>
        <p:spPr>
          <a:xfrm xmlns:a="http://schemas.openxmlformats.org/drawingml/2006/main">
            <a:off x="52197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667FF62-846E-45BB-92CA-CBA954865FF7}"/>
              </a:ext>
            </a:extLst>
          </p:cNvPr>
          <p:cNvSpPr>
            <a:spLocks xmlns:a="http://schemas.openxmlformats.org/drawingml/2006/main" noGrp="1"/>
          </p:cNvSpPr>
          <p:nvPr/>
        </p:nvSpPr>
        <p:spPr>
          <a:xfrm xmlns:a="http://schemas.openxmlformats.org/drawingml/2006/main">
            <a:off x="53721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24" name="">
            <a:extLst xmlns:a="http://schemas.openxmlformats.org/drawingml/2006/main">
              <a:ext uri="{FF2B5EF4-FFF2-40B4-BE49-F238E27FC236}">
                <a16:creationId xmlns:a16="http://schemas.microsoft.com/office/drawing/2014/main" id="{4A4BDF55-867C-4ACF-9F48-EE7D987AD86D}"/>
              </a:ext>
            </a:extLst>
          </p:cNvPr>
          <p:cNvSpPr>
            <a:spLocks xmlns:a="http://schemas.openxmlformats.org/drawingml/2006/main" noGrp="1"/>
          </p:cNvSpPr>
          <p:nvPr/>
        </p:nvSpPr>
        <p:spPr>
          <a:xfrm xmlns:a="http://schemas.openxmlformats.org/drawingml/2006/main">
            <a:off x="54483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Hot</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filtration</a:t>
            </a:r>
          </a:p>
        </p:txBody>
      </p:sp>
      <p:sp>
        <p:nvSpPr>
          <p:cNvPr id="25" name="">
            <a:extLst xmlns:a="http://schemas.openxmlformats.org/drawingml/2006/main">
              <a:ext uri="{FF2B5EF4-FFF2-40B4-BE49-F238E27FC236}">
                <a16:creationId xmlns:a16="http://schemas.microsoft.com/office/drawing/2014/main" id="{2DA6F6EF-2743-47B4-90C1-58D17767E8EC}"/>
              </a:ext>
            </a:extLst>
          </p:cNvPr>
          <p:cNvSpPr>
            <a:spLocks xmlns:a="http://schemas.openxmlformats.org/drawingml/2006/main" noGrp="1"/>
          </p:cNvSpPr>
          <p:nvPr/>
        </p:nvSpPr>
        <p:spPr>
          <a:xfrm xmlns:a="http://schemas.openxmlformats.org/drawingml/2006/main">
            <a:off x="67056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6" name="">
            <a:extLst xmlns:a="http://schemas.openxmlformats.org/drawingml/2006/main">
              <a:ext uri="{FF2B5EF4-FFF2-40B4-BE49-F238E27FC236}">
                <a16:creationId xmlns:a16="http://schemas.microsoft.com/office/drawing/2014/main" id="{F6D2FFAE-962F-4E2D-A321-E4175EFAD91D}"/>
              </a:ext>
            </a:extLst>
          </p:cNvPr>
          <p:cNvSpPr>
            <a:spLocks xmlns:a="http://schemas.openxmlformats.org/drawingml/2006/main" noGrp="1"/>
          </p:cNvSpPr>
          <p:nvPr/>
        </p:nvSpPr>
        <p:spPr>
          <a:xfrm xmlns:a="http://schemas.openxmlformats.org/drawingml/2006/main">
            <a:off x="68199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B47F523-935D-4939-9965-7ABB2F0F8365}"/>
              </a:ext>
            </a:extLst>
          </p:cNvPr>
          <p:cNvSpPr>
            <a:spLocks xmlns:a="http://schemas.openxmlformats.org/drawingml/2006/main" noGrp="1"/>
          </p:cNvSpPr>
          <p:nvPr/>
        </p:nvSpPr>
        <p:spPr>
          <a:xfrm xmlns:a="http://schemas.openxmlformats.org/drawingml/2006/main">
            <a:off x="69723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28" name="">
            <a:extLst xmlns:a="http://schemas.openxmlformats.org/drawingml/2006/main">
              <a:ext uri="{FF2B5EF4-FFF2-40B4-BE49-F238E27FC236}">
                <a16:creationId xmlns:a16="http://schemas.microsoft.com/office/drawing/2014/main" id="{58EC3DF2-D1B8-44EE-A8D4-AFFDAD87BE76}"/>
              </a:ext>
            </a:extLst>
          </p:cNvPr>
          <p:cNvSpPr>
            <a:spLocks xmlns:a="http://schemas.openxmlformats.org/drawingml/2006/main" noGrp="1"/>
          </p:cNvSpPr>
          <p:nvPr/>
        </p:nvSpPr>
        <p:spPr>
          <a:xfrm xmlns:a="http://schemas.openxmlformats.org/drawingml/2006/main">
            <a:off x="70485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Rapid</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cooling</a:t>
            </a:r>
          </a:p>
        </p:txBody>
      </p:sp>
      <p:sp>
        <p:nvSpPr>
          <p:cNvPr id="29" name="">
            <a:extLst xmlns:a="http://schemas.openxmlformats.org/drawingml/2006/main">
              <a:ext uri="{FF2B5EF4-FFF2-40B4-BE49-F238E27FC236}">
                <a16:creationId xmlns:a16="http://schemas.microsoft.com/office/drawing/2014/main" id="{9C39DE5C-1B16-4945-8D57-2B2E60A1DD9E}"/>
              </a:ext>
            </a:extLst>
          </p:cNvPr>
          <p:cNvSpPr>
            <a:spLocks xmlns:a="http://schemas.openxmlformats.org/drawingml/2006/main" noGrp="1"/>
          </p:cNvSpPr>
          <p:nvPr/>
        </p:nvSpPr>
        <p:spPr>
          <a:xfrm xmlns:a="http://schemas.openxmlformats.org/drawingml/2006/main">
            <a:off x="83058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30" name="">
            <a:extLst xmlns:a="http://schemas.openxmlformats.org/drawingml/2006/main">
              <a:ext uri="{FF2B5EF4-FFF2-40B4-BE49-F238E27FC236}">
                <a16:creationId xmlns:a16="http://schemas.microsoft.com/office/drawing/2014/main" id="{74E22E08-759E-446A-A560-FA6FBB07B003}"/>
              </a:ext>
            </a:extLst>
          </p:cNvPr>
          <p:cNvSpPr>
            <a:spLocks xmlns:a="http://schemas.openxmlformats.org/drawingml/2006/main" noGrp="1"/>
          </p:cNvSpPr>
          <p:nvPr/>
        </p:nvSpPr>
        <p:spPr>
          <a:xfrm xmlns:a="http://schemas.openxmlformats.org/drawingml/2006/main">
            <a:off x="84201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B52A778-125B-454A-8D96-01BC040B674E}"/>
              </a:ext>
            </a:extLst>
          </p:cNvPr>
          <p:cNvSpPr>
            <a:spLocks xmlns:a="http://schemas.openxmlformats.org/drawingml/2006/main" noGrp="1"/>
          </p:cNvSpPr>
          <p:nvPr/>
        </p:nvSpPr>
        <p:spPr>
          <a:xfrm xmlns:a="http://schemas.openxmlformats.org/drawingml/2006/main">
            <a:off x="85725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32" name="">
            <a:extLst xmlns:a="http://schemas.openxmlformats.org/drawingml/2006/main">
              <a:ext uri="{FF2B5EF4-FFF2-40B4-BE49-F238E27FC236}">
                <a16:creationId xmlns:a16="http://schemas.microsoft.com/office/drawing/2014/main" id="{53242892-1597-4E9D-8EB7-319C083C9DD9}"/>
              </a:ext>
            </a:extLst>
          </p:cNvPr>
          <p:cNvSpPr>
            <a:spLocks xmlns:a="http://schemas.openxmlformats.org/drawingml/2006/main" noGrp="1"/>
          </p:cNvSpPr>
          <p:nvPr/>
        </p:nvSpPr>
        <p:spPr>
          <a:xfrm xmlns:a="http://schemas.openxmlformats.org/drawingml/2006/main">
            <a:off x="86487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Functional</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formulation</a:t>
            </a:r>
          </a:p>
        </p:txBody>
      </p:sp>
      <p:sp>
        <p:nvSpPr>
          <p:cNvPr id="33" name="">
            <a:extLst xmlns:a="http://schemas.openxmlformats.org/drawingml/2006/main">
              <a:ext uri="{FF2B5EF4-FFF2-40B4-BE49-F238E27FC236}">
                <a16:creationId xmlns:a16="http://schemas.microsoft.com/office/drawing/2014/main" id="{9BB430C8-7B7C-465F-AA30-CD321B036299}"/>
              </a:ext>
            </a:extLst>
          </p:cNvPr>
          <p:cNvSpPr>
            <a:spLocks xmlns:a="http://schemas.openxmlformats.org/drawingml/2006/main" noGrp="1"/>
          </p:cNvSpPr>
          <p:nvPr/>
        </p:nvSpPr>
        <p:spPr>
          <a:xfrm xmlns:a="http://schemas.openxmlformats.org/drawingml/2006/main">
            <a:off x="9906000" y="4448175"/>
            <a:ext cx="1905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34" name="">
            <a:extLst xmlns:a="http://schemas.openxmlformats.org/drawingml/2006/main">
              <a:ext uri="{FF2B5EF4-FFF2-40B4-BE49-F238E27FC236}">
                <a16:creationId xmlns:a16="http://schemas.microsoft.com/office/drawing/2014/main" id="{91D55D6A-3634-402F-A042-DAA25706874D}"/>
              </a:ext>
            </a:extLst>
          </p:cNvPr>
          <p:cNvSpPr>
            <a:spLocks xmlns:a="http://schemas.openxmlformats.org/drawingml/2006/main" noGrp="1"/>
          </p:cNvSpPr>
          <p:nvPr/>
        </p:nvSpPr>
        <p:spPr>
          <a:xfrm xmlns:a="http://schemas.openxmlformats.org/drawingml/2006/main">
            <a:off x="10020300" y="43910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C46D0EC-743F-4931-B0CC-84D40D481597}"/>
              </a:ext>
            </a:extLst>
          </p:cNvPr>
          <p:cNvSpPr>
            <a:spLocks xmlns:a="http://schemas.openxmlformats.org/drawingml/2006/main" noGrp="1"/>
          </p:cNvSpPr>
          <p:nvPr/>
        </p:nvSpPr>
        <p:spPr>
          <a:xfrm xmlns:a="http://schemas.openxmlformats.org/drawingml/2006/main">
            <a:off x="10172700" y="4095750"/>
            <a:ext cx="1285875" cy="704850"/>
          </a:xfrm>
          <a:prstGeom xmlns:a="http://schemas.openxmlformats.org/drawingml/2006/main" prst="roundRect">
            <a:avLst>
              <a:gd name="adj" fmla="val 10811"/>
            </a:avLst>
          </a:prstGeom>
          <a:solidFill xmlns:a="http://schemas.openxmlformats.org/drawingml/2006/main">
            <a:srgbClr val="F7FAFC"/>
          </a:solidFill>
          <a:ln xmlns:a="http://schemas.openxmlformats.org/drawingml/2006/main" w="14288">
            <a:solidFill>
              <a:srgbClr val="E9F0F4"/>
            </a:solidFill>
          </a:ln>
        </p:spPr>
      </p:sp>
      <p:sp>
        <p:nvSpPr>
          <p:cNvPr id="36" name="">
            <a:extLst xmlns:a="http://schemas.openxmlformats.org/drawingml/2006/main">
              <a:ext uri="{FF2B5EF4-FFF2-40B4-BE49-F238E27FC236}">
                <a16:creationId xmlns:a16="http://schemas.microsoft.com/office/drawing/2014/main" id="{C21F3712-6124-474A-B3F7-74C874378C47}"/>
              </a:ext>
            </a:extLst>
          </p:cNvPr>
          <p:cNvSpPr>
            <a:spLocks xmlns:a="http://schemas.openxmlformats.org/drawingml/2006/main" noGrp="1"/>
          </p:cNvSpPr>
          <p:nvPr/>
        </p:nvSpPr>
        <p:spPr>
          <a:xfrm xmlns:a="http://schemas.openxmlformats.org/drawingml/2006/main">
            <a:off x="10248900" y="4171950"/>
            <a:ext cx="113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Protein</a:t>
            </a:r>
          </a:p>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enrichment</a:t>
            </a:r>
          </a:p>
        </p:txBody>
      </p:sp>
      <p:sp>
        <p:nvSpPr>
          <p:cNvPr id="37" name="">
            <a:extLst xmlns:a="http://schemas.openxmlformats.org/drawingml/2006/main">
              <a:ext uri="{FF2B5EF4-FFF2-40B4-BE49-F238E27FC236}">
                <a16:creationId xmlns:a16="http://schemas.microsoft.com/office/drawing/2014/main" id="{923ADF28-E872-4FCD-AEEA-44AB04921AC0}"/>
              </a:ext>
            </a:extLst>
          </p:cNvPr>
          <p:cNvSpPr>
            <a:spLocks xmlns:a="http://schemas.openxmlformats.org/drawingml/2006/main" noGrp="1"/>
          </p:cNvSpPr>
          <p:nvPr/>
        </p:nvSpPr>
        <p:spPr>
          <a:xfrm xmlns:a="http://schemas.openxmlformats.org/drawingml/2006/main">
            <a:off x="1905000" y="50482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67 °C oven setpoint · 90 min</a:t>
            </a:r>
          </a:p>
        </p:txBody>
      </p:sp>
      <p:sp>
        <p:nvSpPr>
          <p:cNvPr id="38" name="">
            <a:extLst xmlns:a="http://schemas.openxmlformats.org/drawingml/2006/main">
              <a:ext uri="{FF2B5EF4-FFF2-40B4-BE49-F238E27FC236}">
                <a16:creationId xmlns:a16="http://schemas.microsoft.com/office/drawing/2014/main" id="{992A8247-2B23-4129-AA76-8D2972D45DD2}"/>
              </a:ext>
            </a:extLst>
          </p:cNvPr>
          <p:cNvSpPr>
            <a:spLocks xmlns:a="http://schemas.openxmlformats.org/drawingml/2006/main" noGrp="1"/>
          </p:cNvSpPr>
          <p:nvPr/>
        </p:nvSpPr>
        <p:spPr>
          <a:xfrm xmlns:a="http://schemas.openxmlformats.org/drawingml/2006/main">
            <a:off x="5524500" y="5000625"/>
            <a:ext cx="5810250" cy="51435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B64A50"/>
                </a:solidFill>
                <a:latin typeface="Arial"/>
                <a:ea typeface="Arial"/>
                <a:cs typeface="Arial"/>
              </a:defRPr>
            </a:pPr>
            <a:r>
              <a:rPr sz="1275" b="1" i="0">
                <a:solidFill>
                  <a:srgbClr val="B64A50"/>
                </a:solidFill>
                <a:latin typeface="Arial"/>
                <a:ea typeface="Arial"/>
                <a:cs typeface="Arial"/>
              </a:rPr>
              <a:t>Final heating: oven set to 200 °C, stopped at visible boiling. Product temperature was not measured.</a:t>
            </a:r>
          </a:p>
        </p:txBody>
      </p:sp>
      <p:sp>
        <p:nvSpPr>
          <p:cNvPr id="39" name="">
            <a:extLst xmlns:a="http://schemas.openxmlformats.org/drawingml/2006/main">
              <a:ext uri="{FF2B5EF4-FFF2-40B4-BE49-F238E27FC236}">
                <a16:creationId xmlns:a16="http://schemas.microsoft.com/office/drawing/2014/main" id="{46C2E96E-40EC-42B5-BF07-90A331D027CE}"/>
              </a:ext>
            </a:extLst>
          </p:cNvPr>
          <p:cNvSpPr>
            <a:spLocks xmlns:a="http://schemas.openxmlformats.org/drawingml/2006/main" noGrp="1"/>
          </p:cNvSpPr>
          <p:nvPr/>
        </p:nvSpPr>
        <p:spPr>
          <a:xfrm xmlns:a="http://schemas.openxmlformats.org/drawingml/2006/main">
            <a:off x="4000500" y="57340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6F8F72"/>
                </a:solidFill>
                <a:latin typeface="Arial"/>
                <a:ea typeface="Arial"/>
                <a:cs typeface="Arial"/>
              </a:defRPr>
            </a:pPr>
            <a:r>
              <a:rPr sz="1425" b="1" i="0">
                <a:solidFill>
                  <a:srgbClr val="6F8F72"/>
                </a:solidFill>
                <a:latin typeface="Arial"/>
                <a:ea typeface="Arial"/>
                <a:cs typeface="Arial"/>
              </a:rPr>
              <a:t>≈2.5 L filtered beverage recovered</a:t>
            </a:r>
          </a:p>
        </p:txBody>
      </p:sp>
      <p:sp>
        <p:nvSpPr>
          <p:cNvPr id="40" name="">
            <a:extLst xmlns:a="http://schemas.openxmlformats.org/drawingml/2006/main">
              <a:ext uri="{FF2B5EF4-FFF2-40B4-BE49-F238E27FC236}">
                <a16:creationId xmlns:a16="http://schemas.microsoft.com/office/drawing/2014/main" id="{B1973376-9364-417E-9E4C-ABA3482B064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41" name="">
            <a:extLst xmlns:a="http://schemas.openxmlformats.org/drawingml/2006/main">
              <a:ext uri="{FF2B5EF4-FFF2-40B4-BE49-F238E27FC236}">
                <a16:creationId xmlns:a16="http://schemas.microsoft.com/office/drawing/2014/main" id="{C11D5DE2-0814-4F12-BA46-2F7B35FBFE63}"/>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08</a:t>
            </a:r>
          </a:p>
        </p:txBody>
      </p:sp>
    </p:spTree>
    <p:extLst>
      <p:ext uri="{BB962C8B-B14F-4D97-AF65-F5344CB8AC3E}">
        <p14:creationId xmlns:p14="http://schemas.microsoft.com/office/powerpoint/2010/main" val="14748211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6B12C44-C94E-4900-AE12-E9210BD377A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DA9ACE-ABF0-42BA-8A55-138DD36A4831}"/>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FORMULATION</a:t>
            </a:r>
          </a:p>
        </p:txBody>
      </p:sp>
      <p:sp>
        <p:nvSpPr>
          <p:cNvPr id="3" name="">
            <a:extLst xmlns:a="http://schemas.openxmlformats.org/drawingml/2006/main">
              <a:ext uri="{FF2B5EF4-FFF2-40B4-BE49-F238E27FC236}">
                <a16:creationId xmlns:a16="http://schemas.microsoft.com/office/drawing/2014/main" id="{B14BD1A0-10D4-49D1-9FB1-8E6ECE450D0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From selected base to functional beverage</a:t>
            </a:r>
          </a:p>
        </p:txBody>
      </p:sp>
      <p:sp>
        <p:nvSpPr>
          <p:cNvPr id="4" name="">
            <a:extLst xmlns:a="http://schemas.openxmlformats.org/drawingml/2006/main">
              <a:ext uri="{FF2B5EF4-FFF2-40B4-BE49-F238E27FC236}">
                <a16:creationId xmlns:a16="http://schemas.microsoft.com/office/drawing/2014/main" id="{35025A56-BCCF-403D-A817-2B92143CA520}"/>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38c6858f425441c"/>
          <a:srcRect xmlns:a="http://schemas.openxmlformats.org/drawingml/2006/main" l="4741" t="0" r="4741" b="0"/>
          <a:stretch xmlns:a="http://schemas.openxmlformats.org/drawingml/2006/main">
            <a:fillRect l="0" t="0" r="0" b="0"/>
          </a:stretch>
        </p:blipFill>
        <p:spPr>
          <a:xfrm xmlns:a="http://schemas.openxmlformats.org/drawingml/2006/main">
            <a:off x="666750" y="1619250"/>
            <a:ext cx="3333750" cy="2762250"/>
          </a:xfrm>
          <a:prstGeom xmlns:a="http://schemas.openxmlformats.org/drawingml/2006/main" prst="roundRect">
            <a:avLst>
              <a:gd name="adj" fmla="val 5517"/>
            </a:avLst>
          </a:prstGeom>
        </p:spPr>
      </p:pic>
      <p:sp>
        <p:nvSpPr>
          <p:cNvPr id="6" name="">
            <a:extLst xmlns:a="http://schemas.openxmlformats.org/drawingml/2006/main">
              <a:ext uri="{FF2B5EF4-FFF2-40B4-BE49-F238E27FC236}">
                <a16:creationId xmlns:a16="http://schemas.microsoft.com/office/drawing/2014/main" id="{819D807E-9670-4493-AEC9-1378EF3D35C9}"/>
              </a:ext>
            </a:extLst>
          </p:cNvPr>
          <p:cNvSpPr>
            <a:spLocks xmlns:a="http://schemas.openxmlformats.org/drawingml/2006/main" noGrp="1"/>
          </p:cNvSpPr>
          <p:nvPr/>
        </p:nvSpPr>
        <p:spPr>
          <a:xfrm xmlns:a="http://schemas.openxmlformats.org/drawingml/2006/main">
            <a:off x="5095875" y="2190750"/>
            <a:ext cx="2095500" cy="2095500"/>
          </a:xfrm>
          <a:prstGeom xmlns:a="http://schemas.openxmlformats.org/drawingml/2006/main" prst="ellipse">
            <a:avLst/>
          </a:prstGeom>
          <a:solidFill xmlns:a="http://schemas.openxmlformats.org/drawingml/2006/main">
            <a:srgbClr val="F4EBDD"/>
          </a:solidFill>
          <a:ln xmlns:a="http://schemas.openxmlformats.org/drawingml/2006/main" w="28575">
            <a:solidFill>
              <a:srgbClr val="D8B77B"/>
            </a:solidFill>
          </a:ln>
        </p:spPr>
      </p:sp>
      <p:sp>
        <p:nvSpPr>
          <p:cNvPr id="7" name="">
            <a:extLst xmlns:a="http://schemas.openxmlformats.org/drawingml/2006/main">
              <a:ext uri="{FF2B5EF4-FFF2-40B4-BE49-F238E27FC236}">
                <a16:creationId xmlns:a16="http://schemas.microsoft.com/office/drawing/2014/main" id="{2EB47075-D026-4EDE-9E5A-EE36B3E3EBFD}"/>
              </a:ext>
            </a:extLst>
          </p:cNvPr>
          <p:cNvSpPr>
            <a:spLocks xmlns:a="http://schemas.openxmlformats.org/drawingml/2006/main" noGrp="1"/>
          </p:cNvSpPr>
          <p:nvPr/>
        </p:nvSpPr>
        <p:spPr>
          <a:xfrm xmlns:a="http://schemas.openxmlformats.org/drawingml/2006/main">
            <a:off x="5334000" y="259080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127"/>
          </a:bodyPr>
          <a:lstStyle xmlns:a="http://schemas.openxmlformats.org/drawingml/2006/main"/>
          <a:p xmlns:a="http://schemas.openxmlformats.org/drawingml/2006/main">
            <a:pPr algn="ctr">
              <a:defRPr sz="3150" b="1" i="0">
                <a:solidFill>
                  <a:srgbClr val="082C4C"/>
                </a:solidFill>
                <a:latin typeface="Arial"/>
                <a:ea typeface="Arial"/>
                <a:cs typeface="Arial"/>
              </a:defRPr>
            </a:pPr>
            <a:r>
              <a:rPr sz="3150" b="1" i="0">
                <a:solidFill>
                  <a:srgbClr val="082C4C"/>
                </a:solidFill>
                <a:latin typeface="Arial"/>
                <a:ea typeface="Arial"/>
                <a:cs typeface="Arial"/>
              </a:rPr>
              <a:t>≈2.5 L</a:t>
            </a:r>
          </a:p>
        </p:txBody>
      </p:sp>
      <p:sp>
        <p:nvSpPr>
          <p:cNvPr id="8" name="">
            <a:extLst xmlns:a="http://schemas.openxmlformats.org/drawingml/2006/main">
              <a:ext uri="{FF2B5EF4-FFF2-40B4-BE49-F238E27FC236}">
                <a16:creationId xmlns:a16="http://schemas.microsoft.com/office/drawing/2014/main" id="{AAE7EBBB-90F2-4910-84B5-7A003478E65E}"/>
              </a:ext>
            </a:extLst>
          </p:cNvPr>
          <p:cNvSpPr>
            <a:spLocks xmlns:a="http://schemas.openxmlformats.org/drawingml/2006/main" noGrp="1"/>
          </p:cNvSpPr>
          <p:nvPr/>
        </p:nvSpPr>
        <p:spPr>
          <a:xfrm xmlns:a="http://schemas.openxmlformats.org/drawingml/2006/main">
            <a:off x="5334000" y="31432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526878"/>
                </a:solidFill>
                <a:latin typeface="Arial"/>
                <a:ea typeface="Arial"/>
                <a:cs typeface="Arial"/>
              </a:defRPr>
            </a:pPr>
            <a:r>
              <a:rPr sz="1275" b="0" i="0">
                <a:solidFill>
                  <a:srgbClr val="526878"/>
                </a:solidFill>
                <a:latin typeface="Arial"/>
                <a:ea typeface="Arial"/>
                <a:cs typeface="Arial"/>
              </a:rPr>
              <a:t>selected oat-beverage base</a:t>
            </a:r>
          </a:p>
        </p:txBody>
      </p:sp>
      <p:sp>
        <p:nvSpPr>
          <p:cNvPr id="9" name="">
            <a:extLst xmlns:a="http://schemas.openxmlformats.org/drawingml/2006/main">
              <a:ext uri="{FF2B5EF4-FFF2-40B4-BE49-F238E27FC236}">
                <a16:creationId xmlns:a16="http://schemas.microsoft.com/office/drawing/2014/main" id="{B8E487DB-4C85-4E59-A602-8E63AAE206D8}"/>
              </a:ext>
            </a:extLst>
          </p:cNvPr>
          <p:cNvSpPr>
            <a:spLocks xmlns:a="http://schemas.openxmlformats.org/drawingml/2006/main" noGrp="1"/>
          </p:cNvSpPr>
          <p:nvPr/>
        </p:nvSpPr>
        <p:spPr>
          <a:xfrm xmlns:a="http://schemas.openxmlformats.org/drawingml/2006/main">
            <a:off x="8096250" y="1571625"/>
            <a:ext cx="1000125" cy="1000125"/>
          </a:xfrm>
          <a:prstGeom xmlns:a="http://schemas.openxmlformats.org/drawingml/2006/main" prst="ellipse">
            <a:avLst/>
          </a:prstGeom>
          <a:solidFill xmlns:a="http://schemas.openxmlformats.org/drawingml/2006/main">
            <a:srgbClr val="D8B7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4129C68-7B93-4089-85A2-48033C1DF555}"/>
              </a:ext>
            </a:extLst>
          </p:cNvPr>
          <p:cNvSpPr>
            <a:spLocks xmlns:a="http://schemas.openxmlformats.org/drawingml/2006/main" noGrp="1"/>
          </p:cNvSpPr>
          <p:nvPr/>
        </p:nvSpPr>
        <p:spPr>
          <a:xfrm xmlns:a="http://schemas.openxmlformats.org/drawingml/2006/main">
            <a:off x="8172450" y="1781175"/>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375 g</a:t>
            </a:r>
          </a:p>
        </p:txBody>
      </p:sp>
      <p:sp>
        <p:nvSpPr>
          <p:cNvPr id="11" name="">
            <a:extLst xmlns:a="http://schemas.openxmlformats.org/drawingml/2006/main">
              <a:ext uri="{FF2B5EF4-FFF2-40B4-BE49-F238E27FC236}">
                <a16:creationId xmlns:a16="http://schemas.microsoft.com/office/drawing/2014/main" id="{EFA4A3AA-7E67-4A46-9E32-208BFA25CA9E}"/>
              </a:ext>
            </a:extLst>
          </p:cNvPr>
          <p:cNvSpPr>
            <a:spLocks xmlns:a="http://schemas.openxmlformats.org/drawingml/2006/main" noGrp="1"/>
          </p:cNvSpPr>
          <p:nvPr/>
        </p:nvSpPr>
        <p:spPr>
          <a:xfrm xmlns:a="http://schemas.openxmlformats.org/drawingml/2006/main">
            <a:off x="7905750" y="260032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Coconut caramel</a:t>
            </a:r>
          </a:p>
        </p:txBody>
      </p:sp>
      <p:sp>
        <p:nvSpPr>
          <p:cNvPr id="12" name="">
            <a:extLst xmlns:a="http://schemas.openxmlformats.org/drawingml/2006/main">
              <a:ext uri="{FF2B5EF4-FFF2-40B4-BE49-F238E27FC236}">
                <a16:creationId xmlns:a16="http://schemas.microsoft.com/office/drawing/2014/main" id="{77764FE1-91AC-4E24-850E-D0BFA6255F72}"/>
              </a:ext>
            </a:extLst>
          </p:cNvPr>
          <p:cNvSpPr>
            <a:spLocks xmlns:a="http://schemas.openxmlformats.org/drawingml/2006/main" noGrp="1"/>
          </p:cNvSpPr>
          <p:nvPr/>
        </p:nvSpPr>
        <p:spPr>
          <a:xfrm xmlns:a="http://schemas.openxmlformats.org/drawingml/2006/main">
            <a:off x="9048750" y="2619375"/>
            <a:ext cx="1000125" cy="1000125"/>
          </a:xfrm>
          <a:prstGeom xmlns:a="http://schemas.openxmlformats.org/drawingml/2006/main" prst="ellipse">
            <a:avLst/>
          </a:prstGeom>
          <a:solidFill xmlns:a="http://schemas.openxmlformats.org/drawingml/2006/main">
            <a:srgbClr val="6F8F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16D282C-A0F8-40FC-83E9-87B8D99CAC8B}"/>
              </a:ext>
            </a:extLst>
          </p:cNvPr>
          <p:cNvSpPr>
            <a:spLocks xmlns:a="http://schemas.openxmlformats.org/drawingml/2006/main" noGrp="1"/>
          </p:cNvSpPr>
          <p:nvPr/>
        </p:nvSpPr>
        <p:spPr>
          <a:xfrm xmlns:a="http://schemas.openxmlformats.org/drawingml/2006/main">
            <a:off x="9124950" y="2828925"/>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50 mL</a:t>
            </a:r>
          </a:p>
        </p:txBody>
      </p:sp>
      <p:sp>
        <p:nvSpPr>
          <p:cNvPr id="14" name="">
            <a:extLst xmlns:a="http://schemas.openxmlformats.org/drawingml/2006/main">
              <a:ext uri="{FF2B5EF4-FFF2-40B4-BE49-F238E27FC236}">
                <a16:creationId xmlns:a16="http://schemas.microsoft.com/office/drawing/2014/main" id="{12F4F0A7-3F3A-4CF6-99E3-F497BCF03EF8}"/>
              </a:ext>
            </a:extLst>
          </p:cNvPr>
          <p:cNvSpPr>
            <a:spLocks xmlns:a="http://schemas.openxmlformats.org/drawingml/2006/main" noGrp="1"/>
          </p:cNvSpPr>
          <p:nvPr/>
        </p:nvSpPr>
        <p:spPr>
          <a:xfrm xmlns:a="http://schemas.openxmlformats.org/drawingml/2006/main">
            <a:off x="8858250" y="364807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Tulsi extract</a:t>
            </a:r>
          </a:p>
        </p:txBody>
      </p:sp>
      <p:sp>
        <p:nvSpPr>
          <p:cNvPr id="15" name="">
            <a:extLst xmlns:a="http://schemas.openxmlformats.org/drawingml/2006/main">
              <a:ext uri="{FF2B5EF4-FFF2-40B4-BE49-F238E27FC236}">
                <a16:creationId xmlns:a16="http://schemas.microsoft.com/office/drawing/2014/main" id="{305AFE90-8D7A-4279-9AB3-BF71B3671D9A}"/>
              </a:ext>
            </a:extLst>
          </p:cNvPr>
          <p:cNvSpPr>
            <a:spLocks xmlns:a="http://schemas.openxmlformats.org/drawingml/2006/main" noGrp="1"/>
          </p:cNvSpPr>
          <p:nvPr/>
        </p:nvSpPr>
        <p:spPr>
          <a:xfrm xmlns:a="http://schemas.openxmlformats.org/drawingml/2006/main">
            <a:off x="8239125" y="3714750"/>
            <a:ext cx="1000125" cy="1000125"/>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CFDA03-D037-443C-B65B-1092D30BC7AE}"/>
              </a:ext>
            </a:extLst>
          </p:cNvPr>
          <p:cNvSpPr>
            <a:spLocks xmlns:a="http://schemas.openxmlformats.org/drawingml/2006/main" noGrp="1"/>
          </p:cNvSpPr>
          <p:nvPr/>
        </p:nvSpPr>
        <p:spPr>
          <a:xfrm xmlns:a="http://schemas.openxmlformats.org/drawingml/2006/main">
            <a:off x="8315325" y="3924300"/>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3.25 g</a:t>
            </a:r>
          </a:p>
        </p:txBody>
      </p:sp>
      <p:sp>
        <p:nvSpPr>
          <p:cNvPr id="17" name="">
            <a:extLst xmlns:a="http://schemas.openxmlformats.org/drawingml/2006/main">
              <a:ext uri="{FF2B5EF4-FFF2-40B4-BE49-F238E27FC236}">
                <a16:creationId xmlns:a16="http://schemas.microsoft.com/office/drawing/2014/main" id="{A45356A3-BD5B-4F88-818C-24F00795F5C0}"/>
              </a:ext>
            </a:extLst>
          </p:cNvPr>
          <p:cNvSpPr>
            <a:spLocks xmlns:a="http://schemas.openxmlformats.org/drawingml/2006/main" noGrp="1"/>
          </p:cNvSpPr>
          <p:nvPr/>
        </p:nvSpPr>
        <p:spPr>
          <a:xfrm xmlns:a="http://schemas.openxmlformats.org/drawingml/2006/main">
            <a:off x="8048625" y="474345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Xanthan gum</a:t>
            </a:r>
          </a:p>
        </p:txBody>
      </p:sp>
      <p:sp>
        <p:nvSpPr>
          <p:cNvPr id="18" name="">
            <a:extLst xmlns:a="http://schemas.openxmlformats.org/drawingml/2006/main">
              <a:ext uri="{FF2B5EF4-FFF2-40B4-BE49-F238E27FC236}">
                <a16:creationId xmlns:a16="http://schemas.microsoft.com/office/drawing/2014/main" id="{81B7DEFA-BAFF-4CE3-B709-96A66C53CC32}"/>
              </a:ext>
            </a:extLst>
          </p:cNvPr>
          <p:cNvSpPr>
            <a:spLocks xmlns:a="http://schemas.openxmlformats.org/drawingml/2006/main" noGrp="1"/>
          </p:cNvSpPr>
          <p:nvPr/>
        </p:nvSpPr>
        <p:spPr>
          <a:xfrm xmlns:a="http://schemas.openxmlformats.org/drawingml/2006/main">
            <a:off x="7000875" y="4762500"/>
            <a:ext cx="1000125" cy="1000125"/>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3A67DAB-2ECA-45A2-B0BE-D3FFF6781BF8}"/>
              </a:ext>
            </a:extLst>
          </p:cNvPr>
          <p:cNvSpPr>
            <a:spLocks xmlns:a="http://schemas.openxmlformats.org/drawingml/2006/main" noGrp="1"/>
          </p:cNvSpPr>
          <p:nvPr/>
        </p:nvSpPr>
        <p:spPr>
          <a:xfrm xmlns:a="http://schemas.openxmlformats.org/drawingml/2006/main">
            <a:off x="7077075" y="4972050"/>
            <a:ext cx="847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5.00 g</a:t>
            </a:r>
          </a:p>
        </p:txBody>
      </p:sp>
      <p:sp>
        <p:nvSpPr>
          <p:cNvPr id="20" name="">
            <a:extLst xmlns:a="http://schemas.openxmlformats.org/drawingml/2006/main">
              <a:ext uri="{FF2B5EF4-FFF2-40B4-BE49-F238E27FC236}">
                <a16:creationId xmlns:a16="http://schemas.microsoft.com/office/drawing/2014/main" id="{E74744B2-5AD8-46CA-9DB5-AE984A4F9936}"/>
              </a:ext>
            </a:extLst>
          </p:cNvPr>
          <p:cNvSpPr>
            <a:spLocks xmlns:a="http://schemas.openxmlformats.org/drawingml/2006/main" noGrp="1"/>
          </p:cNvSpPr>
          <p:nvPr/>
        </p:nvSpPr>
        <p:spPr>
          <a:xfrm xmlns:a="http://schemas.openxmlformats.org/drawingml/2006/main">
            <a:off x="6810375" y="579120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Salt</a:t>
            </a:r>
          </a:p>
        </p:txBody>
      </p:sp>
      <p:sp>
        <p:nvSpPr>
          <p:cNvPr id="21" name="">
            <a:extLst xmlns:a="http://schemas.openxmlformats.org/drawingml/2006/main">
              <a:ext uri="{FF2B5EF4-FFF2-40B4-BE49-F238E27FC236}">
                <a16:creationId xmlns:a16="http://schemas.microsoft.com/office/drawing/2014/main" id="{53593D52-8811-4715-B080-89C422F1AAD7}"/>
              </a:ext>
            </a:extLst>
          </p:cNvPr>
          <p:cNvSpPr>
            <a:spLocks xmlns:a="http://schemas.openxmlformats.org/drawingml/2006/main" noGrp="1"/>
          </p:cNvSpPr>
          <p:nvPr/>
        </p:nvSpPr>
        <p:spPr>
          <a:xfrm xmlns:a="http://schemas.openxmlformats.org/drawingml/2006/main">
            <a:off x="4048125" y="3000375"/>
            <a:ext cx="904875" cy="0"/>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22" name="">
            <a:extLst xmlns:a="http://schemas.openxmlformats.org/drawingml/2006/main">
              <a:ext uri="{FF2B5EF4-FFF2-40B4-BE49-F238E27FC236}">
                <a16:creationId xmlns:a16="http://schemas.microsoft.com/office/drawing/2014/main" id="{C2C32671-4804-4616-83FA-E96F3F55D73C}"/>
              </a:ext>
            </a:extLst>
          </p:cNvPr>
          <p:cNvSpPr>
            <a:spLocks xmlns:a="http://schemas.openxmlformats.org/drawingml/2006/main" noGrp="1"/>
          </p:cNvSpPr>
          <p:nvPr/>
        </p:nvSpPr>
        <p:spPr>
          <a:xfrm xmlns:a="http://schemas.openxmlformats.org/drawingml/2006/main">
            <a:off x="4876800" y="294322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BF7A0ED-4B1E-467C-99E0-DD33ADB7AEE1}"/>
              </a:ext>
            </a:extLst>
          </p:cNvPr>
          <p:cNvSpPr>
            <a:spLocks xmlns:a="http://schemas.openxmlformats.org/drawingml/2006/main" noGrp="1"/>
          </p:cNvSpPr>
          <p:nvPr/>
        </p:nvSpPr>
        <p:spPr>
          <a:xfrm xmlns:a="http://schemas.openxmlformats.org/drawingml/2006/main">
            <a:off x="7239000" y="3238500"/>
            <a:ext cx="714375" cy="0"/>
          </a:xfrm>
          <a:prstGeom xmlns:a="http://schemas.openxmlformats.org/drawingml/2006/main" prst="line">
            <a:avLst/>
          </a:prstGeom>
          <a:noFill xmlns:a="http://schemas.openxmlformats.org/drawingml/2006/main"/>
          <a:ln xmlns:a="http://schemas.openxmlformats.org/drawingml/2006/main" w="38100">
            <a:solidFill>
              <a:srgbClr val="00A9B7"/>
            </a:solidFill>
          </a:ln>
        </p:spPr>
      </p:sp>
      <p:sp>
        <p:nvSpPr>
          <p:cNvPr id="24" name="">
            <a:extLst xmlns:a="http://schemas.openxmlformats.org/drawingml/2006/main">
              <a:ext uri="{FF2B5EF4-FFF2-40B4-BE49-F238E27FC236}">
                <a16:creationId xmlns:a16="http://schemas.microsoft.com/office/drawing/2014/main" id="{3952D521-B712-4FEE-B794-9D701C6502EA}"/>
              </a:ext>
            </a:extLst>
          </p:cNvPr>
          <p:cNvSpPr>
            <a:spLocks xmlns:a="http://schemas.openxmlformats.org/drawingml/2006/main" noGrp="1"/>
          </p:cNvSpPr>
          <p:nvPr/>
        </p:nvSpPr>
        <p:spPr>
          <a:xfrm xmlns:a="http://schemas.openxmlformats.org/drawingml/2006/main">
            <a:off x="7877175" y="3181350"/>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6806A63-45C3-4A8E-9713-828ABDF0EBF7}"/>
              </a:ext>
            </a:extLst>
          </p:cNvPr>
          <p:cNvSpPr>
            <a:spLocks xmlns:a="http://schemas.openxmlformats.org/drawingml/2006/main" noGrp="1"/>
          </p:cNvSpPr>
          <p:nvPr/>
        </p:nvSpPr>
        <p:spPr>
          <a:xfrm xmlns:a="http://schemas.openxmlformats.org/drawingml/2006/main">
            <a:off x="1381125" y="5619750"/>
            <a:ext cx="9334500" cy="419100"/>
          </a:xfrm>
          <a:prstGeom xmlns:a="http://schemas.openxmlformats.org/drawingml/2006/main" prst="rect">
            <a:avLst/>
          </a:prstGeom>
          <a:solidFill xmlns:a="http://schemas.openxmlformats.org/drawingml/2006/main">
            <a:srgbClr val="F7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082C4C"/>
                </a:solidFill>
                <a:latin typeface="Arial"/>
                <a:ea typeface="Arial"/>
                <a:cs typeface="Arial"/>
              </a:defRPr>
            </a:pPr>
            <a:r>
              <a:rPr sz="1650" b="1" i="0">
                <a:solidFill>
                  <a:srgbClr val="082C4C"/>
                </a:solidFill>
                <a:latin typeface="Arial"/>
                <a:ea typeface="Arial"/>
                <a:cs typeface="Arial"/>
              </a:rPr>
              <a:t>Protein powders were added after the common functional base had been prepared.</a:t>
            </a:r>
          </a:p>
        </p:txBody>
      </p:sp>
      <p:sp>
        <p:nvSpPr>
          <p:cNvPr id="26" name="">
            <a:extLst xmlns:a="http://schemas.openxmlformats.org/drawingml/2006/main">
              <a:ext uri="{FF2B5EF4-FFF2-40B4-BE49-F238E27FC236}">
                <a16:creationId xmlns:a16="http://schemas.microsoft.com/office/drawing/2014/main" id="{1347141A-DEC5-411B-A77B-58D7863A62F4}"/>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7" name="">
            <a:extLst xmlns:a="http://schemas.openxmlformats.org/drawingml/2006/main">
              <a:ext uri="{FF2B5EF4-FFF2-40B4-BE49-F238E27FC236}">
                <a16:creationId xmlns:a16="http://schemas.microsoft.com/office/drawing/2014/main" id="{A64FE1E4-13C5-41EB-B140-5A5BCBAB81F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09</a:t>
            </a:r>
          </a:p>
        </p:txBody>
      </p:sp>
    </p:spTree>
    <p:extLst>
      <p:ext uri="{BB962C8B-B14F-4D97-AF65-F5344CB8AC3E}">
        <p14:creationId xmlns:p14="http://schemas.microsoft.com/office/powerpoint/2010/main" val="5525874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F6AED39-20CD-4737-9EC7-C319669DA0F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7D212D-DE45-4722-910C-F1FA0732F715}"/>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FORMULATION</a:t>
            </a:r>
          </a:p>
        </p:txBody>
      </p:sp>
      <p:sp>
        <p:nvSpPr>
          <p:cNvPr id="3" name="">
            <a:extLst xmlns:a="http://schemas.openxmlformats.org/drawingml/2006/main">
              <a:ext uri="{FF2B5EF4-FFF2-40B4-BE49-F238E27FC236}">
                <a16:creationId xmlns:a16="http://schemas.microsoft.com/office/drawing/2014/main" id="{F0C3587B-D475-443F-BDEB-1B66BDEDF91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Protein incorporation: trial and error</a:t>
            </a:r>
          </a:p>
        </p:txBody>
      </p:sp>
      <p:sp>
        <p:nvSpPr>
          <p:cNvPr id="4" name="">
            <a:extLst xmlns:a="http://schemas.openxmlformats.org/drawingml/2006/main">
              <a:ext uri="{FF2B5EF4-FFF2-40B4-BE49-F238E27FC236}">
                <a16:creationId xmlns:a16="http://schemas.microsoft.com/office/drawing/2014/main" id="{75222C89-EE99-4D32-9761-8CDBF0DBC71F}"/>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e2ea470dee04ffb"/>
          <a:srcRect xmlns:a="http://schemas.openxmlformats.org/drawingml/2006/main" l="0" t="12500" r="0" b="12500"/>
          <a:stretch xmlns:a="http://schemas.openxmlformats.org/drawingml/2006/main">
            <a:fillRect l="0" t="0" r="0" b="0"/>
          </a:stretch>
        </p:blipFill>
        <p:spPr>
          <a:xfrm xmlns:a="http://schemas.openxmlformats.org/drawingml/2006/main">
            <a:off x="571500" y="1524000"/>
            <a:ext cx="2286000" cy="2286000"/>
          </a:xfrm>
          <a:prstGeom xmlns:a="http://schemas.openxmlformats.org/drawingml/2006/main" prst="roundRect">
            <a:avLst>
              <a:gd name="adj" fmla="val 5000"/>
            </a:avLst>
          </a:prstGeom>
        </p:spPr>
      </p:pic>
      <p:sp>
        <p:nvSpPr>
          <p:cNvPr id="6" name="">
            <a:extLst xmlns:a="http://schemas.openxmlformats.org/drawingml/2006/main">
              <a:ext uri="{FF2B5EF4-FFF2-40B4-BE49-F238E27FC236}">
                <a16:creationId xmlns:a16="http://schemas.microsoft.com/office/drawing/2014/main" id="{ED531E2D-9321-4ADD-A97B-2574CD657CD2}"/>
              </a:ext>
            </a:extLst>
          </p:cNvPr>
          <p:cNvSpPr>
            <a:spLocks xmlns:a="http://schemas.openxmlformats.org/drawingml/2006/main" noGrp="1"/>
          </p:cNvSpPr>
          <p:nvPr/>
        </p:nvSpPr>
        <p:spPr>
          <a:xfrm xmlns:a="http://schemas.openxmlformats.org/drawingml/2006/main">
            <a:off x="571500" y="4000500"/>
            <a:ext cx="2286000" cy="1428750"/>
          </a:xfrm>
          <a:prstGeom xmlns:a="http://schemas.openxmlformats.org/drawingml/2006/main" prst="roundRect">
            <a:avLst>
              <a:gd name="adj" fmla="val 5333"/>
            </a:avLst>
          </a:prstGeom>
          <a:solidFill xmlns:a="http://schemas.openxmlformats.org/drawingml/2006/main">
            <a:srgbClr val="F7FA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020B47-89B9-459D-9DAE-5AF573F173DB}"/>
              </a:ext>
            </a:extLst>
          </p:cNvPr>
          <p:cNvSpPr>
            <a:spLocks xmlns:a="http://schemas.openxmlformats.org/drawingml/2006/main" noGrp="1"/>
          </p:cNvSpPr>
          <p:nvPr/>
        </p:nvSpPr>
        <p:spPr>
          <a:xfrm xmlns:a="http://schemas.openxmlformats.org/drawingml/2006/main">
            <a:off x="571500" y="4000500"/>
            <a:ext cx="66675" cy="1428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846C20-4367-43F3-B100-22B0EEA92BC7}"/>
              </a:ext>
            </a:extLst>
          </p:cNvPr>
          <p:cNvSpPr>
            <a:spLocks xmlns:a="http://schemas.openxmlformats.org/drawingml/2006/main" noGrp="1"/>
          </p:cNvSpPr>
          <p:nvPr/>
        </p:nvSpPr>
        <p:spPr>
          <a:xfrm xmlns:a="http://schemas.openxmlformats.org/drawingml/2006/main">
            <a:off x="781050" y="4114800"/>
            <a:ext cx="1943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Ultra-Turrax</a:t>
            </a:r>
          </a:p>
        </p:txBody>
      </p:sp>
      <p:sp>
        <p:nvSpPr>
          <p:cNvPr id="9" name="">
            <a:extLst xmlns:a="http://schemas.openxmlformats.org/drawingml/2006/main">
              <a:ext uri="{FF2B5EF4-FFF2-40B4-BE49-F238E27FC236}">
                <a16:creationId xmlns:a16="http://schemas.microsoft.com/office/drawing/2014/main" id="{9540CDA0-E5F4-4155-B0C7-10679A9D24D7}"/>
              </a:ext>
            </a:extLst>
          </p:cNvPr>
          <p:cNvSpPr>
            <a:spLocks xmlns:a="http://schemas.openxmlformats.org/drawingml/2006/main" noGrp="1"/>
          </p:cNvSpPr>
          <p:nvPr/>
        </p:nvSpPr>
        <p:spPr>
          <a:xfrm xmlns:a="http://schemas.openxmlformats.org/drawingml/2006/main">
            <a:off x="781050" y="441960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883"/>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 shear was useful for small-volume trials, but persistent lumps and powdery sensations remained. The available head was poorly suited to large batches.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e65dd4077a942e7"/>
          <a:srcRect xmlns:a="http://schemas.openxmlformats.org/drawingml/2006/main" l="12500" t="0" r="12500" b="0"/>
          <a:stretch xmlns:a="http://schemas.openxmlformats.org/drawingml/2006/main">
            <a:fillRect l="0" t="0" r="0" b="0"/>
          </a:stretch>
        </p:blipFill>
        <p:spPr>
          <a:xfrm xmlns:a="http://schemas.openxmlformats.org/drawingml/2006/main">
            <a:off x="3333750" y="1524000"/>
            <a:ext cx="2286000" cy="2286000"/>
          </a:xfrm>
          <a:prstGeom xmlns:a="http://schemas.openxmlformats.org/drawingml/2006/main" prst="roundRect">
            <a:avLst>
              <a:gd name="adj" fmla="val 5000"/>
            </a:avLst>
          </a:prstGeom>
        </p:spPr>
      </p:pic>
      <p:sp>
        <p:nvSpPr>
          <p:cNvPr id="11" name="">
            <a:extLst xmlns:a="http://schemas.openxmlformats.org/drawingml/2006/main">
              <a:ext uri="{FF2B5EF4-FFF2-40B4-BE49-F238E27FC236}">
                <a16:creationId xmlns:a16="http://schemas.microsoft.com/office/drawing/2014/main" id="{26739A96-E481-40A0-831E-0586D3741F62}"/>
              </a:ext>
            </a:extLst>
          </p:cNvPr>
          <p:cNvSpPr>
            <a:spLocks xmlns:a="http://schemas.openxmlformats.org/drawingml/2006/main" noGrp="1"/>
          </p:cNvSpPr>
          <p:nvPr/>
        </p:nvSpPr>
        <p:spPr>
          <a:xfrm xmlns:a="http://schemas.openxmlformats.org/drawingml/2006/main">
            <a:off x="3333750" y="4000500"/>
            <a:ext cx="2286000" cy="1428750"/>
          </a:xfrm>
          <a:prstGeom xmlns:a="http://schemas.openxmlformats.org/drawingml/2006/main" prst="roundRect">
            <a:avLst>
              <a:gd name="adj" fmla="val 5333"/>
            </a:avLst>
          </a:prstGeom>
          <a:solidFill xmlns:a="http://schemas.openxmlformats.org/drawingml/2006/main">
            <a:srgbClr val="FBF1F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8BE980-90E0-434F-AA0D-5824BCA09F5F}"/>
              </a:ext>
            </a:extLst>
          </p:cNvPr>
          <p:cNvSpPr>
            <a:spLocks xmlns:a="http://schemas.openxmlformats.org/drawingml/2006/main" noGrp="1"/>
          </p:cNvSpPr>
          <p:nvPr/>
        </p:nvSpPr>
        <p:spPr>
          <a:xfrm xmlns:a="http://schemas.openxmlformats.org/drawingml/2006/main">
            <a:off x="3333750" y="4000500"/>
            <a:ext cx="66675" cy="1428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49EE758-1DB0-4743-A80E-0D751EAAB295}"/>
              </a:ext>
            </a:extLst>
          </p:cNvPr>
          <p:cNvSpPr>
            <a:spLocks xmlns:a="http://schemas.openxmlformats.org/drawingml/2006/main" noGrp="1"/>
          </p:cNvSpPr>
          <p:nvPr/>
        </p:nvSpPr>
        <p:spPr>
          <a:xfrm xmlns:a="http://schemas.openxmlformats.org/drawingml/2006/main">
            <a:off x="3543300" y="4114800"/>
            <a:ext cx="1943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Sonication</a:t>
            </a:r>
          </a:p>
        </p:txBody>
      </p:sp>
      <p:sp>
        <p:nvSpPr>
          <p:cNvPr id="14" name="">
            <a:extLst xmlns:a="http://schemas.openxmlformats.org/drawingml/2006/main">
              <a:ext uri="{FF2B5EF4-FFF2-40B4-BE49-F238E27FC236}">
                <a16:creationId xmlns:a16="http://schemas.microsoft.com/office/drawing/2014/main" id="{6FB14580-E062-452C-BC0D-6D22331B6090}"/>
              </a:ext>
            </a:extLst>
          </p:cNvPr>
          <p:cNvSpPr>
            <a:spLocks xmlns:a="http://schemas.openxmlformats.org/drawingml/2006/main" noGrp="1"/>
          </p:cNvSpPr>
          <p:nvPr/>
        </p:nvSpPr>
        <p:spPr>
          <a:xfrm xmlns:a="http://schemas.openxmlformats.org/drawingml/2006/main">
            <a:off x="3543300" y="441960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Considered and tested during preliminary work. Undesirable flavour changes and persistent agglomerates prevented selection.</a:t>
            </a:r>
          </a:p>
        </p:txBody>
      </p:sp>
      <p:sp>
        <p:nvSpPr>
          <p:cNvPr id="15" name="">
            <a:extLst xmlns:a="http://schemas.openxmlformats.org/drawingml/2006/main">
              <a:ext uri="{FF2B5EF4-FFF2-40B4-BE49-F238E27FC236}">
                <a16:creationId xmlns:a16="http://schemas.microsoft.com/office/drawing/2014/main" id="{F72FFD43-A7FC-45E0-B0ED-BF2CF8308165}"/>
              </a:ext>
            </a:extLst>
          </p:cNvPr>
          <p:cNvSpPr>
            <a:spLocks xmlns:a="http://schemas.openxmlformats.org/drawingml/2006/main" noGrp="1"/>
          </p:cNvSpPr>
          <p:nvPr/>
        </p:nvSpPr>
        <p:spPr>
          <a:xfrm xmlns:a="http://schemas.openxmlformats.org/drawingml/2006/main">
            <a:off x="6286500" y="1428750"/>
            <a:ext cx="5238750" cy="4000500"/>
          </a:xfrm>
          <a:prstGeom xmlns:a="http://schemas.openxmlformats.org/drawingml/2006/main" prst="roundRect">
            <a:avLst>
              <a:gd name="adj" fmla="val 1905"/>
            </a:avLst>
          </a:prstGeom>
          <a:solidFill xmlns:a="http://schemas.openxmlformats.org/drawingml/2006/main">
            <a:srgbClr val="F4EBDD"/>
          </a:solidFill>
          <a:ln xmlns:a="http://schemas.openxmlformats.org/drawingml/2006/main" w="19050">
            <a:solidFill>
              <a:srgbClr val="D8B77B"/>
            </a:solidFill>
          </a:ln>
        </p:spPr>
      </p:sp>
      <p:sp>
        <p:nvSpPr>
          <p:cNvPr id="16" name="">
            <a:extLst xmlns:a="http://schemas.openxmlformats.org/drawingml/2006/main">
              <a:ext uri="{FF2B5EF4-FFF2-40B4-BE49-F238E27FC236}">
                <a16:creationId xmlns:a16="http://schemas.microsoft.com/office/drawing/2014/main" id="{C63F52D6-1C95-4981-AEC8-7095923AF485}"/>
              </a:ext>
            </a:extLst>
          </p:cNvPr>
          <p:cNvSpPr>
            <a:spLocks xmlns:a="http://schemas.openxmlformats.org/drawingml/2006/main" noGrp="1"/>
          </p:cNvSpPr>
          <p:nvPr/>
        </p:nvSpPr>
        <p:spPr>
          <a:xfrm xmlns:a="http://schemas.openxmlformats.org/drawingml/2006/main">
            <a:off x="6667500" y="17145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6F8F72"/>
                </a:solidFill>
                <a:latin typeface="Arial"/>
                <a:ea typeface="Arial"/>
                <a:cs typeface="Arial"/>
              </a:defRPr>
            </a:pPr>
            <a:r>
              <a:rPr sz="900" b="1" i="0">
                <a:solidFill>
                  <a:srgbClr val="6F8F72"/>
                </a:solidFill>
                <a:latin typeface="Arial"/>
                <a:ea typeface="Arial"/>
                <a:cs typeface="Arial"/>
              </a:rPr>
              <a:t>SELECTED PRACTICAL METHOD</a:t>
            </a:r>
          </a:p>
        </p:txBody>
      </p:sp>
      <p:sp>
        <p:nvSpPr>
          <p:cNvPr id="17" name="">
            <a:extLst xmlns:a="http://schemas.openxmlformats.org/drawingml/2006/main">
              <a:ext uri="{FF2B5EF4-FFF2-40B4-BE49-F238E27FC236}">
                <a16:creationId xmlns:a16="http://schemas.microsoft.com/office/drawing/2014/main" id="{A46598CE-D235-4301-8075-AAC3D61279D7}"/>
              </a:ext>
            </a:extLst>
          </p:cNvPr>
          <p:cNvSpPr>
            <a:spLocks xmlns:a="http://schemas.openxmlformats.org/drawingml/2006/main" noGrp="1"/>
          </p:cNvSpPr>
          <p:nvPr/>
        </p:nvSpPr>
        <p:spPr>
          <a:xfrm xmlns:a="http://schemas.openxmlformats.org/drawingml/2006/main">
            <a:off x="6667500" y="205740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i="0">
                <a:solidFill>
                  <a:srgbClr val="082C4C"/>
                </a:solidFill>
                <a:latin typeface="Arial"/>
                <a:ea typeface="Arial"/>
                <a:cs typeface="Arial"/>
              </a:defRPr>
            </a:pPr>
            <a:r>
              <a:rPr sz="2400" b="1" i="0">
                <a:solidFill>
                  <a:srgbClr val="082C4C"/>
                </a:solidFill>
                <a:latin typeface="Arial"/>
                <a:ea typeface="Arial"/>
                <a:cs typeface="Arial"/>
              </a:rPr>
              <a:t>Mortar + sieve</a:t>
            </a:r>
          </a:p>
        </p:txBody>
      </p:sp>
      <p:sp>
        <p:nvSpPr>
          <p:cNvPr id="18" name="">
            <a:extLst xmlns:a="http://schemas.openxmlformats.org/drawingml/2006/main">
              <a:ext uri="{FF2B5EF4-FFF2-40B4-BE49-F238E27FC236}">
                <a16:creationId xmlns:a16="http://schemas.microsoft.com/office/drawing/2014/main" id="{11DCD477-2BBC-4B86-A258-AE4F1768F235}"/>
              </a:ext>
            </a:extLst>
          </p:cNvPr>
          <p:cNvSpPr>
            <a:spLocks xmlns:a="http://schemas.openxmlformats.org/drawingml/2006/main" noGrp="1"/>
          </p:cNvSpPr>
          <p:nvPr/>
        </p:nvSpPr>
        <p:spPr>
          <a:xfrm xmlns:a="http://schemas.openxmlformats.org/drawingml/2006/main">
            <a:off x="6553200" y="285750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19" name="">
            <a:extLst xmlns:a="http://schemas.openxmlformats.org/drawingml/2006/main">
              <a:ext uri="{FF2B5EF4-FFF2-40B4-BE49-F238E27FC236}">
                <a16:creationId xmlns:a16="http://schemas.microsoft.com/office/drawing/2014/main" id="{CD3775D4-9932-42E4-80AC-3960B889C7BC}"/>
              </a:ext>
            </a:extLst>
          </p:cNvPr>
          <p:cNvSpPr>
            <a:spLocks xmlns:a="http://schemas.openxmlformats.org/drawingml/2006/main" noGrp="1"/>
          </p:cNvSpPr>
          <p:nvPr/>
        </p:nvSpPr>
        <p:spPr>
          <a:xfrm xmlns:a="http://schemas.openxmlformats.org/drawingml/2006/main">
            <a:off x="6619875" y="293370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61"/>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Powder + small</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beverage volume</a:t>
            </a:r>
          </a:p>
        </p:txBody>
      </p:sp>
      <p:sp>
        <p:nvSpPr>
          <p:cNvPr id="20" name="">
            <a:extLst xmlns:a="http://schemas.openxmlformats.org/drawingml/2006/main">
              <a:ext uri="{FF2B5EF4-FFF2-40B4-BE49-F238E27FC236}">
                <a16:creationId xmlns:a16="http://schemas.microsoft.com/office/drawing/2014/main" id="{C20D74D0-8C63-46C3-9041-D632EA195D26}"/>
              </a:ext>
            </a:extLst>
          </p:cNvPr>
          <p:cNvSpPr>
            <a:spLocks xmlns:a="http://schemas.openxmlformats.org/drawingml/2006/main" noGrp="1"/>
          </p:cNvSpPr>
          <p:nvPr/>
        </p:nvSpPr>
        <p:spPr>
          <a:xfrm xmlns:a="http://schemas.openxmlformats.org/drawingml/2006/main">
            <a:off x="7915275" y="3200400"/>
            <a:ext cx="161925" cy="0"/>
          </a:xfrm>
          <a:prstGeom xmlns:a="http://schemas.openxmlformats.org/drawingml/2006/main" prst="line">
            <a:avLst/>
          </a:prstGeom>
          <a:noFill xmlns:a="http://schemas.openxmlformats.org/drawingml/2006/main"/>
          <a:ln xmlns:a="http://schemas.openxmlformats.org/drawingml/2006/main" w="19050">
            <a:solidFill>
              <a:srgbClr val="6F8F72"/>
            </a:solidFill>
          </a:ln>
        </p:spPr>
      </p:sp>
      <p:sp>
        <p:nvSpPr>
          <p:cNvPr id="21" name="">
            <a:extLst xmlns:a="http://schemas.openxmlformats.org/drawingml/2006/main">
              <a:ext uri="{FF2B5EF4-FFF2-40B4-BE49-F238E27FC236}">
                <a16:creationId xmlns:a16="http://schemas.microsoft.com/office/drawing/2014/main" id="{C854628F-9E97-4DC5-B6BE-0BAC2288AA65}"/>
              </a:ext>
            </a:extLst>
          </p:cNvPr>
          <p:cNvSpPr>
            <a:spLocks xmlns:a="http://schemas.openxmlformats.org/drawingml/2006/main" noGrp="1"/>
          </p:cNvSpPr>
          <p:nvPr/>
        </p:nvSpPr>
        <p:spPr>
          <a:xfrm xmlns:a="http://schemas.openxmlformats.org/drawingml/2006/main">
            <a:off x="8001000" y="3143250"/>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9B15F45-4A26-49A2-B79C-01DED4114E1E}"/>
              </a:ext>
            </a:extLst>
          </p:cNvPr>
          <p:cNvSpPr>
            <a:spLocks xmlns:a="http://schemas.openxmlformats.org/drawingml/2006/main" noGrp="1"/>
          </p:cNvSpPr>
          <p:nvPr/>
        </p:nvSpPr>
        <p:spPr>
          <a:xfrm xmlns:a="http://schemas.openxmlformats.org/drawingml/2006/main">
            <a:off x="8124825" y="285750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23" name="">
            <a:extLst xmlns:a="http://schemas.openxmlformats.org/drawingml/2006/main">
              <a:ext uri="{FF2B5EF4-FFF2-40B4-BE49-F238E27FC236}">
                <a16:creationId xmlns:a16="http://schemas.microsoft.com/office/drawing/2014/main" id="{DE7DD18B-F3F0-433F-8FF4-A39C41C073B3}"/>
              </a:ext>
            </a:extLst>
          </p:cNvPr>
          <p:cNvSpPr>
            <a:spLocks xmlns:a="http://schemas.openxmlformats.org/drawingml/2006/main" noGrp="1"/>
          </p:cNvSpPr>
          <p:nvPr/>
        </p:nvSpPr>
        <p:spPr>
          <a:xfrm xmlns:a="http://schemas.openxmlformats.org/drawingml/2006/main">
            <a:off x="8191500" y="293370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Paste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formation</a:t>
            </a:r>
          </a:p>
        </p:txBody>
      </p:sp>
      <p:sp>
        <p:nvSpPr>
          <p:cNvPr id="24" name="">
            <a:extLst xmlns:a="http://schemas.openxmlformats.org/drawingml/2006/main">
              <a:ext uri="{FF2B5EF4-FFF2-40B4-BE49-F238E27FC236}">
                <a16:creationId xmlns:a16="http://schemas.microsoft.com/office/drawing/2014/main" id="{3FF805B6-486B-4D11-904B-F3C0DB679D58}"/>
              </a:ext>
            </a:extLst>
          </p:cNvPr>
          <p:cNvSpPr>
            <a:spLocks xmlns:a="http://schemas.openxmlformats.org/drawingml/2006/main" noGrp="1"/>
          </p:cNvSpPr>
          <p:nvPr/>
        </p:nvSpPr>
        <p:spPr>
          <a:xfrm xmlns:a="http://schemas.openxmlformats.org/drawingml/2006/main">
            <a:off x="9486900" y="3200400"/>
            <a:ext cx="161925" cy="0"/>
          </a:xfrm>
          <a:prstGeom xmlns:a="http://schemas.openxmlformats.org/drawingml/2006/main" prst="line">
            <a:avLst/>
          </a:prstGeom>
          <a:noFill xmlns:a="http://schemas.openxmlformats.org/drawingml/2006/main"/>
          <a:ln xmlns:a="http://schemas.openxmlformats.org/drawingml/2006/main" w="19050">
            <a:solidFill>
              <a:srgbClr val="6F8F72"/>
            </a:solidFill>
          </a:ln>
        </p:spPr>
      </p:sp>
      <p:sp>
        <p:nvSpPr>
          <p:cNvPr id="25" name="">
            <a:extLst xmlns:a="http://schemas.openxmlformats.org/drawingml/2006/main">
              <a:ext uri="{FF2B5EF4-FFF2-40B4-BE49-F238E27FC236}">
                <a16:creationId xmlns:a16="http://schemas.microsoft.com/office/drawing/2014/main" id="{31B00A3D-6D1A-443E-88B1-E5DEA6730FF5}"/>
              </a:ext>
            </a:extLst>
          </p:cNvPr>
          <p:cNvSpPr>
            <a:spLocks xmlns:a="http://schemas.openxmlformats.org/drawingml/2006/main" noGrp="1"/>
          </p:cNvSpPr>
          <p:nvPr/>
        </p:nvSpPr>
        <p:spPr>
          <a:xfrm xmlns:a="http://schemas.openxmlformats.org/drawingml/2006/main">
            <a:off x="9572625" y="3143250"/>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9627C8A-82FE-4B5C-B64C-78DC242C0F9D}"/>
              </a:ext>
            </a:extLst>
          </p:cNvPr>
          <p:cNvSpPr>
            <a:spLocks xmlns:a="http://schemas.openxmlformats.org/drawingml/2006/main" noGrp="1"/>
          </p:cNvSpPr>
          <p:nvPr/>
        </p:nvSpPr>
        <p:spPr>
          <a:xfrm xmlns:a="http://schemas.openxmlformats.org/drawingml/2006/main">
            <a:off x="9696450" y="285750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27" name="">
            <a:extLst xmlns:a="http://schemas.openxmlformats.org/drawingml/2006/main">
              <a:ext uri="{FF2B5EF4-FFF2-40B4-BE49-F238E27FC236}">
                <a16:creationId xmlns:a16="http://schemas.microsoft.com/office/drawing/2014/main" id="{7611CE3E-D2DF-4008-950F-637CB1BBF6E2}"/>
              </a:ext>
            </a:extLst>
          </p:cNvPr>
          <p:cNvSpPr>
            <a:spLocks xmlns:a="http://schemas.openxmlformats.org/drawingml/2006/main" noGrp="1"/>
          </p:cNvSpPr>
          <p:nvPr/>
        </p:nvSpPr>
        <p:spPr>
          <a:xfrm xmlns:a="http://schemas.openxmlformats.org/drawingml/2006/main">
            <a:off x="9763125" y="293370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Progressive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dispersion</a:t>
            </a:r>
          </a:p>
        </p:txBody>
      </p:sp>
      <p:sp>
        <p:nvSpPr>
          <p:cNvPr id="28" name="">
            <a:extLst xmlns:a="http://schemas.openxmlformats.org/drawingml/2006/main">
              <a:ext uri="{FF2B5EF4-FFF2-40B4-BE49-F238E27FC236}">
                <a16:creationId xmlns:a16="http://schemas.microsoft.com/office/drawing/2014/main" id="{9BD71CBF-FC27-4282-A0F9-5D93972D1FF6}"/>
              </a:ext>
            </a:extLst>
          </p:cNvPr>
          <p:cNvSpPr>
            <a:spLocks xmlns:a="http://schemas.openxmlformats.org/drawingml/2006/main" noGrp="1"/>
          </p:cNvSpPr>
          <p:nvPr/>
        </p:nvSpPr>
        <p:spPr>
          <a:xfrm xmlns:a="http://schemas.openxmlformats.org/drawingml/2006/main">
            <a:off x="6553200" y="409575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29" name="">
            <a:extLst xmlns:a="http://schemas.openxmlformats.org/drawingml/2006/main">
              <a:ext uri="{FF2B5EF4-FFF2-40B4-BE49-F238E27FC236}">
                <a16:creationId xmlns:a16="http://schemas.microsoft.com/office/drawing/2014/main" id="{9D92386C-E3F9-4445-9FC3-23DF0034D507}"/>
              </a:ext>
            </a:extLst>
          </p:cNvPr>
          <p:cNvSpPr>
            <a:spLocks xmlns:a="http://schemas.openxmlformats.org/drawingml/2006/main" noGrp="1"/>
          </p:cNvSpPr>
          <p:nvPr/>
        </p:nvSpPr>
        <p:spPr>
          <a:xfrm xmlns:a="http://schemas.openxmlformats.org/drawingml/2006/main">
            <a:off x="6619875" y="417195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489"/>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Sieve and crush</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agglomerates</a:t>
            </a:r>
          </a:p>
        </p:txBody>
      </p:sp>
      <p:sp>
        <p:nvSpPr>
          <p:cNvPr id="30" name="">
            <a:extLst xmlns:a="http://schemas.openxmlformats.org/drawingml/2006/main">
              <a:ext uri="{FF2B5EF4-FFF2-40B4-BE49-F238E27FC236}">
                <a16:creationId xmlns:a16="http://schemas.microsoft.com/office/drawing/2014/main" id="{FD21EF62-3CF6-44E8-BC58-4E50C54045E7}"/>
              </a:ext>
            </a:extLst>
          </p:cNvPr>
          <p:cNvSpPr>
            <a:spLocks xmlns:a="http://schemas.openxmlformats.org/drawingml/2006/main" noGrp="1"/>
          </p:cNvSpPr>
          <p:nvPr/>
        </p:nvSpPr>
        <p:spPr>
          <a:xfrm xmlns:a="http://schemas.openxmlformats.org/drawingml/2006/main">
            <a:off x="7915275" y="4438650"/>
            <a:ext cx="161925" cy="0"/>
          </a:xfrm>
          <a:prstGeom xmlns:a="http://schemas.openxmlformats.org/drawingml/2006/main" prst="line">
            <a:avLst/>
          </a:prstGeom>
          <a:noFill xmlns:a="http://schemas.openxmlformats.org/drawingml/2006/main"/>
          <a:ln xmlns:a="http://schemas.openxmlformats.org/drawingml/2006/main" w="19050">
            <a:solidFill>
              <a:srgbClr val="6F8F72"/>
            </a:solidFill>
          </a:ln>
        </p:spPr>
      </p:sp>
      <p:sp>
        <p:nvSpPr>
          <p:cNvPr id="31" name="">
            <a:extLst xmlns:a="http://schemas.openxmlformats.org/drawingml/2006/main">
              <a:ext uri="{FF2B5EF4-FFF2-40B4-BE49-F238E27FC236}">
                <a16:creationId xmlns:a16="http://schemas.microsoft.com/office/drawing/2014/main" id="{A2B1595B-5937-43C2-8EE8-BEAD9206CD3F}"/>
              </a:ext>
            </a:extLst>
          </p:cNvPr>
          <p:cNvSpPr>
            <a:spLocks xmlns:a="http://schemas.openxmlformats.org/drawingml/2006/main" noGrp="1"/>
          </p:cNvSpPr>
          <p:nvPr/>
        </p:nvSpPr>
        <p:spPr>
          <a:xfrm xmlns:a="http://schemas.openxmlformats.org/drawingml/2006/main">
            <a:off x="8001000" y="4381500"/>
            <a:ext cx="133350" cy="114300"/>
          </a:xfrm>
          <a:prstGeom xmlns:a="http://schemas.openxmlformats.org/drawingml/2006/main" prst="triangle">
            <a:avLst/>
          </a:prstGeom>
          <a:solidFill xmlns:a="http://schemas.openxmlformats.org/drawingml/2006/main">
            <a:srgbClr val="6F8F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A652CF3-D657-411D-A89E-3CDB5BC9DB5E}"/>
              </a:ext>
            </a:extLst>
          </p:cNvPr>
          <p:cNvSpPr>
            <a:spLocks xmlns:a="http://schemas.openxmlformats.org/drawingml/2006/main" noGrp="1"/>
          </p:cNvSpPr>
          <p:nvPr/>
        </p:nvSpPr>
        <p:spPr>
          <a:xfrm xmlns:a="http://schemas.openxmlformats.org/drawingml/2006/main">
            <a:off x="8124825" y="4095750"/>
            <a:ext cx="1333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B77B"/>
            </a:solidFill>
          </a:ln>
        </p:spPr>
      </p:sp>
      <p:sp>
        <p:nvSpPr>
          <p:cNvPr id="33" name="">
            <a:extLst xmlns:a="http://schemas.openxmlformats.org/drawingml/2006/main">
              <a:ext uri="{FF2B5EF4-FFF2-40B4-BE49-F238E27FC236}">
                <a16:creationId xmlns:a16="http://schemas.microsoft.com/office/drawing/2014/main" id="{91F01694-5D23-43C5-B43A-ABCA267C4D43}"/>
              </a:ext>
            </a:extLst>
          </p:cNvPr>
          <p:cNvSpPr>
            <a:spLocks xmlns:a="http://schemas.openxmlformats.org/drawingml/2006/main" noGrp="1"/>
          </p:cNvSpPr>
          <p:nvPr/>
        </p:nvSpPr>
        <p:spPr>
          <a:xfrm xmlns:a="http://schemas.openxmlformats.org/drawingml/2006/main">
            <a:off x="8191500" y="4171950"/>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68"/>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Reincorporate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into full beverage</a:t>
            </a:r>
          </a:p>
        </p:txBody>
      </p:sp>
      <p:sp>
        <p:nvSpPr>
          <p:cNvPr id="34" name="">
            <a:extLst xmlns:a="http://schemas.openxmlformats.org/drawingml/2006/main">
              <a:ext uri="{FF2B5EF4-FFF2-40B4-BE49-F238E27FC236}">
                <a16:creationId xmlns:a16="http://schemas.microsoft.com/office/drawing/2014/main" id="{80ECB538-5B84-4E74-8A00-F76DBC62B34A}"/>
              </a:ext>
            </a:extLst>
          </p:cNvPr>
          <p:cNvSpPr>
            <a:spLocks xmlns:a="http://schemas.openxmlformats.org/drawingml/2006/main" noGrp="1"/>
          </p:cNvSpPr>
          <p:nvPr/>
        </p:nvSpPr>
        <p:spPr>
          <a:xfrm xmlns:a="http://schemas.openxmlformats.org/drawingml/2006/main">
            <a:off x="1809750" y="57912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37"/>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The most sophisticated equipment was not the most effective option under the available conditions.</a:t>
            </a:r>
          </a:p>
        </p:txBody>
      </p:sp>
      <p:sp>
        <p:nvSpPr>
          <p:cNvPr id="35" name="">
            <a:extLst xmlns:a="http://schemas.openxmlformats.org/drawingml/2006/main">
              <a:ext uri="{FF2B5EF4-FFF2-40B4-BE49-F238E27FC236}">
                <a16:creationId xmlns:a16="http://schemas.microsoft.com/office/drawing/2014/main" id="{FD36E4AF-E67D-4913-846F-73F09BEEFAF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36" name="">
            <a:extLst xmlns:a="http://schemas.openxmlformats.org/drawingml/2006/main">
              <a:ext uri="{FF2B5EF4-FFF2-40B4-BE49-F238E27FC236}">
                <a16:creationId xmlns:a16="http://schemas.microsoft.com/office/drawing/2014/main" id="{6F1F4C9C-70E9-4B55-9193-3E96FADDD235}"/>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10</a:t>
            </a:r>
          </a:p>
        </p:txBody>
      </p:sp>
    </p:spTree>
    <p:extLst>
      <p:ext uri="{BB962C8B-B14F-4D97-AF65-F5344CB8AC3E}">
        <p14:creationId xmlns:p14="http://schemas.microsoft.com/office/powerpoint/2010/main" val="5206750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5BD163-A3F1-42C8-9D8D-2E5C8441155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3FCDBC-3791-4BBC-A4C6-AF0D9D4E707C}"/>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SCREENING</a:t>
            </a:r>
          </a:p>
        </p:txBody>
      </p:sp>
      <p:sp>
        <p:nvSpPr>
          <p:cNvPr id="3" name="">
            <a:extLst xmlns:a="http://schemas.openxmlformats.org/drawingml/2006/main">
              <a:ext uri="{FF2B5EF4-FFF2-40B4-BE49-F238E27FC236}">
                <a16:creationId xmlns:a16="http://schemas.microsoft.com/office/drawing/2014/main" id="{38C3D18F-532D-4A29-879B-67D4BD3DF40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Preliminary screening changed the formulation strategy</a:t>
            </a:r>
          </a:p>
        </p:txBody>
      </p:sp>
      <p:sp>
        <p:nvSpPr>
          <p:cNvPr id="4" name="">
            <a:extLst xmlns:a="http://schemas.openxmlformats.org/drawingml/2006/main">
              <a:ext uri="{FF2B5EF4-FFF2-40B4-BE49-F238E27FC236}">
                <a16:creationId xmlns:a16="http://schemas.microsoft.com/office/drawing/2014/main" id="{C40527FD-43C8-4D47-A64A-9DD36FEEDC4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26" name="Chart"/>
          <p:cNvGraphicFramePr/>
          <p:nvPr/>
        </p:nvGraphicFramePr>
        <p:xfrm>
          <a:off xmlns:a="http://schemas.openxmlformats.org/drawingml/2006/main" x="666750" y="1524000"/>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a190405e0987406b"/>
          </a:graphicData>
        </a:graphic>
      </p:graphicFrame>
      <p:sp>
        <p:nvSpPr>
          <p:cNvPr id="6" name="">
            <a:extLst xmlns:a="http://schemas.openxmlformats.org/drawingml/2006/main">
              <a:ext uri="{FF2B5EF4-FFF2-40B4-BE49-F238E27FC236}">
                <a16:creationId xmlns:a16="http://schemas.microsoft.com/office/drawing/2014/main" id="{1C1904CF-78E7-4E22-831B-9DBCFE5E558F}"/>
              </a:ext>
            </a:extLst>
          </p:cNvPr>
          <p:cNvSpPr>
            <a:spLocks xmlns:a="http://schemas.openxmlformats.org/drawingml/2006/main" noGrp="1"/>
          </p:cNvSpPr>
          <p:nvPr/>
        </p:nvSpPr>
        <p:spPr>
          <a:xfrm xmlns:a="http://schemas.openxmlformats.org/drawingml/2006/main">
            <a:off x="904875" y="16668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SOY PROTEIN SCREENING</a:t>
            </a:r>
          </a:p>
        </p:txBody>
      </p:sp>
      <p:sp>
        <p:nvSpPr>
          <p:cNvPr id="7" name="">
            <a:extLst xmlns:a="http://schemas.openxmlformats.org/drawingml/2006/main">
              <a:ext uri="{FF2B5EF4-FFF2-40B4-BE49-F238E27FC236}">
                <a16:creationId xmlns:a16="http://schemas.microsoft.com/office/drawing/2014/main" id="{1F8DFE9D-D0C0-4150-BDA1-9E11D86002B6}"/>
              </a:ext>
            </a:extLst>
          </p:cNvPr>
          <p:cNvSpPr>
            <a:spLocks xmlns:a="http://schemas.openxmlformats.org/drawingml/2006/main" noGrp="1"/>
          </p:cNvSpPr>
          <p:nvPr/>
        </p:nvSpPr>
        <p:spPr>
          <a:xfrm xmlns:a="http://schemas.openxmlformats.org/drawingml/2006/main">
            <a:off x="7143750" y="1571625"/>
            <a:ext cx="4000500" cy="1047750"/>
          </a:xfrm>
          <a:prstGeom xmlns:a="http://schemas.openxmlformats.org/drawingml/2006/main" prst="roundRect">
            <a:avLst>
              <a:gd name="adj" fmla="val 7273"/>
            </a:avLst>
          </a:prstGeom>
          <a:solidFill xmlns:a="http://schemas.openxmlformats.org/drawingml/2006/main">
            <a:srgbClr val="F7FAF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E07B23-9884-4CBB-9560-94B6EF57EF04}"/>
              </a:ext>
            </a:extLst>
          </p:cNvPr>
          <p:cNvSpPr>
            <a:spLocks xmlns:a="http://schemas.openxmlformats.org/drawingml/2006/main" noGrp="1"/>
          </p:cNvSpPr>
          <p:nvPr/>
        </p:nvSpPr>
        <p:spPr>
          <a:xfrm xmlns:a="http://schemas.openxmlformats.org/drawingml/2006/main">
            <a:off x="7143750" y="1571625"/>
            <a:ext cx="66675" cy="1047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0A983EB-0FC8-417A-852A-CCC1BB961C3C}"/>
              </a:ext>
            </a:extLst>
          </p:cNvPr>
          <p:cNvSpPr>
            <a:spLocks xmlns:a="http://schemas.openxmlformats.org/drawingml/2006/main" noGrp="1"/>
          </p:cNvSpPr>
          <p:nvPr/>
        </p:nvSpPr>
        <p:spPr>
          <a:xfrm xmlns:a="http://schemas.openxmlformats.org/drawingml/2006/main">
            <a:off x="7353300" y="1685925"/>
            <a:ext cx="365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Viscosity</a:t>
            </a:r>
          </a:p>
        </p:txBody>
      </p:sp>
      <p:sp>
        <p:nvSpPr>
          <p:cNvPr id="10" name="">
            <a:extLst xmlns:a="http://schemas.openxmlformats.org/drawingml/2006/main">
              <a:ext uri="{FF2B5EF4-FFF2-40B4-BE49-F238E27FC236}">
                <a16:creationId xmlns:a16="http://schemas.microsoft.com/office/drawing/2014/main" id="{68C7C186-0F47-4A99-944F-DBCF638D57BF}"/>
              </a:ext>
            </a:extLst>
          </p:cNvPr>
          <p:cNvSpPr>
            <a:spLocks xmlns:a="http://schemas.openxmlformats.org/drawingml/2006/main" noGrp="1"/>
          </p:cNvSpPr>
          <p:nvPr/>
        </p:nvSpPr>
        <p:spPr>
          <a:xfrm xmlns:a="http://schemas.openxmlformats.org/drawingml/2006/main">
            <a:off x="7353300" y="1990725"/>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Soy addition increased apparent viscosity from 30.0 to 136.6 mPa·s across the nominal screening range.</a:t>
            </a:r>
          </a:p>
        </p:txBody>
      </p:sp>
      <p:sp>
        <p:nvSpPr>
          <p:cNvPr id="11" name="">
            <a:extLst xmlns:a="http://schemas.openxmlformats.org/drawingml/2006/main">
              <a:ext uri="{FF2B5EF4-FFF2-40B4-BE49-F238E27FC236}">
                <a16:creationId xmlns:a16="http://schemas.microsoft.com/office/drawing/2014/main" id="{146D6FE5-841A-45E2-969C-CE45F4D6E76C}"/>
              </a:ext>
            </a:extLst>
          </p:cNvPr>
          <p:cNvSpPr>
            <a:spLocks xmlns:a="http://schemas.openxmlformats.org/drawingml/2006/main" noGrp="1"/>
          </p:cNvSpPr>
          <p:nvPr/>
        </p:nvSpPr>
        <p:spPr>
          <a:xfrm xmlns:a="http://schemas.openxmlformats.org/drawingml/2006/main">
            <a:off x="7143750" y="2857500"/>
            <a:ext cx="4000500" cy="1047750"/>
          </a:xfrm>
          <a:prstGeom xmlns:a="http://schemas.openxmlformats.org/drawingml/2006/main" prst="roundRect">
            <a:avLst>
              <a:gd name="adj" fmla="val 7273"/>
            </a:avLst>
          </a:prstGeom>
          <a:solidFill xmlns:a="http://schemas.openxmlformats.org/drawingml/2006/main">
            <a:srgbClr val="F4EBD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325D5D5-5194-4992-9CFF-22679670EF8A}"/>
              </a:ext>
            </a:extLst>
          </p:cNvPr>
          <p:cNvSpPr>
            <a:spLocks xmlns:a="http://schemas.openxmlformats.org/drawingml/2006/main" noGrp="1"/>
          </p:cNvSpPr>
          <p:nvPr/>
        </p:nvSpPr>
        <p:spPr>
          <a:xfrm xmlns:a="http://schemas.openxmlformats.org/drawingml/2006/main">
            <a:off x="7143750" y="2857500"/>
            <a:ext cx="66675" cy="10477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A68F1D-1BD8-4190-A4C9-E8A51A3D24E8}"/>
              </a:ext>
            </a:extLst>
          </p:cNvPr>
          <p:cNvSpPr>
            <a:spLocks xmlns:a="http://schemas.openxmlformats.org/drawingml/2006/main" noGrp="1"/>
          </p:cNvSpPr>
          <p:nvPr/>
        </p:nvSpPr>
        <p:spPr>
          <a:xfrm xmlns:a="http://schemas.openxmlformats.org/drawingml/2006/main">
            <a:off x="7353300" y="2971800"/>
            <a:ext cx="365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Thermal sensitivity</a:t>
            </a:r>
          </a:p>
        </p:txBody>
      </p:sp>
      <p:sp>
        <p:nvSpPr>
          <p:cNvPr id="14" name="">
            <a:extLst xmlns:a="http://schemas.openxmlformats.org/drawingml/2006/main">
              <a:ext uri="{FF2B5EF4-FFF2-40B4-BE49-F238E27FC236}">
                <a16:creationId xmlns:a16="http://schemas.microsoft.com/office/drawing/2014/main" id="{FC5BBBE1-B8BC-4328-8352-91621219E6BE}"/>
              </a:ext>
            </a:extLst>
          </p:cNvPr>
          <p:cNvSpPr>
            <a:spLocks xmlns:a="http://schemas.openxmlformats.org/drawingml/2006/main" noGrp="1"/>
          </p:cNvSpPr>
          <p:nvPr/>
        </p:nvSpPr>
        <p:spPr>
          <a:xfrm xmlns:a="http://schemas.openxmlformats.org/drawingml/2006/main">
            <a:off x="7353300" y="3276600"/>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The nominal 4% rice pilot increased from ≈11.6 to 86.1 mPa·s after exploratory heating.</a:t>
            </a:r>
          </a:p>
        </p:txBody>
      </p:sp>
      <p:sp>
        <p:nvSpPr>
          <p:cNvPr id="15" name="">
            <a:extLst xmlns:a="http://schemas.openxmlformats.org/drawingml/2006/main">
              <a:ext uri="{FF2B5EF4-FFF2-40B4-BE49-F238E27FC236}">
                <a16:creationId xmlns:a16="http://schemas.microsoft.com/office/drawing/2014/main" id="{5F5A4307-B10C-41BF-A0FB-A7B0465F7083}"/>
              </a:ext>
            </a:extLst>
          </p:cNvPr>
          <p:cNvSpPr>
            <a:spLocks xmlns:a="http://schemas.openxmlformats.org/drawingml/2006/main" noGrp="1"/>
          </p:cNvSpPr>
          <p:nvPr/>
        </p:nvSpPr>
        <p:spPr>
          <a:xfrm xmlns:a="http://schemas.openxmlformats.org/drawingml/2006/main">
            <a:off x="7143750" y="4143375"/>
            <a:ext cx="4000500" cy="1047750"/>
          </a:xfrm>
          <a:prstGeom xmlns:a="http://schemas.openxmlformats.org/drawingml/2006/main" prst="roundRect">
            <a:avLst>
              <a:gd name="adj" fmla="val 7273"/>
            </a:avLst>
          </a:prstGeom>
          <a:solidFill xmlns:a="http://schemas.openxmlformats.org/drawingml/2006/main">
            <a:srgbClr val="FBF1F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0AC620-522C-41EA-B091-1AAB68C45F50}"/>
              </a:ext>
            </a:extLst>
          </p:cNvPr>
          <p:cNvSpPr>
            <a:spLocks xmlns:a="http://schemas.openxmlformats.org/drawingml/2006/main" noGrp="1"/>
          </p:cNvSpPr>
          <p:nvPr/>
        </p:nvSpPr>
        <p:spPr>
          <a:xfrm xmlns:a="http://schemas.openxmlformats.org/drawingml/2006/main">
            <a:off x="7143750" y="4143375"/>
            <a:ext cx="66675" cy="1047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7CE3A7-A9CD-4A4F-8DBD-9D3BF9ACAFAD}"/>
              </a:ext>
            </a:extLst>
          </p:cNvPr>
          <p:cNvSpPr>
            <a:spLocks xmlns:a="http://schemas.openxmlformats.org/drawingml/2006/main" noGrp="1"/>
          </p:cNvSpPr>
          <p:nvPr/>
        </p:nvSpPr>
        <p:spPr>
          <a:xfrm xmlns:a="http://schemas.openxmlformats.org/drawingml/2006/main">
            <a:off x="7353300" y="4257675"/>
            <a:ext cx="365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Practical observations</a:t>
            </a:r>
          </a:p>
        </p:txBody>
      </p:sp>
      <p:sp>
        <p:nvSpPr>
          <p:cNvPr id="18" name="">
            <a:extLst xmlns:a="http://schemas.openxmlformats.org/drawingml/2006/main">
              <a:ext uri="{FF2B5EF4-FFF2-40B4-BE49-F238E27FC236}">
                <a16:creationId xmlns:a16="http://schemas.microsoft.com/office/drawing/2014/main" id="{FB4DAADE-5189-4B6F-82C2-CA965C8E4A96}"/>
              </a:ext>
            </a:extLst>
          </p:cNvPr>
          <p:cNvSpPr>
            <a:spLocks xmlns:a="http://schemas.openxmlformats.org/drawingml/2006/main" noGrp="1"/>
          </p:cNvSpPr>
          <p:nvPr/>
        </p:nvSpPr>
        <p:spPr>
          <a:xfrm xmlns:a="http://schemas.openxmlformats.org/drawingml/2006/main">
            <a:off x="7353300" y="4562475"/>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017"/>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 additions produced lumps, powderiness, bitterness and an excessively thick or yoghurt-like texture.</a:t>
            </a:r>
          </a:p>
        </p:txBody>
      </p:sp>
      <p:sp>
        <p:nvSpPr>
          <p:cNvPr id="19" name="">
            <a:extLst xmlns:a="http://schemas.openxmlformats.org/drawingml/2006/main">
              <a:ext uri="{FF2B5EF4-FFF2-40B4-BE49-F238E27FC236}">
                <a16:creationId xmlns:a16="http://schemas.microsoft.com/office/drawing/2014/main" id="{7D22337A-81E9-4D62-A210-C55EF6003770}"/>
              </a:ext>
            </a:extLst>
          </p:cNvPr>
          <p:cNvSpPr>
            <a:spLocks xmlns:a="http://schemas.openxmlformats.org/drawingml/2006/main" noGrp="1"/>
          </p:cNvSpPr>
          <p:nvPr/>
        </p:nvSpPr>
        <p:spPr>
          <a:xfrm xmlns:a="http://schemas.openxmlformats.org/drawingml/2006/main">
            <a:off x="1809750" y="5572125"/>
            <a:ext cx="8572500" cy="476250"/>
          </a:xfrm>
          <a:prstGeom xmlns:a="http://schemas.openxmlformats.org/drawingml/2006/main" prst="rect">
            <a:avLst/>
          </a:prstGeom>
          <a:solidFill xmlns:a="http://schemas.openxmlformats.org/drawingml/2006/main">
            <a:srgbClr val="6F8F7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Decision: compare blends at a lower common enrichment target</a:t>
            </a:r>
          </a:p>
        </p:txBody>
      </p:sp>
      <p:sp>
        <p:nvSpPr>
          <p:cNvPr id="20" name="">
            <a:extLst xmlns:a="http://schemas.openxmlformats.org/drawingml/2006/main">
              <a:ext uri="{FF2B5EF4-FFF2-40B4-BE49-F238E27FC236}">
                <a16:creationId xmlns:a16="http://schemas.microsoft.com/office/drawing/2014/main" id="{F645D335-F6BD-49C1-B2BD-66AF466A34CE}"/>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1" name="">
            <a:extLst xmlns:a="http://schemas.openxmlformats.org/drawingml/2006/main">
              <a:ext uri="{FF2B5EF4-FFF2-40B4-BE49-F238E27FC236}">
                <a16:creationId xmlns:a16="http://schemas.microsoft.com/office/drawing/2014/main" id="{711B4D2D-B095-43FF-BF36-E310AC2FF167}"/>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11</a:t>
            </a:r>
          </a:p>
        </p:txBody>
      </p:sp>
    </p:spTree>
    <p:extLst>
      <p:ext uri="{BB962C8B-B14F-4D97-AF65-F5344CB8AC3E}">
        <p14:creationId xmlns:p14="http://schemas.microsoft.com/office/powerpoint/2010/main" val="14754759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DB56913-359A-4589-8558-93D7B73AC37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157B9E-6FF1-4B75-9991-6ADFBA177412}"/>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ANALYTICAL CHARACTERISATION</a:t>
            </a:r>
          </a:p>
        </p:txBody>
      </p:sp>
      <p:sp>
        <p:nvSpPr>
          <p:cNvPr id="3" name="">
            <a:extLst xmlns:a="http://schemas.openxmlformats.org/drawingml/2006/main">
              <a:ext uri="{FF2B5EF4-FFF2-40B4-BE49-F238E27FC236}">
                <a16:creationId xmlns:a16="http://schemas.microsoft.com/office/drawing/2014/main" id="{A676D7A7-94C3-44D5-B5B1-083E4B3272F7}"/>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Kjeldahl analysis corrected the protein basis</a:t>
            </a:r>
          </a:p>
        </p:txBody>
      </p:sp>
      <p:sp>
        <p:nvSpPr>
          <p:cNvPr id="4" name="">
            <a:extLst xmlns:a="http://schemas.openxmlformats.org/drawingml/2006/main">
              <a:ext uri="{FF2B5EF4-FFF2-40B4-BE49-F238E27FC236}">
                <a16:creationId xmlns:a16="http://schemas.microsoft.com/office/drawing/2014/main" id="{20ACE2DD-2C35-43E4-AC3B-514E4D651165}"/>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4148a7e837b4888"/>
          <a:srcRect xmlns:a="http://schemas.openxmlformats.org/drawingml/2006/main" l="0" t="17857" r="0" b="17857"/>
          <a:stretch xmlns:a="http://schemas.openxmlformats.org/drawingml/2006/main">
            <a:fillRect l="0" t="0" r="0" b="0"/>
          </a:stretch>
        </p:blipFill>
        <p:spPr>
          <a:xfrm xmlns:a="http://schemas.openxmlformats.org/drawingml/2006/main">
            <a:off x="571500" y="1619250"/>
            <a:ext cx="2000250" cy="1714500"/>
          </a:xfrm>
          <a:prstGeom xmlns:a="http://schemas.openxmlformats.org/drawingml/2006/main" prst="roundRect">
            <a:avLst>
              <a:gd name="adj" fmla="val 6667"/>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daa26c97ef5409d"/>
          <a:srcRect xmlns:a="http://schemas.openxmlformats.org/drawingml/2006/main" l="6250" t="0" r="6250" b="0"/>
          <a:stretch xmlns:a="http://schemas.openxmlformats.org/drawingml/2006/main">
            <a:fillRect l="0" t="0" r="0" b="0"/>
          </a:stretch>
        </p:blipFill>
        <p:spPr>
          <a:xfrm xmlns:a="http://schemas.openxmlformats.org/drawingml/2006/main">
            <a:off x="2762250" y="1619250"/>
            <a:ext cx="2000250" cy="1714500"/>
          </a:xfrm>
          <a:prstGeom xmlns:a="http://schemas.openxmlformats.org/drawingml/2006/main" prst="roundRect">
            <a:avLst>
              <a:gd name="adj" fmla="val 6667"/>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3170ba0636240ac"/>
          <a:srcRect xmlns:a="http://schemas.openxmlformats.org/drawingml/2006/main" l="0" t="17857" r="0" b="17857"/>
          <a:stretch xmlns:a="http://schemas.openxmlformats.org/drawingml/2006/main">
            <a:fillRect l="0" t="0" r="0" b="0"/>
          </a:stretch>
        </p:blipFill>
        <p:spPr>
          <a:xfrm xmlns:a="http://schemas.openxmlformats.org/drawingml/2006/main">
            <a:off x="4953000" y="1619250"/>
            <a:ext cx="2000250" cy="1714500"/>
          </a:xfrm>
          <a:prstGeom xmlns:a="http://schemas.openxmlformats.org/drawingml/2006/main" prst="roundRect">
            <a:avLst>
              <a:gd name="adj" fmla="val 6667"/>
            </a:avLst>
          </a:prstGeom>
        </p:spPr>
      </p:pic>
      <p:sp>
        <p:nvSpPr>
          <p:cNvPr id="8" name="">
            <a:extLst xmlns:a="http://schemas.openxmlformats.org/drawingml/2006/main">
              <a:ext uri="{FF2B5EF4-FFF2-40B4-BE49-F238E27FC236}">
                <a16:creationId xmlns:a16="http://schemas.microsoft.com/office/drawing/2014/main" id="{FD7EB8F1-656B-445B-882F-3D6893C733FF}"/>
              </a:ext>
            </a:extLst>
          </p:cNvPr>
          <p:cNvSpPr>
            <a:spLocks xmlns:a="http://schemas.openxmlformats.org/drawingml/2006/main" noGrp="1"/>
          </p:cNvSpPr>
          <p:nvPr/>
        </p:nvSpPr>
        <p:spPr>
          <a:xfrm xmlns:a="http://schemas.openxmlformats.org/drawingml/2006/main">
            <a:off x="523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Freeze-dry</a:t>
            </a:r>
          </a:p>
        </p:txBody>
      </p:sp>
      <p:sp>
        <p:nvSpPr>
          <p:cNvPr id="9" name="">
            <a:extLst xmlns:a="http://schemas.openxmlformats.org/drawingml/2006/main">
              <a:ext uri="{FF2B5EF4-FFF2-40B4-BE49-F238E27FC236}">
                <a16:creationId xmlns:a16="http://schemas.microsoft.com/office/drawing/2014/main" id="{9F98F072-F834-4B85-920C-B5A7576879FF}"/>
              </a:ext>
            </a:extLst>
          </p:cNvPr>
          <p:cNvSpPr>
            <a:spLocks xmlns:a="http://schemas.openxmlformats.org/drawingml/2006/main" noGrp="1"/>
          </p:cNvSpPr>
          <p:nvPr/>
        </p:nvSpPr>
        <p:spPr>
          <a:xfrm xmlns:a="http://schemas.openxmlformats.org/drawingml/2006/main">
            <a:off x="1524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0" name="">
            <a:extLst xmlns:a="http://schemas.openxmlformats.org/drawingml/2006/main">
              <a:ext uri="{FF2B5EF4-FFF2-40B4-BE49-F238E27FC236}">
                <a16:creationId xmlns:a16="http://schemas.microsoft.com/office/drawing/2014/main" id="{16C826D7-9451-4750-97FA-FC7F9B84DF46}"/>
              </a:ext>
            </a:extLst>
          </p:cNvPr>
          <p:cNvSpPr>
            <a:spLocks xmlns:a="http://schemas.openxmlformats.org/drawingml/2006/main" noGrp="1"/>
          </p:cNvSpPr>
          <p:nvPr/>
        </p:nvSpPr>
        <p:spPr>
          <a:xfrm xmlns:a="http://schemas.openxmlformats.org/drawingml/2006/main">
            <a:off x="1571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4B7F88-7862-442F-A698-28FD33AAFF8E}"/>
              </a:ext>
            </a:extLst>
          </p:cNvPr>
          <p:cNvSpPr>
            <a:spLocks xmlns:a="http://schemas.openxmlformats.org/drawingml/2006/main" noGrp="1"/>
          </p:cNvSpPr>
          <p:nvPr/>
        </p:nvSpPr>
        <p:spPr>
          <a:xfrm xmlns:a="http://schemas.openxmlformats.org/drawingml/2006/main">
            <a:off x="1666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Digest</a:t>
            </a:r>
          </a:p>
        </p:txBody>
      </p:sp>
      <p:sp>
        <p:nvSpPr>
          <p:cNvPr id="12" name="">
            <a:extLst xmlns:a="http://schemas.openxmlformats.org/drawingml/2006/main">
              <a:ext uri="{FF2B5EF4-FFF2-40B4-BE49-F238E27FC236}">
                <a16:creationId xmlns:a16="http://schemas.microsoft.com/office/drawing/2014/main" id="{1F1C1296-0788-4E84-AA06-F1F122E615A2}"/>
              </a:ext>
            </a:extLst>
          </p:cNvPr>
          <p:cNvSpPr>
            <a:spLocks xmlns:a="http://schemas.openxmlformats.org/drawingml/2006/main" noGrp="1"/>
          </p:cNvSpPr>
          <p:nvPr/>
        </p:nvSpPr>
        <p:spPr>
          <a:xfrm xmlns:a="http://schemas.openxmlformats.org/drawingml/2006/main">
            <a:off x="2667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3" name="">
            <a:extLst xmlns:a="http://schemas.openxmlformats.org/drawingml/2006/main">
              <a:ext uri="{FF2B5EF4-FFF2-40B4-BE49-F238E27FC236}">
                <a16:creationId xmlns:a16="http://schemas.microsoft.com/office/drawing/2014/main" id="{9BBB4A8D-3173-4C15-B928-9DE5ADC38CAA}"/>
              </a:ext>
            </a:extLst>
          </p:cNvPr>
          <p:cNvSpPr>
            <a:spLocks xmlns:a="http://schemas.openxmlformats.org/drawingml/2006/main" noGrp="1"/>
          </p:cNvSpPr>
          <p:nvPr/>
        </p:nvSpPr>
        <p:spPr>
          <a:xfrm xmlns:a="http://schemas.openxmlformats.org/drawingml/2006/main">
            <a:off x="2714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8BDA3A3-3615-4AD9-9D8A-8D0FB9D7A7C2}"/>
              </a:ext>
            </a:extLst>
          </p:cNvPr>
          <p:cNvSpPr>
            <a:spLocks xmlns:a="http://schemas.openxmlformats.org/drawingml/2006/main" noGrp="1"/>
          </p:cNvSpPr>
          <p:nvPr/>
        </p:nvSpPr>
        <p:spPr>
          <a:xfrm xmlns:a="http://schemas.openxmlformats.org/drawingml/2006/main">
            <a:off x="2809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Distil</a:t>
            </a:r>
          </a:p>
        </p:txBody>
      </p:sp>
      <p:sp>
        <p:nvSpPr>
          <p:cNvPr id="15" name="">
            <a:extLst xmlns:a="http://schemas.openxmlformats.org/drawingml/2006/main">
              <a:ext uri="{FF2B5EF4-FFF2-40B4-BE49-F238E27FC236}">
                <a16:creationId xmlns:a16="http://schemas.microsoft.com/office/drawing/2014/main" id="{53FC5583-93CD-4C34-A2C8-230FAA0B7FBB}"/>
              </a:ext>
            </a:extLst>
          </p:cNvPr>
          <p:cNvSpPr>
            <a:spLocks xmlns:a="http://schemas.openxmlformats.org/drawingml/2006/main" noGrp="1"/>
          </p:cNvSpPr>
          <p:nvPr/>
        </p:nvSpPr>
        <p:spPr>
          <a:xfrm xmlns:a="http://schemas.openxmlformats.org/drawingml/2006/main">
            <a:off x="3810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6" name="">
            <a:extLst xmlns:a="http://schemas.openxmlformats.org/drawingml/2006/main">
              <a:ext uri="{FF2B5EF4-FFF2-40B4-BE49-F238E27FC236}">
                <a16:creationId xmlns:a16="http://schemas.microsoft.com/office/drawing/2014/main" id="{DB6B18E2-9DC0-4088-AEC9-EAFBBE7230B1}"/>
              </a:ext>
            </a:extLst>
          </p:cNvPr>
          <p:cNvSpPr>
            <a:spLocks xmlns:a="http://schemas.openxmlformats.org/drawingml/2006/main" noGrp="1"/>
          </p:cNvSpPr>
          <p:nvPr/>
        </p:nvSpPr>
        <p:spPr>
          <a:xfrm xmlns:a="http://schemas.openxmlformats.org/drawingml/2006/main">
            <a:off x="3857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C4806A7-91CE-40EE-9362-F4879FD85CDC}"/>
              </a:ext>
            </a:extLst>
          </p:cNvPr>
          <p:cNvSpPr>
            <a:spLocks xmlns:a="http://schemas.openxmlformats.org/drawingml/2006/main" noGrp="1"/>
          </p:cNvSpPr>
          <p:nvPr/>
        </p:nvSpPr>
        <p:spPr>
          <a:xfrm xmlns:a="http://schemas.openxmlformats.org/drawingml/2006/main">
            <a:off x="3952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0B5B8C"/>
                </a:solidFill>
                <a:latin typeface="Arial"/>
                <a:ea typeface="Arial"/>
                <a:cs typeface="Arial"/>
              </a:defRPr>
            </a:pPr>
            <a:r>
              <a:rPr sz="1050" b="1" i="0">
                <a:solidFill>
                  <a:srgbClr val="0B5B8C"/>
                </a:solidFill>
                <a:latin typeface="Arial"/>
                <a:ea typeface="Arial"/>
                <a:cs typeface="Arial"/>
              </a:rPr>
              <a:t>Titrate</a:t>
            </a:r>
          </a:p>
        </p:txBody>
      </p:sp>
      <p:sp>
        <p:nvSpPr>
          <p:cNvPr id="18" name="">
            <a:extLst xmlns:a="http://schemas.openxmlformats.org/drawingml/2006/main">
              <a:ext uri="{FF2B5EF4-FFF2-40B4-BE49-F238E27FC236}">
                <a16:creationId xmlns:a16="http://schemas.microsoft.com/office/drawing/2014/main" id="{71AD3BA5-E3D8-490A-AF72-E20019BE5542}"/>
              </a:ext>
            </a:extLst>
          </p:cNvPr>
          <p:cNvSpPr>
            <a:spLocks xmlns:a="http://schemas.openxmlformats.org/drawingml/2006/main" noGrp="1"/>
          </p:cNvSpPr>
          <p:nvPr/>
        </p:nvSpPr>
        <p:spPr>
          <a:xfrm xmlns:a="http://schemas.openxmlformats.org/drawingml/2006/main">
            <a:off x="4953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19" name="">
            <a:extLst xmlns:a="http://schemas.openxmlformats.org/drawingml/2006/main">
              <a:ext uri="{FF2B5EF4-FFF2-40B4-BE49-F238E27FC236}">
                <a16:creationId xmlns:a16="http://schemas.microsoft.com/office/drawing/2014/main" id="{FA128022-691E-429E-93F6-0BE7EF4CFFE5}"/>
              </a:ext>
            </a:extLst>
          </p:cNvPr>
          <p:cNvSpPr>
            <a:spLocks xmlns:a="http://schemas.openxmlformats.org/drawingml/2006/main" noGrp="1"/>
          </p:cNvSpPr>
          <p:nvPr/>
        </p:nvSpPr>
        <p:spPr>
          <a:xfrm xmlns:a="http://schemas.openxmlformats.org/drawingml/2006/main">
            <a:off x="5000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69355A2-D539-4AB0-B9B5-CD24CD917205}"/>
              </a:ext>
            </a:extLst>
          </p:cNvPr>
          <p:cNvSpPr>
            <a:spLocks xmlns:a="http://schemas.openxmlformats.org/drawingml/2006/main" noGrp="1"/>
          </p:cNvSpPr>
          <p:nvPr/>
        </p:nvSpPr>
        <p:spPr>
          <a:xfrm xmlns:a="http://schemas.openxmlformats.org/drawingml/2006/main">
            <a:off x="5095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6F8F72"/>
                </a:solidFill>
                <a:latin typeface="Arial"/>
                <a:ea typeface="Arial"/>
                <a:cs typeface="Arial"/>
              </a:defRPr>
            </a:pPr>
            <a:r>
              <a:rPr sz="1050" b="1" i="0">
                <a:solidFill>
                  <a:srgbClr val="6F8F72"/>
                </a:solidFill>
                <a:latin typeface="Arial"/>
                <a:ea typeface="Arial"/>
                <a:cs typeface="Arial"/>
              </a:rPr>
              <a:t>Calculate N</a:t>
            </a:r>
          </a:p>
        </p:txBody>
      </p:sp>
      <p:sp>
        <p:nvSpPr>
          <p:cNvPr id="21" name="">
            <a:extLst xmlns:a="http://schemas.openxmlformats.org/drawingml/2006/main">
              <a:ext uri="{FF2B5EF4-FFF2-40B4-BE49-F238E27FC236}">
                <a16:creationId xmlns:a16="http://schemas.microsoft.com/office/drawing/2014/main" id="{AEC83D02-ECEF-460E-B72E-A8790B8576CC}"/>
              </a:ext>
            </a:extLst>
          </p:cNvPr>
          <p:cNvSpPr>
            <a:spLocks xmlns:a="http://schemas.openxmlformats.org/drawingml/2006/main" noGrp="1"/>
          </p:cNvSpPr>
          <p:nvPr/>
        </p:nvSpPr>
        <p:spPr>
          <a:xfrm xmlns:a="http://schemas.openxmlformats.org/drawingml/2006/main">
            <a:off x="6096000" y="3771900"/>
            <a:ext cx="123825" cy="0"/>
          </a:xfrm>
          <a:prstGeom xmlns:a="http://schemas.openxmlformats.org/drawingml/2006/main" prst="line">
            <a:avLst/>
          </a:prstGeom>
          <a:noFill xmlns:a="http://schemas.openxmlformats.org/drawingml/2006/main"/>
          <a:ln xmlns:a="http://schemas.openxmlformats.org/drawingml/2006/main" w="19050">
            <a:solidFill>
              <a:srgbClr val="E9F0F4"/>
            </a:solidFill>
          </a:ln>
        </p:spPr>
      </p:sp>
      <p:sp>
        <p:nvSpPr>
          <p:cNvPr id="22" name="">
            <a:extLst xmlns:a="http://schemas.openxmlformats.org/drawingml/2006/main">
              <a:ext uri="{FF2B5EF4-FFF2-40B4-BE49-F238E27FC236}">
                <a16:creationId xmlns:a16="http://schemas.microsoft.com/office/drawing/2014/main" id="{B21C1658-0E5E-4FA6-824C-EE68228A66E7}"/>
              </a:ext>
            </a:extLst>
          </p:cNvPr>
          <p:cNvSpPr>
            <a:spLocks xmlns:a="http://schemas.openxmlformats.org/drawingml/2006/main" noGrp="1"/>
          </p:cNvSpPr>
          <p:nvPr/>
        </p:nvSpPr>
        <p:spPr>
          <a:xfrm xmlns:a="http://schemas.openxmlformats.org/drawingml/2006/main">
            <a:off x="6143625" y="371475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A9234B3-F90E-48E5-988A-5DDEA5B017FB}"/>
              </a:ext>
            </a:extLst>
          </p:cNvPr>
          <p:cNvSpPr>
            <a:spLocks xmlns:a="http://schemas.openxmlformats.org/drawingml/2006/main" noGrp="1"/>
          </p:cNvSpPr>
          <p:nvPr/>
        </p:nvSpPr>
        <p:spPr>
          <a:xfrm xmlns:a="http://schemas.openxmlformats.org/drawingml/2006/main">
            <a:off x="6238875" y="36195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611"/>
          </a:bodyPr>
          <a:lstStyle xmlns:a="http://schemas.openxmlformats.org/drawingml/2006/main"/>
          <a:p xmlns:a="http://schemas.openxmlformats.org/drawingml/2006/main">
            <a:pPr algn="ctr">
              <a:defRPr sz="1050" b="1" i="0">
                <a:solidFill>
                  <a:srgbClr val="6F8F72"/>
                </a:solidFill>
                <a:latin typeface="Arial"/>
                <a:ea typeface="Arial"/>
                <a:cs typeface="Arial"/>
              </a:defRPr>
            </a:pPr>
            <a:r>
              <a:rPr sz="1050" b="1" i="0">
                <a:solidFill>
                  <a:srgbClr val="6F8F72"/>
                </a:solidFill>
                <a:latin typeface="Arial"/>
                <a:ea typeface="Arial"/>
                <a:cs typeface="Arial"/>
              </a:rPr>
              <a:t>Convert to protein</a:t>
            </a:r>
          </a:p>
        </p:txBody>
      </p:sp>
      <p:sp>
        <p:nvSpPr>
          <p:cNvPr id="24" name="">
            <a:extLst xmlns:a="http://schemas.openxmlformats.org/drawingml/2006/main">
              <a:ext uri="{FF2B5EF4-FFF2-40B4-BE49-F238E27FC236}">
                <a16:creationId xmlns:a16="http://schemas.microsoft.com/office/drawing/2014/main" id="{BA59E1BB-E709-4D6D-97DF-4ECF01C74CFA}"/>
              </a:ext>
            </a:extLst>
          </p:cNvPr>
          <p:cNvSpPr>
            <a:spLocks xmlns:a="http://schemas.openxmlformats.org/drawingml/2006/main" noGrp="1"/>
          </p:cNvSpPr>
          <p:nvPr/>
        </p:nvSpPr>
        <p:spPr>
          <a:xfrm xmlns:a="http://schemas.openxmlformats.org/drawingml/2006/main">
            <a:off x="7524750" y="1476375"/>
            <a:ext cx="4000500" cy="3143250"/>
          </a:xfrm>
          <a:prstGeom xmlns:a="http://schemas.openxmlformats.org/drawingml/2006/main" prst="roundRect">
            <a:avLst>
              <a:gd name="adj" fmla="val 2424"/>
            </a:avLst>
          </a:prstGeom>
          <a:solidFill xmlns:a="http://schemas.openxmlformats.org/drawingml/2006/main">
            <a:srgbClr val="082C4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4B90BAB-D0EB-45FC-988A-7B892C6E3090}"/>
              </a:ext>
            </a:extLst>
          </p:cNvPr>
          <p:cNvSpPr>
            <a:spLocks xmlns:a="http://schemas.openxmlformats.org/drawingml/2006/main" noGrp="1"/>
          </p:cNvSpPr>
          <p:nvPr/>
        </p:nvSpPr>
        <p:spPr>
          <a:xfrm xmlns:a="http://schemas.openxmlformats.org/drawingml/2006/main">
            <a:off x="7858125" y="20002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750" b="1" i="0">
                <a:solidFill>
                  <a:srgbClr val="FFFFFF"/>
                </a:solidFill>
                <a:latin typeface="Arial"/>
                <a:ea typeface="Arial"/>
                <a:cs typeface="Arial"/>
              </a:defRPr>
            </a:pPr>
            <a:r>
              <a:rPr sz="3750" b="1" i="0">
                <a:solidFill>
                  <a:srgbClr val="FFFFFF"/>
                </a:solidFill>
                <a:latin typeface="Arial"/>
                <a:ea typeface="Arial"/>
                <a:cs typeface="Arial"/>
              </a:rPr>
              <a:t>2.39 ± 0.17</a:t>
            </a:r>
          </a:p>
        </p:txBody>
      </p:sp>
      <p:sp>
        <p:nvSpPr>
          <p:cNvPr id="26" name="">
            <a:extLst xmlns:a="http://schemas.openxmlformats.org/drawingml/2006/main">
              <a:ext uri="{FF2B5EF4-FFF2-40B4-BE49-F238E27FC236}">
                <a16:creationId xmlns:a16="http://schemas.microsoft.com/office/drawing/2014/main" id="{3801EF4F-ECB3-44C1-8D8D-404A0CED391F}"/>
              </a:ext>
            </a:extLst>
          </p:cNvPr>
          <p:cNvSpPr>
            <a:spLocks xmlns:a="http://schemas.openxmlformats.org/drawingml/2006/main" noGrp="1"/>
          </p:cNvSpPr>
          <p:nvPr/>
        </p:nvSpPr>
        <p:spPr>
          <a:xfrm xmlns:a="http://schemas.openxmlformats.org/drawingml/2006/main">
            <a:off x="7858125" y="27146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BDEBF0"/>
                </a:solidFill>
                <a:latin typeface="Arial"/>
                <a:ea typeface="Arial"/>
                <a:cs typeface="Arial"/>
              </a:defRPr>
            </a:pPr>
            <a:r>
              <a:rPr sz="1650" b="1" i="0">
                <a:solidFill>
                  <a:srgbClr val="BDEBF0"/>
                </a:solidFill>
                <a:latin typeface="Arial"/>
                <a:ea typeface="Arial"/>
                <a:cs typeface="Arial"/>
              </a:rPr>
              <a:t>g protein / 100 mL</a:t>
            </a:r>
          </a:p>
        </p:txBody>
      </p:sp>
      <p:sp>
        <p:nvSpPr>
          <p:cNvPr id="27" name="">
            <a:extLst xmlns:a="http://schemas.openxmlformats.org/drawingml/2006/main">
              <a:ext uri="{FF2B5EF4-FFF2-40B4-BE49-F238E27FC236}">
                <a16:creationId xmlns:a16="http://schemas.microsoft.com/office/drawing/2014/main" id="{163EA2CD-D93B-4959-A2EF-F099A8EFD9FF}"/>
              </a:ext>
            </a:extLst>
          </p:cNvPr>
          <p:cNvSpPr>
            <a:spLocks xmlns:a="http://schemas.openxmlformats.org/drawingml/2006/main" noGrp="1"/>
          </p:cNvSpPr>
          <p:nvPr/>
        </p:nvSpPr>
        <p:spPr>
          <a:xfrm xmlns:a="http://schemas.openxmlformats.org/drawingml/2006/main">
            <a:off x="7858125" y="3286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i="0">
                <a:solidFill>
                  <a:srgbClr val="FFFFFF"/>
                </a:solidFill>
                <a:latin typeface="Arial"/>
                <a:ea typeface="Arial"/>
                <a:cs typeface="Arial"/>
              </a:defRPr>
            </a:pPr>
            <a:r>
              <a:rPr sz="1350" b="0" i="0">
                <a:solidFill>
                  <a:srgbClr val="FFFFFF"/>
                </a:solidFill>
                <a:latin typeface="Arial"/>
                <a:ea typeface="Arial"/>
                <a:cs typeface="Arial"/>
              </a:rPr>
              <a:t>Selected oat-beverage base</a:t>
            </a:r>
          </a:p>
          <a:p xmlns:a="http://schemas.openxmlformats.org/drawingml/2006/main">
            <a:pPr algn="ctr">
              <a:defRPr sz="1350" b="0" i="0">
                <a:solidFill>
                  <a:srgbClr val="FFFFFF"/>
                </a:solidFill>
                <a:latin typeface="Arial"/>
                <a:ea typeface="Arial"/>
                <a:cs typeface="Arial"/>
              </a:defRPr>
            </a:pPr>
            <a:r>
              <a:rPr sz="1350" b="0" i="0">
                <a:solidFill>
                  <a:srgbClr val="FFFFFF"/>
                </a:solidFill>
                <a:latin typeface="Arial"/>
                <a:ea typeface="Arial"/>
                <a:cs typeface="Arial"/>
              </a:rPr>
              <a:t>n = 3 analytical replicates</a:t>
            </a:r>
          </a:p>
        </p:txBody>
      </p:sp>
      <p:sp>
        <p:nvSpPr>
          <p:cNvPr id="28" name="">
            <a:extLst xmlns:a="http://schemas.openxmlformats.org/drawingml/2006/main">
              <a:ext uri="{FF2B5EF4-FFF2-40B4-BE49-F238E27FC236}">
                <a16:creationId xmlns:a16="http://schemas.microsoft.com/office/drawing/2014/main" id="{C8DB0654-1CD0-42F8-9154-59A85ED1AC44}"/>
              </a:ext>
            </a:extLst>
          </p:cNvPr>
          <p:cNvSpPr>
            <a:spLocks xmlns:a="http://schemas.openxmlformats.org/drawingml/2006/main" noGrp="1"/>
          </p:cNvSpPr>
          <p:nvPr/>
        </p:nvSpPr>
        <p:spPr>
          <a:xfrm xmlns:a="http://schemas.openxmlformats.org/drawingml/2006/main">
            <a:off x="952500" y="4810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≈1.000 g dry sample · CuSO₄ + K₂SO₄ + H₂SO₄ · 0.100 mol/L HCl · factor 5.83</a:t>
            </a:r>
          </a:p>
        </p:txBody>
      </p:sp>
      <p:sp>
        <p:nvSpPr>
          <p:cNvPr id="29" name="">
            <a:extLst xmlns:a="http://schemas.openxmlformats.org/drawingml/2006/main">
              <a:ext uri="{FF2B5EF4-FFF2-40B4-BE49-F238E27FC236}">
                <a16:creationId xmlns:a16="http://schemas.microsoft.com/office/drawing/2014/main" id="{1B743A0E-465C-495E-8C7E-4615E27489DA}"/>
              </a:ext>
            </a:extLst>
          </p:cNvPr>
          <p:cNvSpPr>
            <a:spLocks xmlns:a="http://schemas.openxmlformats.org/drawingml/2006/main" noGrp="1"/>
          </p:cNvSpPr>
          <p:nvPr/>
        </p:nvSpPr>
        <p:spPr>
          <a:xfrm xmlns:a="http://schemas.openxmlformats.org/drawingml/2006/main">
            <a:off x="2143125" y="5476875"/>
            <a:ext cx="7905750" cy="4572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i="0">
                <a:solidFill>
                  <a:srgbClr val="082C4C"/>
                </a:solidFill>
                <a:latin typeface="Arial"/>
                <a:ea typeface="Arial"/>
                <a:cs typeface="Arial"/>
              </a:defRPr>
            </a:pPr>
            <a:r>
              <a:rPr sz="1725" b="1" i="0">
                <a:solidFill>
                  <a:srgbClr val="082C4C"/>
                </a:solidFill>
                <a:latin typeface="Arial"/>
                <a:ea typeface="Arial"/>
                <a:cs typeface="Arial"/>
              </a:rPr>
              <a:t>This measured result replaced the previous 1% working assumption.</a:t>
            </a:r>
          </a:p>
        </p:txBody>
      </p:sp>
      <p:sp>
        <p:nvSpPr>
          <p:cNvPr id="30" name="">
            <a:extLst xmlns:a="http://schemas.openxmlformats.org/drawingml/2006/main">
              <a:ext uri="{FF2B5EF4-FFF2-40B4-BE49-F238E27FC236}">
                <a16:creationId xmlns:a16="http://schemas.microsoft.com/office/drawing/2014/main" id="{8BBE1AF9-E738-4CE6-BC39-DBD169E1B400}"/>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31" name="">
            <a:extLst xmlns:a="http://schemas.openxmlformats.org/drawingml/2006/main">
              <a:ext uri="{FF2B5EF4-FFF2-40B4-BE49-F238E27FC236}">
                <a16:creationId xmlns:a16="http://schemas.microsoft.com/office/drawing/2014/main" id="{8DE259FF-40CF-4494-B949-97F4BEB2658F}"/>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12</a:t>
            </a:r>
          </a:p>
        </p:txBody>
      </p:sp>
    </p:spTree>
    <p:extLst>
      <p:ext uri="{BB962C8B-B14F-4D97-AF65-F5344CB8AC3E}">
        <p14:creationId xmlns:p14="http://schemas.microsoft.com/office/powerpoint/2010/main" val="9817886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33E5A6E-C45B-443C-A576-D4A6CD9493D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9EB2B7-0A37-4834-BD09-2112366E9600}"/>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FORMULATION DESIGN</a:t>
            </a:r>
          </a:p>
        </p:txBody>
      </p:sp>
      <p:sp>
        <p:nvSpPr>
          <p:cNvPr id="3" name="">
            <a:extLst xmlns:a="http://schemas.openxmlformats.org/drawingml/2006/main">
              <a:ext uri="{FF2B5EF4-FFF2-40B4-BE49-F238E27FC236}">
                <a16:creationId xmlns:a16="http://schemas.microsoft.com/office/drawing/2014/main" id="{9DDE0369-599C-4989-8F96-F8FC6B440BBE}"/>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Final protein formulations</a:t>
            </a:r>
          </a:p>
        </p:txBody>
      </p:sp>
      <p:sp>
        <p:nvSpPr>
          <p:cNvPr id="4" name="">
            <a:extLst xmlns:a="http://schemas.openxmlformats.org/drawingml/2006/main">
              <a:ext uri="{FF2B5EF4-FFF2-40B4-BE49-F238E27FC236}">
                <a16:creationId xmlns:a16="http://schemas.microsoft.com/office/drawing/2014/main" id="{85FC341D-A937-4ED9-AFAC-0D32DF86789B}"/>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4B69D0DC-7A20-40B0-AEFD-1A9380C62033}"/>
              </a:ext>
            </a:extLst>
          </p:cNvPr>
          <p:cNvSpPr>
            <a:spLocks xmlns:a="http://schemas.openxmlformats.org/drawingml/2006/main" noGrp="1"/>
          </p:cNvSpPr>
          <p:nvPr/>
        </p:nvSpPr>
        <p:spPr>
          <a:xfrm xmlns:a="http://schemas.openxmlformats.org/drawingml/2006/main">
            <a:off x="1190625" y="13811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i="0">
                <a:solidFill>
                  <a:srgbClr val="082C4C"/>
                </a:solidFill>
                <a:latin typeface="Arial"/>
                <a:ea typeface="Arial"/>
                <a:cs typeface="Arial"/>
              </a:defRPr>
            </a:pPr>
            <a:r>
              <a:rPr sz="1725" b="1" i="0">
                <a:solidFill>
                  <a:srgbClr val="082C4C"/>
                </a:solidFill>
                <a:latin typeface="Arial"/>
                <a:ea typeface="Arial"/>
                <a:cs typeface="Arial"/>
              </a:rPr>
              <a:t>All enriched samples were designed for a closely matched theoretical protein level.</a:t>
            </a:r>
          </a:p>
        </p:txBody>
      </p:sp>
      <p:sp>
        <p:nvSpPr>
          <p:cNvPr id="6" name="">
            <a:extLst xmlns:a="http://schemas.openxmlformats.org/drawingml/2006/main">
              <a:ext uri="{FF2B5EF4-FFF2-40B4-BE49-F238E27FC236}">
                <a16:creationId xmlns:a16="http://schemas.microsoft.com/office/drawing/2014/main" id="{A3D961A6-32D0-44E8-9727-A7F8519C6194}"/>
              </a:ext>
            </a:extLst>
          </p:cNvPr>
          <p:cNvSpPr>
            <a:spLocks xmlns:a="http://schemas.openxmlformats.org/drawingml/2006/main" noGrp="1"/>
          </p:cNvSpPr>
          <p:nvPr/>
        </p:nvSpPr>
        <p:spPr>
          <a:xfrm xmlns:a="http://schemas.openxmlformats.org/drawingml/2006/main">
            <a:off x="8572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6F8F72"/>
            </a:solidFill>
          </a:ln>
        </p:spPr>
      </p:sp>
      <p:sp>
        <p:nvSpPr>
          <p:cNvPr id="7" name="">
            <a:extLst xmlns:a="http://schemas.openxmlformats.org/drawingml/2006/main">
              <a:ext uri="{FF2B5EF4-FFF2-40B4-BE49-F238E27FC236}">
                <a16:creationId xmlns:a16="http://schemas.microsoft.com/office/drawing/2014/main" id="{96503DA1-76A3-4DA0-8A5B-922BDDBA5AB8}"/>
              </a:ext>
            </a:extLst>
          </p:cNvPr>
          <p:cNvSpPr>
            <a:spLocks xmlns:a="http://schemas.openxmlformats.org/drawingml/2006/main" noGrp="1"/>
          </p:cNvSpPr>
          <p:nvPr/>
        </p:nvSpPr>
        <p:spPr>
          <a:xfrm xmlns:a="http://schemas.openxmlformats.org/drawingml/2006/main">
            <a:off x="895350" y="3333750"/>
            <a:ext cx="828675" cy="76200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BC6FDB9-327E-4F9C-B584-40BF09C828E1}"/>
              </a:ext>
            </a:extLst>
          </p:cNvPr>
          <p:cNvSpPr>
            <a:spLocks xmlns:a="http://schemas.openxmlformats.org/drawingml/2006/main" noGrp="1"/>
          </p:cNvSpPr>
          <p:nvPr/>
        </p:nvSpPr>
        <p:spPr>
          <a:xfrm xmlns:a="http://schemas.openxmlformats.org/drawingml/2006/main">
            <a:off x="5715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6F8F72"/>
                </a:solidFill>
                <a:latin typeface="Arial"/>
                <a:ea typeface="Arial"/>
                <a:cs typeface="Arial"/>
              </a:defRPr>
            </a:pPr>
            <a:r>
              <a:rPr sz="1500" b="1" i="0">
                <a:solidFill>
                  <a:srgbClr val="6F8F72"/>
                </a:solidFill>
                <a:latin typeface="Arial"/>
                <a:ea typeface="Arial"/>
                <a:cs typeface="Arial"/>
              </a:rPr>
              <a:t>156</a:t>
            </a:r>
          </a:p>
        </p:txBody>
      </p:sp>
      <p:sp>
        <p:nvSpPr>
          <p:cNvPr id="9" name="">
            <a:extLst xmlns:a="http://schemas.openxmlformats.org/drawingml/2006/main">
              <a:ext uri="{FF2B5EF4-FFF2-40B4-BE49-F238E27FC236}">
                <a16:creationId xmlns:a16="http://schemas.microsoft.com/office/drawing/2014/main" id="{A93902A5-2566-4F2E-AA8A-A039DC84B811}"/>
              </a:ext>
            </a:extLst>
          </p:cNvPr>
          <p:cNvSpPr>
            <a:spLocks xmlns:a="http://schemas.openxmlformats.org/drawingml/2006/main" noGrp="1"/>
          </p:cNvSpPr>
          <p:nvPr/>
        </p:nvSpPr>
        <p:spPr>
          <a:xfrm xmlns:a="http://schemas.openxmlformats.org/drawingml/2006/main">
            <a:off x="5715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Pea / Rice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50:50</a:t>
            </a:r>
          </a:p>
        </p:txBody>
      </p:sp>
      <p:sp>
        <p:nvSpPr>
          <p:cNvPr id="10" name="">
            <a:extLst xmlns:a="http://schemas.openxmlformats.org/drawingml/2006/main">
              <a:ext uri="{FF2B5EF4-FFF2-40B4-BE49-F238E27FC236}">
                <a16:creationId xmlns:a16="http://schemas.microsoft.com/office/drawing/2014/main" id="{0A7DBCA3-17AD-4C9C-B626-6F9AF84E09B9}"/>
              </a:ext>
            </a:extLst>
          </p:cNvPr>
          <p:cNvSpPr>
            <a:spLocks xmlns:a="http://schemas.openxmlformats.org/drawingml/2006/main" noGrp="1"/>
          </p:cNvSpPr>
          <p:nvPr/>
        </p:nvSpPr>
        <p:spPr>
          <a:xfrm xmlns:a="http://schemas.openxmlformats.org/drawingml/2006/main">
            <a:off x="5715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6F8F72"/>
                </a:solidFill>
                <a:latin typeface="Arial"/>
                <a:ea typeface="Arial"/>
                <a:cs typeface="Arial"/>
              </a:defRPr>
            </a:pPr>
            <a:r>
              <a:rPr sz="1350" b="1" i="0">
                <a:solidFill>
                  <a:srgbClr val="6F8F72"/>
                </a:solidFill>
                <a:latin typeface="Arial"/>
                <a:ea typeface="Arial"/>
                <a:cs typeface="Arial"/>
              </a:rPr>
              <a:t>4.85%</a:t>
            </a:r>
          </a:p>
        </p:txBody>
      </p:sp>
      <p:sp>
        <p:nvSpPr>
          <p:cNvPr id="11" name="">
            <a:extLst xmlns:a="http://schemas.openxmlformats.org/drawingml/2006/main">
              <a:ext uri="{FF2B5EF4-FFF2-40B4-BE49-F238E27FC236}">
                <a16:creationId xmlns:a16="http://schemas.microsoft.com/office/drawing/2014/main" id="{D70F0AA5-0577-46B9-9706-76BA3D6C70A4}"/>
              </a:ext>
            </a:extLst>
          </p:cNvPr>
          <p:cNvSpPr>
            <a:spLocks xmlns:a="http://schemas.openxmlformats.org/drawingml/2006/main" noGrp="1"/>
          </p:cNvSpPr>
          <p:nvPr/>
        </p:nvSpPr>
        <p:spPr>
          <a:xfrm xmlns:a="http://schemas.openxmlformats.org/drawingml/2006/main">
            <a:off x="247650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B5B8C"/>
            </a:solidFill>
          </a:ln>
        </p:spPr>
      </p:sp>
      <p:sp>
        <p:nvSpPr>
          <p:cNvPr id="12" name="">
            <a:extLst xmlns:a="http://schemas.openxmlformats.org/drawingml/2006/main">
              <a:ext uri="{FF2B5EF4-FFF2-40B4-BE49-F238E27FC236}">
                <a16:creationId xmlns:a16="http://schemas.microsoft.com/office/drawing/2014/main" id="{DD29C73D-3113-499A-835B-DE414F18AB60}"/>
              </a:ext>
            </a:extLst>
          </p:cNvPr>
          <p:cNvSpPr>
            <a:spLocks xmlns:a="http://schemas.openxmlformats.org/drawingml/2006/main" noGrp="1"/>
          </p:cNvSpPr>
          <p:nvPr/>
        </p:nvSpPr>
        <p:spPr>
          <a:xfrm xmlns:a="http://schemas.openxmlformats.org/drawingml/2006/main">
            <a:off x="2514600" y="3333750"/>
            <a:ext cx="828675" cy="762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CE0DC02-056C-4387-B587-05263F080F87}"/>
              </a:ext>
            </a:extLst>
          </p:cNvPr>
          <p:cNvSpPr>
            <a:spLocks xmlns:a="http://schemas.openxmlformats.org/drawingml/2006/main" noGrp="1"/>
          </p:cNvSpPr>
          <p:nvPr/>
        </p:nvSpPr>
        <p:spPr>
          <a:xfrm xmlns:a="http://schemas.openxmlformats.org/drawingml/2006/main">
            <a:off x="219075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B5B8C"/>
                </a:solidFill>
                <a:latin typeface="Arial"/>
                <a:ea typeface="Arial"/>
                <a:cs typeface="Arial"/>
              </a:defRPr>
            </a:pPr>
            <a:r>
              <a:rPr sz="1500" b="1" i="0">
                <a:solidFill>
                  <a:srgbClr val="0B5B8C"/>
                </a:solidFill>
                <a:latin typeface="Arial"/>
                <a:ea typeface="Arial"/>
                <a:cs typeface="Arial"/>
              </a:rPr>
              <a:t>235</a:t>
            </a:r>
          </a:p>
        </p:txBody>
      </p:sp>
      <p:sp>
        <p:nvSpPr>
          <p:cNvPr id="14" name="">
            <a:extLst xmlns:a="http://schemas.openxmlformats.org/drawingml/2006/main">
              <a:ext uri="{FF2B5EF4-FFF2-40B4-BE49-F238E27FC236}">
                <a16:creationId xmlns:a16="http://schemas.microsoft.com/office/drawing/2014/main" id="{4FB116CE-8553-4F73-8B35-5211BD6CC52E}"/>
              </a:ext>
            </a:extLst>
          </p:cNvPr>
          <p:cNvSpPr>
            <a:spLocks xmlns:a="http://schemas.openxmlformats.org/drawingml/2006/main" noGrp="1"/>
          </p:cNvSpPr>
          <p:nvPr/>
        </p:nvSpPr>
        <p:spPr>
          <a:xfrm xmlns:a="http://schemas.openxmlformats.org/drawingml/2006/main">
            <a:off x="219075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Pea / Soy</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50:50</a:t>
            </a:r>
          </a:p>
        </p:txBody>
      </p:sp>
      <p:sp>
        <p:nvSpPr>
          <p:cNvPr id="15" name="">
            <a:extLst xmlns:a="http://schemas.openxmlformats.org/drawingml/2006/main">
              <a:ext uri="{FF2B5EF4-FFF2-40B4-BE49-F238E27FC236}">
                <a16:creationId xmlns:a16="http://schemas.microsoft.com/office/drawing/2014/main" id="{753DCD74-0DED-4D92-96FB-253AC9FDA94E}"/>
              </a:ext>
            </a:extLst>
          </p:cNvPr>
          <p:cNvSpPr>
            <a:spLocks xmlns:a="http://schemas.openxmlformats.org/drawingml/2006/main" noGrp="1"/>
          </p:cNvSpPr>
          <p:nvPr/>
        </p:nvSpPr>
        <p:spPr>
          <a:xfrm xmlns:a="http://schemas.openxmlformats.org/drawingml/2006/main">
            <a:off x="219075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4.85%</a:t>
            </a:r>
          </a:p>
        </p:txBody>
      </p:sp>
      <p:sp>
        <p:nvSpPr>
          <p:cNvPr id="16" name="">
            <a:extLst xmlns:a="http://schemas.openxmlformats.org/drawingml/2006/main">
              <a:ext uri="{FF2B5EF4-FFF2-40B4-BE49-F238E27FC236}">
                <a16:creationId xmlns:a16="http://schemas.microsoft.com/office/drawing/2014/main" id="{6D070D41-D9DE-40F6-92F4-AA730BB6E2A0}"/>
              </a:ext>
            </a:extLst>
          </p:cNvPr>
          <p:cNvSpPr>
            <a:spLocks xmlns:a="http://schemas.openxmlformats.org/drawingml/2006/main" noGrp="1"/>
          </p:cNvSpPr>
          <p:nvPr/>
        </p:nvSpPr>
        <p:spPr>
          <a:xfrm xmlns:a="http://schemas.openxmlformats.org/drawingml/2006/main">
            <a:off x="40957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B5B8C"/>
            </a:solidFill>
          </a:ln>
        </p:spPr>
      </p:sp>
      <p:sp>
        <p:nvSpPr>
          <p:cNvPr id="17" name="">
            <a:extLst xmlns:a="http://schemas.openxmlformats.org/drawingml/2006/main">
              <a:ext uri="{FF2B5EF4-FFF2-40B4-BE49-F238E27FC236}">
                <a16:creationId xmlns:a16="http://schemas.microsoft.com/office/drawing/2014/main" id="{E701190E-BAA1-49EA-9608-6EE378D39175}"/>
              </a:ext>
            </a:extLst>
          </p:cNvPr>
          <p:cNvSpPr>
            <a:spLocks xmlns:a="http://schemas.openxmlformats.org/drawingml/2006/main" noGrp="1"/>
          </p:cNvSpPr>
          <p:nvPr/>
        </p:nvSpPr>
        <p:spPr>
          <a:xfrm xmlns:a="http://schemas.openxmlformats.org/drawingml/2006/main">
            <a:off x="4133850" y="3333750"/>
            <a:ext cx="828675" cy="762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E9A527-E82D-473D-B22B-7E146A7DA821}"/>
              </a:ext>
            </a:extLst>
          </p:cNvPr>
          <p:cNvSpPr>
            <a:spLocks xmlns:a="http://schemas.openxmlformats.org/drawingml/2006/main" noGrp="1"/>
          </p:cNvSpPr>
          <p:nvPr/>
        </p:nvSpPr>
        <p:spPr>
          <a:xfrm xmlns:a="http://schemas.openxmlformats.org/drawingml/2006/main">
            <a:off x="38100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B5B8C"/>
                </a:solidFill>
                <a:latin typeface="Arial"/>
                <a:ea typeface="Arial"/>
                <a:cs typeface="Arial"/>
              </a:defRPr>
            </a:pPr>
            <a:r>
              <a:rPr sz="1500" b="1" i="0">
                <a:solidFill>
                  <a:srgbClr val="0B5B8C"/>
                </a:solidFill>
                <a:latin typeface="Arial"/>
                <a:ea typeface="Arial"/>
                <a:cs typeface="Arial"/>
              </a:rPr>
              <a:t>320</a:t>
            </a:r>
          </a:p>
        </p:txBody>
      </p:sp>
      <p:sp>
        <p:nvSpPr>
          <p:cNvPr id="19" name="">
            <a:extLst xmlns:a="http://schemas.openxmlformats.org/drawingml/2006/main">
              <a:ext uri="{FF2B5EF4-FFF2-40B4-BE49-F238E27FC236}">
                <a16:creationId xmlns:a16="http://schemas.microsoft.com/office/drawing/2014/main" id="{5CBAFCA7-1CA3-42AE-9D40-F9558A632CF8}"/>
              </a:ext>
            </a:extLst>
          </p:cNvPr>
          <p:cNvSpPr>
            <a:spLocks xmlns:a="http://schemas.openxmlformats.org/drawingml/2006/main" noGrp="1"/>
          </p:cNvSpPr>
          <p:nvPr/>
        </p:nvSpPr>
        <p:spPr>
          <a:xfrm xmlns:a="http://schemas.openxmlformats.org/drawingml/2006/main">
            <a:off x="38100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Soy / Rice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50:50</a:t>
            </a:r>
          </a:p>
        </p:txBody>
      </p:sp>
      <p:sp>
        <p:nvSpPr>
          <p:cNvPr id="20" name="">
            <a:extLst xmlns:a="http://schemas.openxmlformats.org/drawingml/2006/main">
              <a:ext uri="{FF2B5EF4-FFF2-40B4-BE49-F238E27FC236}">
                <a16:creationId xmlns:a16="http://schemas.microsoft.com/office/drawing/2014/main" id="{A3D80E5E-8EC5-4FE2-9BED-CD08CF95E42A}"/>
              </a:ext>
            </a:extLst>
          </p:cNvPr>
          <p:cNvSpPr>
            <a:spLocks xmlns:a="http://schemas.openxmlformats.org/drawingml/2006/main" noGrp="1"/>
          </p:cNvSpPr>
          <p:nvPr/>
        </p:nvSpPr>
        <p:spPr>
          <a:xfrm xmlns:a="http://schemas.openxmlformats.org/drawingml/2006/main">
            <a:off x="38100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4.85%</a:t>
            </a:r>
          </a:p>
        </p:txBody>
      </p:sp>
      <p:sp>
        <p:nvSpPr>
          <p:cNvPr id="21" name="">
            <a:extLst xmlns:a="http://schemas.openxmlformats.org/drawingml/2006/main">
              <a:ext uri="{FF2B5EF4-FFF2-40B4-BE49-F238E27FC236}">
                <a16:creationId xmlns:a16="http://schemas.microsoft.com/office/drawing/2014/main" id="{578D4991-FAB7-4EC5-AA3A-85222459209C}"/>
              </a:ext>
            </a:extLst>
          </p:cNvPr>
          <p:cNvSpPr>
            <a:spLocks xmlns:a="http://schemas.openxmlformats.org/drawingml/2006/main" noGrp="1"/>
          </p:cNvSpPr>
          <p:nvPr/>
        </p:nvSpPr>
        <p:spPr>
          <a:xfrm xmlns:a="http://schemas.openxmlformats.org/drawingml/2006/main">
            <a:off x="571500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D8B77B"/>
            </a:solidFill>
          </a:ln>
        </p:spPr>
      </p:sp>
      <p:sp>
        <p:nvSpPr>
          <p:cNvPr id="22" name="">
            <a:extLst xmlns:a="http://schemas.openxmlformats.org/drawingml/2006/main">
              <a:ext uri="{FF2B5EF4-FFF2-40B4-BE49-F238E27FC236}">
                <a16:creationId xmlns:a16="http://schemas.microsoft.com/office/drawing/2014/main" id="{534520D6-32D1-41ED-BA1F-767944CC6251}"/>
              </a:ext>
            </a:extLst>
          </p:cNvPr>
          <p:cNvSpPr>
            <a:spLocks xmlns:a="http://schemas.openxmlformats.org/drawingml/2006/main" noGrp="1"/>
          </p:cNvSpPr>
          <p:nvPr/>
        </p:nvSpPr>
        <p:spPr>
          <a:xfrm xmlns:a="http://schemas.openxmlformats.org/drawingml/2006/main">
            <a:off x="5753100" y="3333750"/>
            <a:ext cx="828675" cy="76200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5B4D148-588E-4265-88FE-50E7A6D96222}"/>
              </a:ext>
            </a:extLst>
          </p:cNvPr>
          <p:cNvSpPr>
            <a:spLocks xmlns:a="http://schemas.openxmlformats.org/drawingml/2006/main" noGrp="1"/>
          </p:cNvSpPr>
          <p:nvPr/>
        </p:nvSpPr>
        <p:spPr>
          <a:xfrm xmlns:a="http://schemas.openxmlformats.org/drawingml/2006/main">
            <a:off x="542925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D8B77B"/>
                </a:solidFill>
                <a:latin typeface="Arial"/>
                <a:ea typeface="Arial"/>
                <a:cs typeface="Arial"/>
              </a:defRPr>
            </a:pPr>
            <a:r>
              <a:rPr sz="1500" b="1" i="0">
                <a:solidFill>
                  <a:srgbClr val="D8B77B"/>
                </a:solidFill>
                <a:latin typeface="Arial"/>
                <a:ea typeface="Arial"/>
                <a:cs typeface="Arial"/>
              </a:rPr>
              <a:t>473</a:t>
            </a:r>
          </a:p>
        </p:txBody>
      </p:sp>
      <p:sp>
        <p:nvSpPr>
          <p:cNvPr id="24" name="">
            <a:extLst xmlns:a="http://schemas.openxmlformats.org/drawingml/2006/main">
              <a:ext uri="{FF2B5EF4-FFF2-40B4-BE49-F238E27FC236}">
                <a16:creationId xmlns:a16="http://schemas.microsoft.com/office/drawing/2014/main" id="{98673826-05D8-4239-9E64-92A1AA72D155}"/>
              </a:ext>
            </a:extLst>
          </p:cNvPr>
          <p:cNvSpPr>
            <a:spLocks xmlns:a="http://schemas.openxmlformats.org/drawingml/2006/main" noGrp="1"/>
          </p:cNvSpPr>
          <p:nvPr/>
        </p:nvSpPr>
        <p:spPr>
          <a:xfrm xmlns:a="http://schemas.openxmlformats.org/drawingml/2006/main">
            <a:off x="542925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Rice</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100%</a:t>
            </a:r>
          </a:p>
        </p:txBody>
      </p:sp>
      <p:sp>
        <p:nvSpPr>
          <p:cNvPr id="25" name="">
            <a:extLst xmlns:a="http://schemas.openxmlformats.org/drawingml/2006/main">
              <a:ext uri="{FF2B5EF4-FFF2-40B4-BE49-F238E27FC236}">
                <a16:creationId xmlns:a16="http://schemas.microsoft.com/office/drawing/2014/main" id="{24DDAC27-EA26-4880-AF22-C25319E86D2C}"/>
              </a:ext>
            </a:extLst>
          </p:cNvPr>
          <p:cNvSpPr>
            <a:spLocks xmlns:a="http://schemas.openxmlformats.org/drawingml/2006/main" noGrp="1"/>
          </p:cNvSpPr>
          <p:nvPr/>
        </p:nvSpPr>
        <p:spPr>
          <a:xfrm xmlns:a="http://schemas.openxmlformats.org/drawingml/2006/main">
            <a:off x="542925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D8B77B"/>
                </a:solidFill>
                <a:latin typeface="Arial"/>
                <a:ea typeface="Arial"/>
                <a:cs typeface="Arial"/>
              </a:defRPr>
            </a:pPr>
            <a:r>
              <a:rPr sz="1350" b="1" i="0">
                <a:solidFill>
                  <a:srgbClr val="D8B77B"/>
                </a:solidFill>
                <a:latin typeface="Arial"/>
                <a:ea typeface="Arial"/>
                <a:cs typeface="Arial"/>
              </a:rPr>
              <a:t>4.85%</a:t>
            </a:r>
          </a:p>
        </p:txBody>
      </p:sp>
      <p:sp>
        <p:nvSpPr>
          <p:cNvPr id="26" name="">
            <a:extLst xmlns:a="http://schemas.openxmlformats.org/drawingml/2006/main">
              <a:ext uri="{FF2B5EF4-FFF2-40B4-BE49-F238E27FC236}">
                <a16:creationId xmlns:a16="http://schemas.microsoft.com/office/drawing/2014/main" id="{B08D8D62-E973-4702-9EE0-11FE9F3EA7DE}"/>
              </a:ext>
            </a:extLst>
          </p:cNvPr>
          <p:cNvSpPr>
            <a:spLocks xmlns:a="http://schemas.openxmlformats.org/drawingml/2006/main" noGrp="1"/>
          </p:cNvSpPr>
          <p:nvPr/>
        </p:nvSpPr>
        <p:spPr>
          <a:xfrm xmlns:a="http://schemas.openxmlformats.org/drawingml/2006/main">
            <a:off x="73342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B5B8C"/>
            </a:solidFill>
          </a:ln>
        </p:spPr>
      </p:sp>
      <p:sp>
        <p:nvSpPr>
          <p:cNvPr id="27" name="">
            <a:extLst xmlns:a="http://schemas.openxmlformats.org/drawingml/2006/main">
              <a:ext uri="{FF2B5EF4-FFF2-40B4-BE49-F238E27FC236}">
                <a16:creationId xmlns:a16="http://schemas.microsoft.com/office/drawing/2014/main" id="{67342284-0719-4229-AB83-98164A972BF2}"/>
              </a:ext>
            </a:extLst>
          </p:cNvPr>
          <p:cNvSpPr>
            <a:spLocks xmlns:a="http://schemas.openxmlformats.org/drawingml/2006/main" noGrp="1"/>
          </p:cNvSpPr>
          <p:nvPr/>
        </p:nvSpPr>
        <p:spPr>
          <a:xfrm xmlns:a="http://schemas.openxmlformats.org/drawingml/2006/main">
            <a:off x="7372350" y="3333750"/>
            <a:ext cx="828675" cy="762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C4984EF-7E27-4F9E-A602-0B39C8365990}"/>
              </a:ext>
            </a:extLst>
          </p:cNvPr>
          <p:cNvSpPr>
            <a:spLocks xmlns:a="http://schemas.openxmlformats.org/drawingml/2006/main" noGrp="1"/>
          </p:cNvSpPr>
          <p:nvPr/>
        </p:nvSpPr>
        <p:spPr>
          <a:xfrm xmlns:a="http://schemas.openxmlformats.org/drawingml/2006/main">
            <a:off x="70485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B5B8C"/>
                </a:solidFill>
                <a:latin typeface="Arial"/>
                <a:ea typeface="Arial"/>
                <a:cs typeface="Arial"/>
              </a:defRPr>
            </a:pPr>
            <a:r>
              <a:rPr sz="1500" b="1" i="0">
                <a:solidFill>
                  <a:srgbClr val="0B5B8C"/>
                </a:solidFill>
                <a:latin typeface="Arial"/>
                <a:ea typeface="Arial"/>
                <a:cs typeface="Arial"/>
              </a:rPr>
              <a:t>589</a:t>
            </a:r>
          </a:p>
        </p:txBody>
      </p:sp>
      <p:sp>
        <p:nvSpPr>
          <p:cNvPr id="29" name="">
            <a:extLst xmlns:a="http://schemas.openxmlformats.org/drawingml/2006/main">
              <a:ext uri="{FF2B5EF4-FFF2-40B4-BE49-F238E27FC236}">
                <a16:creationId xmlns:a16="http://schemas.microsoft.com/office/drawing/2014/main" id="{D658DCFC-706D-47CD-8E88-0C9AD4A5E1AF}"/>
              </a:ext>
            </a:extLst>
          </p:cNvPr>
          <p:cNvSpPr>
            <a:spLocks xmlns:a="http://schemas.openxmlformats.org/drawingml/2006/main" noGrp="1"/>
          </p:cNvSpPr>
          <p:nvPr/>
        </p:nvSpPr>
        <p:spPr>
          <a:xfrm xmlns:a="http://schemas.openxmlformats.org/drawingml/2006/main">
            <a:off x="70485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Soy</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372E56F8-C786-409A-A650-12BC6BF45046}"/>
              </a:ext>
            </a:extLst>
          </p:cNvPr>
          <p:cNvSpPr>
            <a:spLocks xmlns:a="http://schemas.openxmlformats.org/drawingml/2006/main" noGrp="1"/>
          </p:cNvSpPr>
          <p:nvPr/>
        </p:nvSpPr>
        <p:spPr>
          <a:xfrm xmlns:a="http://schemas.openxmlformats.org/drawingml/2006/main">
            <a:off x="70485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4.85%</a:t>
            </a:r>
          </a:p>
        </p:txBody>
      </p:sp>
      <p:sp>
        <p:nvSpPr>
          <p:cNvPr id="31" name="">
            <a:extLst xmlns:a="http://schemas.openxmlformats.org/drawingml/2006/main">
              <a:ext uri="{FF2B5EF4-FFF2-40B4-BE49-F238E27FC236}">
                <a16:creationId xmlns:a16="http://schemas.microsoft.com/office/drawing/2014/main" id="{BF369B5F-8D6A-4E7E-95AE-BBAF8C6B57FA}"/>
              </a:ext>
            </a:extLst>
          </p:cNvPr>
          <p:cNvSpPr>
            <a:spLocks xmlns:a="http://schemas.openxmlformats.org/drawingml/2006/main" noGrp="1"/>
          </p:cNvSpPr>
          <p:nvPr/>
        </p:nvSpPr>
        <p:spPr>
          <a:xfrm xmlns:a="http://schemas.openxmlformats.org/drawingml/2006/main">
            <a:off x="895350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82C4C"/>
            </a:solidFill>
          </a:ln>
        </p:spPr>
      </p:sp>
      <p:sp>
        <p:nvSpPr>
          <p:cNvPr id="32" name="">
            <a:extLst xmlns:a="http://schemas.openxmlformats.org/drawingml/2006/main">
              <a:ext uri="{FF2B5EF4-FFF2-40B4-BE49-F238E27FC236}">
                <a16:creationId xmlns:a16="http://schemas.microsoft.com/office/drawing/2014/main" id="{20599185-D9D3-4231-B6E7-6E5623C2B623}"/>
              </a:ext>
            </a:extLst>
          </p:cNvPr>
          <p:cNvSpPr>
            <a:spLocks xmlns:a="http://schemas.openxmlformats.org/drawingml/2006/main" noGrp="1"/>
          </p:cNvSpPr>
          <p:nvPr/>
        </p:nvSpPr>
        <p:spPr>
          <a:xfrm xmlns:a="http://schemas.openxmlformats.org/drawingml/2006/main">
            <a:off x="8991600" y="3333750"/>
            <a:ext cx="828675" cy="762000"/>
          </a:xfrm>
          <a:prstGeom xmlns:a="http://schemas.openxmlformats.org/drawingml/2006/main" prst="rect">
            <a:avLst/>
          </a:prstGeom>
          <a:solidFill xmlns:a="http://schemas.openxmlformats.org/drawingml/2006/main">
            <a:srgbClr val="082C4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AA497F7-CE93-4996-BEFB-55C63F8BD25D}"/>
              </a:ext>
            </a:extLst>
          </p:cNvPr>
          <p:cNvSpPr>
            <a:spLocks xmlns:a="http://schemas.openxmlformats.org/drawingml/2006/main" noGrp="1"/>
          </p:cNvSpPr>
          <p:nvPr/>
        </p:nvSpPr>
        <p:spPr>
          <a:xfrm xmlns:a="http://schemas.openxmlformats.org/drawingml/2006/main">
            <a:off x="866775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667</a:t>
            </a:r>
          </a:p>
        </p:txBody>
      </p:sp>
      <p:sp>
        <p:nvSpPr>
          <p:cNvPr id="34" name="">
            <a:extLst xmlns:a="http://schemas.openxmlformats.org/drawingml/2006/main">
              <a:ext uri="{FF2B5EF4-FFF2-40B4-BE49-F238E27FC236}">
                <a16:creationId xmlns:a16="http://schemas.microsoft.com/office/drawing/2014/main" id="{36BE44C0-C779-453B-97DF-2AE8BB8A38C8}"/>
              </a:ext>
            </a:extLst>
          </p:cNvPr>
          <p:cNvSpPr>
            <a:spLocks xmlns:a="http://schemas.openxmlformats.org/drawingml/2006/main" noGrp="1"/>
          </p:cNvSpPr>
          <p:nvPr/>
        </p:nvSpPr>
        <p:spPr>
          <a:xfrm xmlns:a="http://schemas.openxmlformats.org/drawingml/2006/main">
            <a:off x="866775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Control</a:t>
            </a:r>
          </a:p>
        </p:txBody>
      </p:sp>
      <p:sp>
        <p:nvSpPr>
          <p:cNvPr id="35" name="">
            <a:extLst xmlns:a="http://schemas.openxmlformats.org/drawingml/2006/main">
              <a:ext uri="{FF2B5EF4-FFF2-40B4-BE49-F238E27FC236}">
                <a16:creationId xmlns:a16="http://schemas.microsoft.com/office/drawing/2014/main" id="{9E21F565-DA81-4541-BF87-968D2E185524}"/>
              </a:ext>
            </a:extLst>
          </p:cNvPr>
          <p:cNvSpPr>
            <a:spLocks xmlns:a="http://schemas.openxmlformats.org/drawingml/2006/main" noGrp="1"/>
          </p:cNvSpPr>
          <p:nvPr/>
        </p:nvSpPr>
        <p:spPr>
          <a:xfrm xmlns:a="http://schemas.openxmlformats.org/drawingml/2006/main">
            <a:off x="866775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82C4C"/>
                </a:solidFill>
                <a:latin typeface="Arial"/>
                <a:ea typeface="Arial"/>
                <a:cs typeface="Arial"/>
              </a:defRPr>
            </a:pPr>
            <a:r>
              <a:rPr sz="1350" b="1" i="0">
                <a:solidFill>
                  <a:srgbClr val="082C4C"/>
                </a:solidFill>
                <a:latin typeface="Arial"/>
                <a:ea typeface="Arial"/>
                <a:cs typeface="Arial"/>
              </a:rPr>
              <a:t>2.39%</a:t>
            </a:r>
          </a:p>
        </p:txBody>
      </p:sp>
      <p:sp>
        <p:nvSpPr>
          <p:cNvPr id="36" name="">
            <a:extLst xmlns:a="http://schemas.openxmlformats.org/drawingml/2006/main">
              <a:ext uri="{FF2B5EF4-FFF2-40B4-BE49-F238E27FC236}">
                <a16:creationId xmlns:a16="http://schemas.microsoft.com/office/drawing/2014/main" id="{B39B66A9-BD27-44C0-A5A9-657594207710}"/>
              </a:ext>
            </a:extLst>
          </p:cNvPr>
          <p:cNvSpPr>
            <a:spLocks xmlns:a="http://schemas.openxmlformats.org/drawingml/2006/main" noGrp="1"/>
          </p:cNvSpPr>
          <p:nvPr/>
        </p:nvSpPr>
        <p:spPr>
          <a:xfrm xmlns:a="http://schemas.openxmlformats.org/drawingml/2006/main">
            <a:off x="10572750" y="2381250"/>
            <a:ext cx="904875" cy="1762125"/>
          </a:xfrm>
          <a:prstGeom xmlns:a="http://schemas.openxmlformats.org/drawingml/2006/main" prst="roundRect">
            <a:avLst>
              <a:gd name="adj" fmla="val 8421"/>
            </a:avLst>
          </a:prstGeom>
          <a:solidFill xmlns:a="http://schemas.openxmlformats.org/drawingml/2006/main">
            <a:srgbClr val="FDFBF7"/>
          </a:solidFill>
          <a:ln xmlns:a="http://schemas.openxmlformats.org/drawingml/2006/main" w="28575">
            <a:solidFill>
              <a:srgbClr val="00A9B7"/>
            </a:solidFill>
          </a:ln>
        </p:spPr>
      </p:sp>
      <p:sp>
        <p:nvSpPr>
          <p:cNvPr id="37" name="">
            <a:extLst xmlns:a="http://schemas.openxmlformats.org/drawingml/2006/main">
              <a:ext uri="{FF2B5EF4-FFF2-40B4-BE49-F238E27FC236}">
                <a16:creationId xmlns:a16="http://schemas.microsoft.com/office/drawing/2014/main" id="{28043AB6-38A2-413D-AB64-57096A4840F6}"/>
              </a:ext>
            </a:extLst>
          </p:cNvPr>
          <p:cNvSpPr>
            <a:spLocks xmlns:a="http://schemas.openxmlformats.org/drawingml/2006/main" noGrp="1"/>
          </p:cNvSpPr>
          <p:nvPr/>
        </p:nvSpPr>
        <p:spPr>
          <a:xfrm xmlns:a="http://schemas.openxmlformats.org/drawingml/2006/main">
            <a:off x="10610850" y="3333750"/>
            <a:ext cx="828675" cy="762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0680AE2-282F-4F06-902F-F463C69293AC}"/>
              </a:ext>
            </a:extLst>
          </p:cNvPr>
          <p:cNvSpPr>
            <a:spLocks xmlns:a="http://schemas.openxmlformats.org/drawingml/2006/main" noGrp="1"/>
          </p:cNvSpPr>
          <p:nvPr/>
        </p:nvSpPr>
        <p:spPr>
          <a:xfrm xmlns:a="http://schemas.openxmlformats.org/drawingml/2006/main">
            <a:off x="10287000" y="1952625"/>
            <a:ext cx="147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0A9B7"/>
                </a:solidFill>
                <a:latin typeface="Arial"/>
                <a:ea typeface="Arial"/>
                <a:cs typeface="Arial"/>
              </a:defRPr>
            </a:pPr>
            <a:r>
              <a:rPr sz="1500" b="1" i="0">
                <a:solidFill>
                  <a:srgbClr val="00A9B7"/>
                </a:solidFill>
                <a:latin typeface="Arial"/>
                <a:ea typeface="Arial"/>
                <a:cs typeface="Arial"/>
              </a:rPr>
              <a:t>798</a:t>
            </a:r>
          </a:p>
        </p:txBody>
      </p:sp>
      <p:sp>
        <p:nvSpPr>
          <p:cNvPr id="39" name="">
            <a:extLst xmlns:a="http://schemas.openxmlformats.org/drawingml/2006/main">
              <a:ext uri="{FF2B5EF4-FFF2-40B4-BE49-F238E27FC236}">
                <a16:creationId xmlns:a16="http://schemas.microsoft.com/office/drawing/2014/main" id="{9470813F-CBB0-4592-9A39-F86314B3F832}"/>
              </a:ext>
            </a:extLst>
          </p:cNvPr>
          <p:cNvSpPr>
            <a:spLocks xmlns:a="http://schemas.openxmlformats.org/drawingml/2006/main" noGrp="1"/>
          </p:cNvSpPr>
          <p:nvPr/>
        </p:nvSpPr>
        <p:spPr>
          <a:xfrm xmlns:a="http://schemas.openxmlformats.org/drawingml/2006/main">
            <a:off x="10287000" y="4305300"/>
            <a:ext cx="147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Soy / Rice / Pea</a:t>
            </a:r>
          </a:p>
          <a:p xmlns:a="http://schemas.openxmlformats.org/drawingml/2006/main">
            <a:pPr algn="ctr">
              <a:defRPr sz="1050" b="1" i="0">
                <a:solidFill>
                  <a:srgbClr val="173244"/>
                </a:solidFill>
                <a:latin typeface="Arial"/>
                <a:ea typeface="Arial"/>
                <a:cs typeface="Arial"/>
              </a:defRPr>
            </a:pPr>
            <a:r>
              <a:rPr sz="1050" b="1" i="0">
                <a:solidFill>
                  <a:srgbClr val="173244"/>
                </a:solidFill>
                <a:latin typeface="Arial"/>
                <a:ea typeface="Arial"/>
                <a:cs typeface="Arial"/>
              </a:rPr>
              <a:t>40:30:30</a:t>
            </a:r>
          </a:p>
        </p:txBody>
      </p:sp>
      <p:sp>
        <p:nvSpPr>
          <p:cNvPr id="40" name="">
            <a:extLst xmlns:a="http://schemas.openxmlformats.org/drawingml/2006/main">
              <a:ext uri="{FF2B5EF4-FFF2-40B4-BE49-F238E27FC236}">
                <a16:creationId xmlns:a16="http://schemas.microsoft.com/office/drawing/2014/main" id="{89BDA0D0-F587-4AD1-94D9-F81B2373BF69}"/>
              </a:ext>
            </a:extLst>
          </p:cNvPr>
          <p:cNvSpPr>
            <a:spLocks xmlns:a="http://schemas.openxmlformats.org/drawingml/2006/main" noGrp="1"/>
          </p:cNvSpPr>
          <p:nvPr/>
        </p:nvSpPr>
        <p:spPr>
          <a:xfrm xmlns:a="http://schemas.openxmlformats.org/drawingml/2006/main">
            <a:off x="10287000" y="4972050"/>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0A9B7"/>
                </a:solidFill>
                <a:latin typeface="Arial"/>
                <a:ea typeface="Arial"/>
                <a:cs typeface="Arial"/>
              </a:defRPr>
            </a:pPr>
            <a:r>
              <a:rPr sz="1350" b="1" i="0">
                <a:solidFill>
                  <a:srgbClr val="00A9B7"/>
                </a:solidFill>
                <a:latin typeface="Arial"/>
                <a:ea typeface="Arial"/>
                <a:cs typeface="Arial"/>
              </a:rPr>
              <a:t>4.85%</a:t>
            </a:r>
          </a:p>
        </p:txBody>
      </p:sp>
      <p:sp>
        <p:nvSpPr>
          <p:cNvPr id="41" name="">
            <a:extLst xmlns:a="http://schemas.openxmlformats.org/drawingml/2006/main">
              <a:ext uri="{FF2B5EF4-FFF2-40B4-BE49-F238E27FC236}">
                <a16:creationId xmlns:a16="http://schemas.microsoft.com/office/drawing/2014/main" id="{2A4DC889-5837-42FF-A607-D1F3DCD8302D}"/>
              </a:ext>
            </a:extLst>
          </p:cNvPr>
          <p:cNvSpPr>
            <a:spLocks xmlns:a="http://schemas.openxmlformats.org/drawingml/2006/main" noGrp="1"/>
          </p:cNvSpPr>
          <p:nvPr/>
        </p:nvSpPr>
        <p:spPr>
          <a:xfrm xmlns:a="http://schemas.openxmlformats.org/drawingml/2006/main">
            <a:off x="1047750" y="5572125"/>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Calculated estimates based on measured base protein, added powder mass and declared powder protein content.</a:t>
            </a:r>
          </a:p>
        </p:txBody>
      </p:sp>
      <p:sp>
        <p:nvSpPr>
          <p:cNvPr id="42" name="">
            <a:extLst xmlns:a="http://schemas.openxmlformats.org/drawingml/2006/main">
              <a:ext uri="{FF2B5EF4-FFF2-40B4-BE49-F238E27FC236}">
                <a16:creationId xmlns:a16="http://schemas.microsoft.com/office/drawing/2014/main" id="{96AD638B-14B3-4788-816E-C46E1633330D}"/>
              </a:ext>
            </a:extLst>
          </p:cNvPr>
          <p:cNvSpPr>
            <a:spLocks xmlns:a="http://schemas.openxmlformats.org/drawingml/2006/main" noGrp="1"/>
          </p:cNvSpPr>
          <p:nvPr/>
        </p:nvSpPr>
        <p:spPr>
          <a:xfrm xmlns:a="http://schemas.openxmlformats.org/drawingml/2006/main">
            <a:off x="1619250" y="595312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B64A50"/>
                </a:solidFill>
                <a:latin typeface="Arial"/>
                <a:ea typeface="Arial"/>
                <a:cs typeface="Arial"/>
              </a:defRPr>
            </a:pPr>
            <a:r>
              <a:rPr sz="1050" b="1" i="0">
                <a:solidFill>
                  <a:srgbClr val="B64A50"/>
                </a:solidFill>
                <a:latin typeface="Arial"/>
                <a:ea typeface="Arial"/>
                <a:cs typeface="Arial"/>
              </a:rPr>
              <a:t>Soy 90% · Rice 80% · Pea 80% · Enriched products were not directly reanalysed by Kjeldahl</a:t>
            </a:r>
          </a:p>
        </p:txBody>
      </p:sp>
      <p:sp>
        <p:nvSpPr>
          <p:cNvPr id="43" name="">
            <a:extLst xmlns:a="http://schemas.openxmlformats.org/drawingml/2006/main">
              <a:ext uri="{FF2B5EF4-FFF2-40B4-BE49-F238E27FC236}">
                <a16:creationId xmlns:a16="http://schemas.microsoft.com/office/drawing/2014/main" id="{2D3C21B0-80E9-4B8F-A0DF-D1FC54B1F4C7}"/>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44" name="">
            <a:extLst xmlns:a="http://schemas.openxmlformats.org/drawingml/2006/main">
              <a:ext uri="{FF2B5EF4-FFF2-40B4-BE49-F238E27FC236}">
                <a16:creationId xmlns:a16="http://schemas.microsoft.com/office/drawing/2014/main" id="{57125CAF-F1FE-49B5-9329-9EF97E534379}"/>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13</a:t>
            </a:r>
          </a:p>
        </p:txBody>
      </p:sp>
    </p:spTree>
    <p:extLst>
      <p:ext uri="{BB962C8B-B14F-4D97-AF65-F5344CB8AC3E}">
        <p14:creationId xmlns:p14="http://schemas.microsoft.com/office/powerpoint/2010/main" val="6399899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36396F3-C6AA-444C-9C1C-6D1EBCBD6B1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2D84BD-782B-44A5-8C75-AB6EB06299D5}"/>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SENSORY EVALUATION</a:t>
            </a:r>
          </a:p>
        </p:txBody>
      </p:sp>
      <p:sp>
        <p:nvSpPr>
          <p:cNvPr id="3" name="">
            <a:extLst xmlns:a="http://schemas.openxmlformats.org/drawingml/2006/main">
              <a:ext uri="{FF2B5EF4-FFF2-40B4-BE49-F238E27FC236}">
                <a16:creationId xmlns:a16="http://schemas.microsoft.com/office/drawing/2014/main" id="{B3765C75-8FCE-4FDD-BBA5-64EB622D722D}"/>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Sensory test design</a:t>
            </a:r>
          </a:p>
        </p:txBody>
      </p:sp>
      <p:sp>
        <p:nvSpPr>
          <p:cNvPr id="4" name="">
            <a:extLst xmlns:a="http://schemas.openxmlformats.org/drawingml/2006/main">
              <a:ext uri="{FF2B5EF4-FFF2-40B4-BE49-F238E27FC236}">
                <a16:creationId xmlns:a16="http://schemas.microsoft.com/office/drawing/2014/main" id="{D3E9B927-520B-4482-BF1E-22B45F37947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F982A42E-48F2-4C14-AFDD-6573C8E50303}"/>
              </a:ext>
            </a:extLst>
          </p:cNvPr>
          <p:cNvSpPr>
            <a:spLocks xmlns:a="http://schemas.openxmlformats.org/drawingml/2006/main" noGrp="1"/>
          </p:cNvSpPr>
          <p:nvPr/>
        </p:nvSpPr>
        <p:spPr>
          <a:xfrm xmlns:a="http://schemas.openxmlformats.org/drawingml/2006/main">
            <a:off x="666750" y="152400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lgn="l">
              <a:defRPr sz="3600" b="1" i="0">
                <a:solidFill>
                  <a:srgbClr val="082C4C"/>
                </a:solidFill>
                <a:latin typeface="Arial"/>
                <a:ea typeface="Arial"/>
                <a:cs typeface="Arial"/>
              </a:defRPr>
            </a:pPr>
            <a:r>
              <a:rPr sz="3600" b="1" i="0">
                <a:solidFill>
                  <a:srgbClr val="082C4C"/>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252AB527-AE7F-4BD6-8E93-D3D524692B68}"/>
              </a:ext>
            </a:extLst>
          </p:cNvPr>
          <p:cNvSpPr>
            <a:spLocks xmlns:a="http://schemas.openxmlformats.org/drawingml/2006/main" noGrp="1"/>
          </p:cNvSpPr>
          <p:nvPr/>
        </p:nvSpPr>
        <p:spPr>
          <a:xfrm xmlns:a="http://schemas.openxmlformats.org/drawingml/2006/main">
            <a:off x="666750" y="201930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participants</a:t>
            </a:r>
          </a:p>
        </p:txBody>
      </p:sp>
      <p:sp>
        <p:nvSpPr>
          <p:cNvPr id="7" name="">
            <a:extLst xmlns:a="http://schemas.openxmlformats.org/drawingml/2006/main">
              <a:ext uri="{FF2B5EF4-FFF2-40B4-BE49-F238E27FC236}">
                <a16:creationId xmlns:a16="http://schemas.microsoft.com/office/drawing/2014/main" id="{59543457-62ED-4AF0-BE48-E844A5855589}"/>
              </a:ext>
            </a:extLst>
          </p:cNvPr>
          <p:cNvSpPr>
            <a:spLocks xmlns:a="http://schemas.openxmlformats.org/drawingml/2006/main" noGrp="1"/>
          </p:cNvSpPr>
          <p:nvPr/>
        </p:nvSpPr>
        <p:spPr>
          <a:xfrm xmlns:a="http://schemas.openxmlformats.org/drawingml/2006/main">
            <a:off x="2571750" y="152400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lgn="l">
              <a:defRPr sz="3600" b="1" i="0">
                <a:solidFill>
                  <a:srgbClr val="0B5B8C"/>
                </a:solidFill>
                <a:latin typeface="Arial"/>
                <a:ea typeface="Arial"/>
                <a:cs typeface="Arial"/>
              </a:defRPr>
            </a:pPr>
            <a:r>
              <a:rPr sz="3600" b="1" i="0">
                <a:solidFill>
                  <a:srgbClr val="0B5B8C"/>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123A30FA-1E66-420B-9AF0-06100673876A}"/>
              </a:ext>
            </a:extLst>
          </p:cNvPr>
          <p:cNvSpPr>
            <a:spLocks xmlns:a="http://schemas.openxmlformats.org/drawingml/2006/main" noGrp="1"/>
          </p:cNvSpPr>
          <p:nvPr/>
        </p:nvSpPr>
        <p:spPr>
          <a:xfrm xmlns:a="http://schemas.openxmlformats.org/drawingml/2006/main">
            <a:off x="2571750" y="201930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coded samples</a:t>
            </a:r>
          </a:p>
        </p:txBody>
      </p:sp>
      <p:sp>
        <p:nvSpPr>
          <p:cNvPr id="9" name="">
            <a:extLst xmlns:a="http://schemas.openxmlformats.org/drawingml/2006/main">
              <a:ext uri="{FF2B5EF4-FFF2-40B4-BE49-F238E27FC236}">
                <a16:creationId xmlns:a16="http://schemas.microsoft.com/office/drawing/2014/main" id="{2B99943D-A2DA-495A-925F-3F7279B704D8}"/>
              </a:ext>
            </a:extLst>
          </p:cNvPr>
          <p:cNvSpPr>
            <a:spLocks xmlns:a="http://schemas.openxmlformats.org/drawingml/2006/main" noGrp="1"/>
          </p:cNvSpPr>
          <p:nvPr/>
        </p:nvSpPr>
        <p:spPr>
          <a:xfrm xmlns:a="http://schemas.openxmlformats.org/drawingml/2006/main">
            <a:off x="4476750" y="15240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3150" b="1" i="0">
                <a:solidFill>
                  <a:srgbClr val="00A9B7"/>
                </a:solidFill>
                <a:latin typeface="Arial"/>
                <a:ea typeface="Arial"/>
                <a:cs typeface="Arial"/>
              </a:defRPr>
            </a:pPr>
            <a:r>
              <a:rPr sz="3150" b="1" i="0">
                <a:solidFill>
                  <a:srgbClr val="00A9B7"/>
                </a:solidFill>
                <a:latin typeface="Arial"/>
                <a:ea typeface="Arial"/>
                <a:cs typeface="Arial"/>
              </a:rPr>
              <a:t>10 mL</a:t>
            </a:r>
          </a:p>
        </p:txBody>
      </p:sp>
      <p:sp>
        <p:nvSpPr>
          <p:cNvPr id="10" name="">
            <a:extLst xmlns:a="http://schemas.openxmlformats.org/drawingml/2006/main">
              <a:ext uri="{FF2B5EF4-FFF2-40B4-BE49-F238E27FC236}">
                <a16:creationId xmlns:a16="http://schemas.microsoft.com/office/drawing/2014/main" id="{97AA54CD-D475-40F5-9C21-7A68DEF506EA}"/>
              </a:ext>
            </a:extLst>
          </p:cNvPr>
          <p:cNvSpPr>
            <a:spLocks xmlns:a="http://schemas.openxmlformats.org/drawingml/2006/main" noGrp="1"/>
          </p:cNvSpPr>
          <p:nvPr/>
        </p:nvSpPr>
        <p:spPr>
          <a:xfrm xmlns:a="http://schemas.openxmlformats.org/drawingml/2006/main">
            <a:off x="4476750" y="20193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per sample, served cold</a:t>
            </a:r>
          </a:p>
        </p:txBody>
      </p:sp>
      <p:sp>
        <p:nvSpPr>
          <p:cNvPr id="11" name="">
            <a:extLst xmlns:a="http://schemas.openxmlformats.org/drawingml/2006/main">
              <a:ext uri="{FF2B5EF4-FFF2-40B4-BE49-F238E27FC236}">
                <a16:creationId xmlns:a16="http://schemas.microsoft.com/office/drawing/2014/main" id="{40CB4EB2-EDF0-4F5C-87BC-C54BFA852090}"/>
              </a:ext>
            </a:extLst>
          </p:cNvPr>
          <p:cNvSpPr>
            <a:spLocks xmlns:a="http://schemas.openxmlformats.org/drawingml/2006/main" noGrp="1"/>
          </p:cNvSpPr>
          <p:nvPr/>
        </p:nvSpPr>
        <p:spPr>
          <a:xfrm xmlns:a="http://schemas.openxmlformats.org/drawingml/2006/main">
            <a:off x="6953250" y="15240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3150" b="1" i="0">
                <a:solidFill>
                  <a:srgbClr val="6F8F72"/>
                </a:solidFill>
                <a:latin typeface="Arial"/>
                <a:ea typeface="Arial"/>
                <a:cs typeface="Arial"/>
              </a:defRPr>
            </a:pPr>
            <a:r>
              <a:rPr sz="3150" b="1" i="0">
                <a:solidFill>
                  <a:srgbClr val="6F8F72"/>
                </a:solidFill>
                <a:latin typeface="Arial"/>
                <a:ea typeface="Arial"/>
                <a:cs typeface="Arial"/>
              </a:rPr>
              <a:t>24 Aug</a:t>
            </a:r>
          </a:p>
        </p:txBody>
      </p:sp>
      <p:sp>
        <p:nvSpPr>
          <p:cNvPr id="12" name="">
            <a:extLst xmlns:a="http://schemas.openxmlformats.org/drawingml/2006/main">
              <a:ext uri="{FF2B5EF4-FFF2-40B4-BE49-F238E27FC236}">
                <a16:creationId xmlns:a16="http://schemas.microsoft.com/office/drawing/2014/main" id="{C6D86661-9088-4F3C-89B7-69C4C097D0A6}"/>
              </a:ext>
            </a:extLst>
          </p:cNvPr>
          <p:cNvSpPr>
            <a:spLocks xmlns:a="http://schemas.openxmlformats.org/drawingml/2006/main" noGrp="1"/>
          </p:cNvSpPr>
          <p:nvPr/>
        </p:nvSpPr>
        <p:spPr>
          <a:xfrm xmlns:a="http://schemas.openxmlformats.org/drawingml/2006/main">
            <a:off x="6953250" y="20193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AUT Food Lab</a:t>
            </a:r>
          </a:p>
        </p:txBody>
      </p:sp>
      <p:sp>
        <p:nvSpPr>
          <p:cNvPr id="13" name="">
            <a:extLst xmlns:a="http://schemas.openxmlformats.org/drawingml/2006/main">
              <a:ext uri="{FF2B5EF4-FFF2-40B4-BE49-F238E27FC236}">
                <a16:creationId xmlns:a16="http://schemas.microsoft.com/office/drawing/2014/main" id="{DDC31151-6D98-442A-B2F8-DB9E1748C31C}"/>
              </a:ext>
            </a:extLst>
          </p:cNvPr>
          <p:cNvSpPr>
            <a:spLocks xmlns:a="http://schemas.openxmlformats.org/drawingml/2006/main" noGrp="1"/>
          </p:cNvSpPr>
          <p:nvPr/>
        </p:nvSpPr>
        <p:spPr>
          <a:xfrm xmlns:a="http://schemas.openxmlformats.org/drawingml/2006/main">
            <a:off x="9429750" y="1666875"/>
            <a:ext cx="2095500" cy="59055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082C4C"/>
                </a:solidFill>
                <a:latin typeface="Arial"/>
                <a:ea typeface="Arial"/>
                <a:cs typeface="Arial"/>
              </a:defRPr>
            </a:pPr>
            <a:r>
              <a:rPr sz="1425" b="1" i="0">
                <a:solidFill>
                  <a:srgbClr val="082C4C"/>
                </a:solidFill>
                <a:latin typeface="Arial"/>
                <a:ea typeface="Arial"/>
                <a:cs typeface="Arial"/>
              </a:rPr>
              <a:t>Randomised order in Qualtrics</a:t>
            </a:r>
          </a:p>
        </p:txBody>
      </p:sp>
      <p:sp>
        <p:nvSpPr>
          <p:cNvPr id="14" name="">
            <a:extLst xmlns:a="http://schemas.openxmlformats.org/drawingml/2006/main">
              <a:ext uri="{FF2B5EF4-FFF2-40B4-BE49-F238E27FC236}">
                <a16:creationId xmlns:a16="http://schemas.microsoft.com/office/drawing/2014/main" id="{2F7DBBC9-3055-46FF-AB93-569DF062F44D}"/>
              </a:ext>
            </a:extLst>
          </p:cNvPr>
          <p:cNvSpPr>
            <a:spLocks xmlns:a="http://schemas.openxmlformats.org/drawingml/2006/main" noGrp="1"/>
          </p:cNvSpPr>
          <p:nvPr/>
        </p:nvSpPr>
        <p:spPr>
          <a:xfrm xmlns:a="http://schemas.openxmlformats.org/drawingml/2006/main">
            <a:off x="1285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89D051-B1DB-450E-ACE3-57674CE85415}"/>
              </a:ext>
            </a:extLst>
          </p:cNvPr>
          <p:cNvSpPr>
            <a:spLocks xmlns:a="http://schemas.openxmlformats.org/drawingml/2006/main" noGrp="1"/>
          </p:cNvSpPr>
          <p:nvPr/>
        </p:nvSpPr>
        <p:spPr>
          <a:xfrm xmlns:a="http://schemas.openxmlformats.org/drawingml/2006/main">
            <a:off x="1285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50CC7BD5-BCC0-49CE-95F0-3DA29F53CA3B}"/>
              </a:ext>
            </a:extLst>
          </p:cNvPr>
          <p:cNvSpPr>
            <a:spLocks xmlns:a="http://schemas.openxmlformats.org/drawingml/2006/main" noGrp="1"/>
          </p:cNvSpPr>
          <p:nvPr/>
        </p:nvSpPr>
        <p:spPr>
          <a:xfrm xmlns:a="http://schemas.openxmlformats.org/drawingml/2006/main">
            <a:off x="619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Receive coded sample</a:t>
            </a:r>
          </a:p>
        </p:txBody>
      </p:sp>
      <p:sp>
        <p:nvSpPr>
          <p:cNvPr id="17" name="">
            <a:extLst xmlns:a="http://schemas.openxmlformats.org/drawingml/2006/main">
              <a:ext uri="{FF2B5EF4-FFF2-40B4-BE49-F238E27FC236}">
                <a16:creationId xmlns:a16="http://schemas.microsoft.com/office/drawing/2014/main" id="{51D90EDA-13E4-475D-8C6A-5274D392E054}"/>
              </a:ext>
            </a:extLst>
          </p:cNvPr>
          <p:cNvSpPr>
            <a:spLocks xmlns:a="http://schemas.openxmlformats.org/drawingml/2006/main" noGrp="1"/>
          </p:cNvSpPr>
          <p:nvPr/>
        </p:nvSpPr>
        <p:spPr>
          <a:xfrm xmlns:a="http://schemas.openxmlformats.org/drawingml/2006/main">
            <a:off x="2486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18" name="">
            <a:extLst xmlns:a="http://schemas.openxmlformats.org/drawingml/2006/main">
              <a:ext uri="{FF2B5EF4-FFF2-40B4-BE49-F238E27FC236}">
                <a16:creationId xmlns:a16="http://schemas.microsoft.com/office/drawing/2014/main" id="{35A08510-D72A-4B35-9FA8-BF20D1DF7E58}"/>
              </a:ext>
            </a:extLst>
          </p:cNvPr>
          <p:cNvSpPr>
            <a:spLocks xmlns:a="http://schemas.openxmlformats.org/drawingml/2006/main" noGrp="1"/>
          </p:cNvSpPr>
          <p:nvPr/>
        </p:nvSpPr>
        <p:spPr>
          <a:xfrm xmlns:a="http://schemas.openxmlformats.org/drawingml/2006/main">
            <a:off x="2752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20BF938-E461-480D-9900-E7D817CB380B}"/>
              </a:ext>
            </a:extLst>
          </p:cNvPr>
          <p:cNvSpPr>
            <a:spLocks xmlns:a="http://schemas.openxmlformats.org/drawingml/2006/main" noGrp="1"/>
          </p:cNvSpPr>
          <p:nvPr/>
        </p:nvSpPr>
        <p:spPr>
          <a:xfrm xmlns:a="http://schemas.openxmlformats.org/drawingml/2006/main">
            <a:off x="3571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C6CF3B8-7E62-4550-899A-7829DE3CBE8A}"/>
              </a:ext>
            </a:extLst>
          </p:cNvPr>
          <p:cNvSpPr>
            <a:spLocks xmlns:a="http://schemas.openxmlformats.org/drawingml/2006/main" noGrp="1"/>
          </p:cNvSpPr>
          <p:nvPr/>
        </p:nvSpPr>
        <p:spPr>
          <a:xfrm xmlns:a="http://schemas.openxmlformats.org/drawingml/2006/main">
            <a:off x="3571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41909E02-7FDE-4915-96F6-1C14B4439EAE}"/>
              </a:ext>
            </a:extLst>
          </p:cNvPr>
          <p:cNvSpPr>
            <a:spLocks xmlns:a="http://schemas.openxmlformats.org/drawingml/2006/main" noGrp="1"/>
          </p:cNvSpPr>
          <p:nvPr/>
        </p:nvSpPr>
        <p:spPr>
          <a:xfrm xmlns:a="http://schemas.openxmlformats.org/drawingml/2006/main">
            <a:off x="2905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Taste</a:t>
            </a:r>
          </a:p>
        </p:txBody>
      </p:sp>
      <p:sp>
        <p:nvSpPr>
          <p:cNvPr id="22" name="">
            <a:extLst xmlns:a="http://schemas.openxmlformats.org/drawingml/2006/main">
              <a:ext uri="{FF2B5EF4-FFF2-40B4-BE49-F238E27FC236}">
                <a16:creationId xmlns:a16="http://schemas.microsoft.com/office/drawing/2014/main" id="{5A6131D7-607A-4EF9-A40B-F6B0FEDF617D}"/>
              </a:ext>
            </a:extLst>
          </p:cNvPr>
          <p:cNvSpPr>
            <a:spLocks xmlns:a="http://schemas.openxmlformats.org/drawingml/2006/main" noGrp="1"/>
          </p:cNvSpPr>
          <p:nvPr/>
        </p:nvSpPr>
        <p:spPr>
          <a:xfrm xmlns:a="http://schemas.openxmlformats.org/drawingml/2006/main">
            <a:off x="4772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3" name="">
            <a:extLst xmlns:a="http://schemas.openxmlformats.org/drawingml/2006/main">
              <a:ext uri="{FF2B5EF4-FFF2-40B4-BE49-F238E27FC236}">
                <a16:creationId xmlns:a16="http://schemas.microsoft.com/office/drawing/2014/main" id="{B89E0429-3A19-4BD0-9A9B-08C062B27FBB}"/>
              </a:ext>
            </a:extLst>
          </p:cNvPr>
          <p:cNvSpPr>
            <a:spLocks xmlns:a="http://schemas.openxmlformats.org/drawingml/2006/main" noGrp="1"/>
          </p:cNvSpPr>
          <p:nvPr/>
        </p:nvSpPr>
        <p:spPr>
          <a:xfrm xmlns:a="http://schemas.openxmlformats.org/drawingml/2006/main">
            <a:off x="5038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D5937CC-440F-4B30-908B-7A28656F8F01}"/>
              </a:ext>
            </a:extLst>
          </p:cNvPr>
          <p:cNvSpPr>
            <a:spLocks xmlns:a="http://schemas.openxmlformats.org/drawingml/2006/main" noGrp="1"/>
          </p:cNvSpPr>
          <p:nvPr/>
        </p:nvSpPr>
        <p:spPr>
          <a:xfrm xmlns:a="http://schemas.openxmlformats.org/drawingml/2006/main">
            <a:off x="5857875" y="3190875"/>
            <a:ext cx="514350" cy="514350"/>
          </a:xfrm>
          <a:prstGeom xmlns:a="http://schemas.openxmlformats.org/drawingml/2006/main" prst="ellipse">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833C567-7876-4C05-B88E-10F3A10E69EA}"/>
              </a:ext>
            </a:extLst>
          </p:cNvPr>
          <p:cNvSpPr>
            <a:spLocks xmlns:a="http://schemas.openxmlformats.org/drawingml/2006/main" noGrp="1"/>
          </p:cNvSpPr>
          <p:nvPr/>
        </p:nvSpPr>
        <p:spPr>
          <a:xfrm xmlns:a="http://schemas.openxmlformats.org/drawingml/2006/main">
            <a:off x="5857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0653CEB1-CF3A-4294-AAC5-297DCFFED35B}"/>
              </a:ext>
            </a:extLst>
          </p:cNvPr>
          <p:cNvSpPr>
            <a:spLocks xmlns:a="http://schemas.openxmlformats.org/drawingml/2006/main" noGrp="1"/>
          </p:cNvSpPr>
          <p:nvPr/>
        </p:nvSpPr>
        <p:spPr>
          <a:xfrm xmlns:a="http://schemas.openxmlformats.org/drawingml/2006/main">
            <a:off x="5191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Rate in Qualtrics</a:t>
            </a:r>
          </a:p>
        </p:txBody>
      </p:sp>
      <p:sp>
        <p:nvSpPr>
          <p:cNvPr id="27" name="">
            <a:extLst xmlns:a="http://schemas.openxmlformats.org/drawingml/2006/main">
              <a:ext uri="{FF2B5EF4-FFF2-40B4-BE49-F238E27FC236}">
                <a16:creationId xmlns:a16="http://schemas.microsoft.com/office/drawing/2014/main" id="{AB46E671-5589-49AD-847B-4E810EA8917A}"/>
              </a:ext>
            </a:extLst>
          </p:cNvPr>
          <p:cNvSpPr>
            <a:spLocks xmlns:a="http://schemas.openxmlformats.org/drawingml/2006/main" noGrp="1"/>
          </p:cNvSpPr>
          <p:nvPr/>
        </p:nvSpPr>
        <p:spPr>
          <a:xfrm xmlns:a="http://schemas.openxmlformats.org/drawingml/2006/main">
            <a:off x="7058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28" name="">
            <a:extLst xmlns:a="http://schemas.openxmlformats.org/drawingml/2006/main">
              <a:ext uri="{FF2B5EF4-FFF2-40B4-BE49-F238E27FC236}">
                <a16:creationId xmlns:a16="http://schemas.microsoft.com/office/drawing/2014/main" id="{52A62575-F19F-47C8-BE82-52E4AF944AD5}"/>
              </a:ext>
            </a:extLst>
          </p:cNvPr>
          <p:cNvSpPr>
            <a:spLocks xmlns:a="http://schemas.openxmlformats.org/drawingml/2006/main" noGrp="1"/>
          </p:cNvSpPr>
          <p:nvPr/>
        </p:nvSpPr>
        <p:spPr>
          <a:xfrm xmlns:a="http://schemas.openxmlformats.org/drawingml/2006/main">
            <a:off x="7324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94ECA86-707D-4048-8620-FEE5B1CC54A4}"/>
              </a:ext>
            </a:extLst>
          </p:cNvPr>
          <p:cNvSpPr>
            <a:spLocks xmlns:a="http://schemas.openxmlformats.org/drawingml/2006/main" noGrp="1"/>
          </p:cNvSpPr>
          <p:nvPr/>
        </p:nvSpPr>
        <p:spPr>
          <a:xfrm xmlns:a="http://schemas.openxmlformats.org/drawingml/2006/main">
            <a:off x="8143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F091EF4-80AC-40CC-BD85-7559407DF399}"/>
              </a:ext>
            </a:extLst>
          </p:cNvPr>
          <p:cNvSpPr>
            <a:spLocks xmlns:a="http://schemas.openxmlformats.org/drawingml/2006/main" noGrp="1"/>
          </p:cNvSpPr>
          <p:nvPr/>
        </p:nvSpPr>
        <p:spPr>
          <a:xfrm xmlns:a="http://schemas.openxmlformats.org/drawingml/2006/main">
            <a:off x="8143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056F3041-B821-4493-BCB9-17728941F603}"/>
              </a:ext>
            </a:extLst>
          </p:cNvPr>
          <p:cNvSpPr>
            <a:spLocks xmlns:a="http://schemas.openxmlformats.org/drawingml/2006/main" noGrp="1"/>
          </p:cNvSpPr>
          <p:nvPr/>
        </p:nvSpPr>
        <p:spPr>
          <a:xfrm xmlns:a="http://schemas.openxmlformats.org/drawingml/2006/main">
            <a:off x="7477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Rinse with water</a:t>
            </a:r>
          </a:p>
        </p:txBody>
      </p:sp>
      <p:sp>
        <p:nvSpPr>
          <p:cNvPr id="32" name="">
            <a:extLst xmlns:a="http://schemas.openxmlformats.org/drawingml/2006/main">
              <a:ext uri="{FF2B5EF4-FFF2-40B4-BE49-F238E27FC236}">
                <a16:creationId xmlns:a16="http://schemas.microsoft.com/office/drawing/2014/main" id="{F4253B07-FF4E-47A0-B7D6-B7BF73EDF472}"/>
              </a:ext>
            </a:extLst>
          </p:cNvPr>
          <p:cNvSpPr>
            <a:spLocks xmlns:a="http://schemas.openxmlformats.org/drawingml/2006/main" noGrp="1"/>
          </p:cNvSpPr>
          <p:nvPr/>
        </p:nvSpPr>
        <p:spPr>
          <a:xfrm xmlns:a="http://schemas.openxmlformats.org/drawingml/2006/main">
            <a:off x="9344025" y="3448050"/>
            <a:ext cx="342900" cy="0"/>
          </a:xfrm>
          <a:prstGeom xmlns:a="http://schemas.openxmlformats.org/drawingml/2006/main" prst="line">
            <a:avLst/>
          </a:prstGeom>
          <a:noFill xmlns:a="http://schemas.openxmlformats.org/drawingml/2006/main"/>
          <a:ln xmlns:a="http://schemas.openxmlformats.org/drawingml/2006/main" w="28575">
            <a:solidFill>
              <a:srgbClr val="E9F0F4"/>
            </a:solidFill>
          </a:ln>
        </p:spPr>
      </p:sp>
      <p:sp>
        <p:nvSpPr>
          <p:cNvPr id="33" name="">
            <a:extLst xmlns:a="http://schemas.openxmlformats.org/drawingml/2006/main">
              <a:ext uri="{FF2B5EF4-FFF2-40B4-BE49-F238E27FC236}">
                <a16:creationId xmlns:a16="http://schemas.microsoft.com/office/drawing/2014/main" id="{AD647B3C-4D49-455C-A2D6-4176B6B024D3}"/>
              </a:ext>
            </a:extLst>
          </p:cNvPr>
          <p:cNvSpPr>
            <a:spLocks xmlns:a="http://schemas.openxmlformats.org/drawingml/2006/main" noGrp="1"/>
          </p:cNvSpPr>
          <p:nvPr/>
        </p:nvSpPr>
        <p:spPr>
          <a:xfrm xmlns:a="http://schemas.openxmlformats.org/drawingml/2006/main">
            <a:off x="9610725" y="3390900"/>
            <a:ext cx="133350" cy="114300"/>
          </a:xfrm>
          <a:prstGeom xmlns:a="http://schemas.openxmlformats.org/drawingml/2006/main" prst="triangle">
            <a:avLst/>
          </a:prstGeom>
          <a:solidFill xmlns:a="http://schemas.openxmlformats.org/drawingml/2006/main">
            <a:srgbClr val="E9F0F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8F0D087-24C6-4FC6-BA3D-39FEB1AA4846}"/>
              </a:ext>
            </a:extLst>
          </p:cNvPr>
          <p:cNvSpPr>
            <a:spLocks xmlns:a="http://schemas.openxmlformats.org/drawingml/2006/main" noGrp="1"/>
          </p:cNvSpPr>
          <p:nvPr/>
        </p:nvSpPr>
        <p:spPr>
          <a:xfrm xmlns:a="http://schemas.openxmlformats.org/drawingml/2006/main">
            <a:off x="10429875" y="3190875"/>
            <a:ext cx="514350" cy="514350"/>
          </a:xfrm>
          <a:prstGeom xmlns:a="http://schemas.openxmlformats.org/drawingml/2006/main" prst="ellipse">
            <a:avLst/>
          </a:prstGeom>
          <a:solidFill xmlns:a="http://schemas.openxmlformats.org/drawingml/2006/main">
            <a:srgbClr val="0B5B8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F60C23F-AC39-4009-8D34-BF595BED9BCB}"/>
              </a:ext>
            </a:extLst>
          </p:cNvPr>
          <p:cNvSpPr>
            <a:spLocks xmlns:a="http://schemas.openxmlformats.org/drawingml/2006/main" noGrp="1"/>
          </p:cNvSpPr>
          <p:nvPr/>
        </p:nvSpPr>
        <p:spPr>
          <a:xfrm xmlns:a="http://schemas.openxmlformats.org/drawingml/2006/main">
            <a:off x="10429875" y="31908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F5597C07-3A66-4C3E-8693-AA4254A08A92}"/>
              </a:ext>
            </a:extLst>
          </p:cNvPr>
          <p:cNvSpPr>
            <a:spLocks xmlns:a="http://schemas.openxmlformats.org/drawingml/2006/main" noGrp="1"/>
          </p:cNvSpPr>
          <p:nvPr/>
        </p:nvSpPr>
        <p:spPr>
          <a:xfrm xmlns:a="http://schemas.openxmlformats.org/drawingml/2006/main">
            <a:off x="9763125" y="3857625"/>
            <a:ext cx="185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173244"/>
                </a:solidFill>
                <a:latin typeface="Arial"/>
                <a:ea typeface="Arial"/>
                <a:cs typeface="Arial"/>
              </a:defRPr>
            </a:pPr>
            <a:r>
              <a:rPr sz="1200" b="1" i="0">
                <a:solidFill>
                  <a:srgbClr val="173244"/>
                </a:solidFill>
                <a:latin typeface="Arial"/>
                <a:ea typeface="Arial"/>
                <a:cs typeface="Arial"/>
              </a:rPr>
              <a:t>Next sample</a:t>
            </a:r>
          </a:p>
        </p:txBody>
      </p:sp>
      <p:sp>
        <p:nvSpPr>
          <p:cNvPr id="37" name="">
            <a:extLst xmlns:a="http://schemas.openxmlformats.org/drawingml/2006/main">
              <a:ext uri="{FF2B5EF4-FFF2-40B4-BE49-F238E27FC236}">
                <a16:creationId xmlns:a16="http://schemas.microsoft.com/office/drawing/2014/main" id="{46AFB27A-A759-4B6A-91AA-BD480ACDDAEC}"/>
              </a:ext>
            </a:extLst>
          </p:cNvPr>
          <p:cNvSpPr>
            <a:spLocks xmlns:a="http://schemas.openxmlformats.org/drawingml/2006/main" noGrp="1"/>
          </p:cNvSpPr>
          <p:nvPr/>
        </p:nvSpPr>
        <p:spPr>
          <a:xfrm xmlns:a="http://schemas.openxmlformats.org/drawingml/2006/main">
            <a:off x="1190625" y="4857750"/>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0B5B8C"/>
                </a:solidFill>
                <a:latin typeface="Arial"/>
                <a:ea typeface="Arial"/>
                <a:cs typeface="Arial"/>
              </a:defRPr>
            </a:pPr>
            <a:r>
              <a:rPr sz="1350" b="1" i="0">
                <a:solidFill>
                  <a:srgbClr val="0B5B8C"/>
                </a:solidFill>
                <a:latin typeface="Arial"/>
                <a:ea typeface="Arial"/>
                <a:cs typeface="Arial"/>
              </a:rPr>
              <a:t>Overall liking · colour · taste · flavour · consistency · mouthfeel</a:t>
            </a:r>
          </a:p>
        </p:txBody>
      </p:sp>
      <p:sp>
        <p:nvSpPr>
          <p:cNvPr id="38" name="">
            <a:extLst xmlns:a="http://schemas.openxmlformats.org/drawingml/2006/main">
              <a:ext uri="{FF2B5EF4-FFF2-40B4-BE49-F238E27FC236}">
                <a16:creationId xmlns:a16="http://schemas.microsoft.com/office/drawing/2014/main" id="{BF2FBAAD-137F-4DE7-AEF2-0AB652DD15ED}"/>
              </a:ext>
            </a:extLst>
          </p:cNvPr>
          <p:cNvSpPr>
            <a:spLocks xmlns:a="http://schemas.openxmlformats.org/drawingml/2006/main" noGrp="1"/>
          </p:cNvSpPr>
          <p:nvPr/>
        </p:nvSpPr>
        <p:spPr>
          <a:xfrm xmlns:a="http://schemas.openxmlformats.org/drawingml/2006/main">
            <a:off x="2381250" y="5286375"/>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6F8F72"/>
                </a:solidFill>
                <a:latin typeface="Arial"/>
                <a:ea typeface="Arial"/>
                <a:cs typeface="Arial"/>
              </a:defRPr>
            </a:pPr>
            <a:r>
              <a:rPr sz="1350" b="1" i="0">
                <a:solidFill>
                  <a:srgbClr val="6F8F72"/>
                </a:solidFill>
                <a:latin typeface="Arial"/>
                <a:ea typeface="Arial"/>
                <a:cs typeface="Arial"/>
              </a:rPr>
              <a:t>JAR · CATA · purchase intention · final preference</a:t>
            </a:r>
          </a:p>
        </p:txBody>
      </p:sp>
      <p:sp>
        <p:nvSpPr>
          <p:cNvPr id="39" name="">
            <a:extLst xmlns:a="http://schemas.openxmlformats.org/drawingml/2006/main">
              <a:ext uri="{FF2B5EF4-FFF2-40B4-BE49-F238E27FC236}">
                <a16:creationId xmlns:a16="http://schemas.microsoft.com/office/drawing/2014/main" id="{4A51E2FD-AB15-4368-A0B3-522FBB966913}"/>
              </a:ext>
            </a:extLst>
          </p:cNvPr>
          <p:cNvSpPr>
            <a:spLocks xmlns:a="http://schemas.openxmlformats.org/drawingml/2006/main" noGrp="1"/>
          </p:cNvSpPr>
          <p:nvPr/>
        </p:nvSpPr>
        <p:spPr>
          <a:xfrm xmlns:a="http://schemas.openxmlformats.org/drawingml/2006/main">
            <a:off x="1714500" y="581025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Protein dispersions rested for at least 30 min and were agitated before pouring.</a:t>
            </a:r>
          </a:p>
        </p:txBody>
      </p:sp>
      <p:sp>
        <p:nvSpPr>
          <p:cNvPr id="40" name="">
            <a:extLst xmlns:a="http://schemas.openxmlformats.org/drawingml/2006/main">
              <a:ext uri="{FF2B5EF4-FFF2-40B4-BE49-F238E27FC236}">
                <a16:creationId xmlns:a16="http://schemas.microsoft.com/office/drawing/2014/main" id="{1D40A42F-7E1E-4E52-B4E1-E3CCFC90057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41" name="">
            <a:extLst xmlns:a="http://schemas.openxmlformats.org/drawingml/2006/main">
              <a:ext uri="{FF2B5EF4-FFF2-40B4-BE49-F238E27FC236}">
                <a16:creationId xmlns:a16="http://schemas.microsoft.com/office/drawing/2014/main" id="{543BB79F-B474-4990-95DC-431FBCDECFA4}"/>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14</a:t>
            </a:r>
          </a:p>
        </p:txBody>
      </p:sp>
    </p:spTree>
    <p:extLst>
      <p:ext uri="{BB962C8B-B14F-4D97-AF65-F5344CB8AC3E}">
        <p14:creationId xmlns:p14="http://schemas.microsoft.com/office/powerpoint/2010/main" val="7868417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C28C73-536A-4477-AC57-9FA803D9D8A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8BFEE1-2A53-4786-8299-D4310781AA13}"/>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RESULTS</a:t>
            </a:r>
          </a:p>
        </p:txBody>
      </p:sp>
      <p:sp>
        <p:nvSpPr>
          <p:cNvPr id="3" name="">
            <a:extLst xmlns:a="http://schemas.openxmlformats.org/drawingml/2006/main">
              <a:ext uri="{FF2B5EF4-FFF2-40B4-BE49-F238E27FC236}">
                <a16:creationId xmlns:a16="http://schemas.microsoft.com/office/drawing/2014/main" id="{BDAF6A9A-77B4-493F-9891-78BF977D15A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Overall liking identified candidate 798</a:t>
            </a:r>
          </a:p>
        </p:txBody>
      </p:sp>
      <p:sp>
        <p:nvSpPr>
          <p:cNvPr id="4" name="">
            <a:extLst xmlns:a="http://schemas.openxmlformats.org/drawingml/2006/main">
              <a:ext uri="{FF2B5EF4-FFF2-40B4-BE49-F238E27FC236}">
                <a16:creationId xmlns:a16="http://schemas.microsoft.com/office/drawing/2014/main" id="{A6D292A1-5941-4FB8-B86C-3A9AAE1ABBB5}"/>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22" name="Chart"/>
          <p:cNvGraphicFramePr/>
          <p:nvPr/>
        </p:nvGraphicFramePr>
        <p:xfrm>
          <a:off xmlns:a="http://schemas.openxmlformats.org/drawingml/2006/main" x="571500" y="15240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f1f1f04edbab4418"/>
          </a:graphicData>
        </a:graphic>
      </p:graphicFrame>
      <p:sp>
        <p:nvSpPr>
          <p:cNvPr id="6" name="">
            <a:extLst xmlns:a="http://schemas.openxmlformats.org/drawingml/2006/main">
              <a:ext uri="{FF2B5EF4-FFF2-40B4-BE49-F238E27FC236}">
                <a16:creationId xmlns:a16="http://schemas.microsoft.com/office/drawing/2014/main" id="{76A8189D-18D8-4EB2-9E8F-3E3B4BBB4128}"/>
              </a:ext>
            </a:extLst>
          </p:cNvPr>
          <p:cNvSpPr>
            <a:spLocks xmlns:a="http://schemas.openxmlformats.org/drawingml/2006/main" noGrp="1"/>
          </p:cNvSpPr>
          <p:nvPr/>
        </p:nvSpPr>
        <p:spPr>
          <a:xfrm xmlns:a="http://schemas.openxmlformats.org/drawingml/2006/main">
            <a:off x="8191500" y="16192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i="0">
                <a:solidFill>
                  <a:srgbClr val="082C4C"/>
                </a:solidFill>
                <a:latin typeface="Arial"/>
                <a:ea typeface="Arial"/>
                <a:cs typeface="Arial"/>
              </a:defRPr>
            </a:pPr>
            <a:r>
              <a:rPr sz="2850" b="1" i="0">
                <a:solidFill>
                  <a:srgbClr val="082C4C"/>
                </a:solidFill>
                <a:latin typeface="Arial"/>
                <a:ea typeface="Arial"/>
                <a:cs typeface="Arial"/>
              </a:rPr>
              <a:t>7.04 / 9</a:t>
            </a:r>
          </a:p>
        </p:txBody>
      </p:sp>
      <p:sp>
        <p:nvSpPr>
          <p:cNvPr id="7" name="">
            <a:extLst xmlns:a="http://schemas.openxmlformats.org/drawingml/2006/main">
              <a:ext uri="{FF2B5EF4-FFF2-40B4-BE49-F238E27FC236}">
                <a16:creationId xmlns:a16="http://schemas.microsoft.com/office/drawing/2014/main" id="{5A43E860-6771-4AD6-AF64-3231264274D7}"/>
              </a:ext>
            </a:extLst>
          </p:cNvPr>
          <p:cNvSpPr>
            <a:spLocks xmlns:a="http://schemas.openxmlformats.org/drawingml/2006/main" noGrp="1"/>
          </p:cNvSpPr>
          <p:nvPr/>
        </p:nvSpPr>
        <p:spPr>
          <a:xfrm xmlns:a="http://schemas.openxmlformats.org/drawingml/2006/main">
            <a:off x="8191500" y="21145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Control 667 · highest mean</a:t>
            </a:r>
          </a:p>
        </p:txBody>
      </p:sp>
      <p:sp>
        <p:nvSpPr>
          <p:cNvPr id="8" name="">
            <a:extLst xmlns:a="http://schemas.openxmlformats.org/drawingml/2006/main">
              <a:ext uri="{FF2B5EF4-FFF2-40B4-BE49-F238E27FC236}">
                <a16:creationId xmlns:a16="http://schemas.microsoft.com/office/drawing/2014/main" id="{64C05367-04D0-40BD-98E2-CAF43D6CCC0F}"/>
              </a:ext>
            </a:extLst>
          </p:cNvPr>
          <p:cNvSpPr>
            <a:spLocks xmlns:a="http://schemas.openxmlformats.org/drawingml/2006/main" noGrp="1"/>
          </p:cNvSpPr>
          <p:nvPr/>
        </p:nvSpPr>
        <p:spPr>
          <a:xfrm xmlns:a="http://schemas.openxmlformats.org/drawingml/2006/main">
            <a:off x="8191500" y="271462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i="0">
                <a:solidFill>
                  <a:srgbClr val="00A9B7"/>
                </a:solidFill>
                <a:latin typeface="Arial"/>
                <a:ea typeface="Arial"/>
                <a:cs typeface="Arial"/>
              </a:defRPr>
            </a:pPr>
            <a:r>
              <a:rPr sz="2850" b="1" i="0">
                <a:solidFill>
                  <a:srgbClr val="00A9B7"/>
                </a:solidFill>
                <a:latin typeface="Arial"/>
                <a:ea typeface="Arial"/>
                <a:cs typeface="Arial"/>
              </a:rPr>
              <a:t>6.56 / 9</a:t>
            </a:r>
          </a:p>
        </p:txBody>
      </p:sp>
      <p:sp>
        <p:nvSpPr>
          <p:cNvPr id="9" name="">
            <a:extLst xmlns:a="http://schemas.openxmlformats.org/drawingml/2006/main">
              <a:ext uri="{FF2B5EF4-FFF2-40B4-BE49-F238E27FC236}">
                <a16:creationId xmlns:a16="http://schemas.microsoft.com/office/drawing/2014/main" id="{BE50DC8D-994B-4D72-B442-2DAAE2A8D707}"/>
              </a:ext>
            </a:extLst>
          </p:cNvPr>
          <p:cNvSpPr>
            <a:spLocks xmlns:a="http://schemas.openxmlformats.org/drawingml/2006/main" noGrp="1"/>
          </p:cNvSpPr>
          <p:nvPr/>
        </p:nvSpPr>
        <p:spPr>
          <a:xfrm xmlns:a="http://schemas.openxmlformats.org/drawingml/2006/main">
            <a:off x="8191500" y="32099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526878"/>
                </a:solidFill>
                <a:latin typeface="Arial"/>
                <a:ea typeface="Arial"/>
                <a:cs typeface="Arial"/>
              </a:defRPr>
            </a:pPr>
            <a:r>
              <a:rPr sz="1200" b="0" i="0">
                <a:solidFill>
                  <a:srgbClr val="526878"/>
                </a:solidFill>
                <a:latin typeface="Arial"/>
                <a:ea typeface="Arial"/>
                <a:cs typeface="Arial"/>
              </a:rPr>
              <a:t>798 · best enriched mean</a:t>
            </a:r>
          </a:p>
        </p:txBody>
      </p:sp>
      <p:sp>
        <p:nvSpPr>
          <p:cNvPr id="10" name="">
            <a:extLst xmlns:a="http://schemas.openxmlformats.org/drawingml/2006/main">
              <a:ext uri="{FF2B5EF4-FFF2-40B4-BE49-F238E27FC236}">
                <a16:creationId xmlns:a16="http://schemas.microsoft.com/office/drawing/2014/main" id="{80F2B6EF-ECE9-4CF8-B282-1BC73BF1A230}"/>
              </a:ext>
            </a:extLst>
          </p:cNvPr>
          <p:cNvSpPr>
            <a:spLocks xmlns:a="http://schemas.openxmlformats.org/drawingml/2006/main" noGrp="1"/>
          </p:cNvSpPr>
          <p:nvPr/>
        </p:nvSpPr>
        <p:spPr>
          <a:xfrm xmlns:a="http://schemas.openxmlformats.org/drawingml/2006/main">
            <a:off x="8191500" y="36195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i="0">
                <a:solidFill>
                  <a:srgbClr val="173244"/>
                </a:solidFill>
                <a:latin typeface="Arial"/>
                <a:ea typeface="Arial"/>
                <a:cs typeface="Arial"/>
              </a:defRPr>
            </a:pPr>
            <a:r>
              <a:rPr sz="1275" b="1" i="0">
                <a:solidFill>
                  <a:srgbClr val="173244"/>
                </a:solidFill>
                <a:latin typeface="Arial"/>
                <a:ea typeface="Arial"/>
                <a:cs typeface="Arial"/>
              </a:rPr>
              <a:t>40% soy / 30% rice / 30% pea</a:t>
            </a:r>
          </a:p>
        </p:txBody>
      </p:sp>
      <p:sp>
        <p:nvSpPr>
          <p:cNvPr id="11" name="">
            <a:extLst xmlns:a="http://schemas.openxmlformats.org/drawingml/2006/main">
              <a:ext uri="{FF2B5EF4-FFF2-40B4-BE49-F238E27FC236}">
                <a16:creationId xmlns:a16="http://schemas.microsoft.com/office/drawing/2014/main" id="{627848A0-D67D-4ABA-B42D-33C0E629E70C}"/>
              </a:ext>
            </a:extLst>
          </p:cNvPr>
          <p:cNvSpPr>
            <a:spLocks xmlns:a="http://schemas.openxmlformats.org/drawingml/2006/main" noGrp="1"/>
          </p:cNvSpPr>
          <p:nvPr/>
        </p:nvSpPr>
        <p:spPr>
          <a:xfrm xmlns:a="http://schemas.openxmlformats.org/drawingml/2006/main">
            <a:off x="8096250" y="4238625"/>
            <a:ext cx="323850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C152F14-ADD2-429A-AEE1-758A2FAB775D}"/>
              </a:ext>
            </a:extLst>
          </p:cNvPr>
          <p:cNvSpPr>
            <a:spLocks xmlns:a="http://schemas.openxmlformats.org/drawingml/2006/main" noGrp="1"/>
          </p:cNvSpPr>
          <p:nvPr/>
        </p:nvSpPr>
        <p:spPr>
          <a:xfrm xmlns:a="http://schemas.openxmlformats.org/drawingml/2006/main">
            <a:off x="8096250" y="4238625"/>
            <a:ext cx="66675" cy="1143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6EE3CC-6512-43BE-8B1B-C920595B6763}"/>
              </a:ext>
            </a:extLst>
          </p:cNvPr>
          <p:cNvSpPr>
            <a:spLocks xmlns:a="http://schemas.openxmlformats.org/drawingml/2006/main" noGrp="1"/>
          </p:cNvSpPr>
          <p:nvPr/>
        </p:nvSpPr>
        <p:spPr>
          <a:xfrm xmlns:a="http://schemas.openxmlformats.org/drawingml/2006/main">
            <a:off x="8305800" y="4352925"/>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Overall formulation effect</a:t>
            </a:r>
          </a:p>
        </p:txBody>
      </p:sp>
      <p:sp>
        <p:nvSpPr>
          <p:cNvPr id="14" name="">
            <a:extLst xmlns:a="http://schemas.openxmlformats.org/drawingml/2006/main">
              <a:ext uri="{FF2B5EF4-FFF2-40B4-BE49-F238E27FC236}">
                <a16:creationId xmlns:a16="http://schemas.microsoft.com/office/drawing/2014/main" id="{BAFB7F6B-35BF-4276-8065-4F4EEDB5EC07}"/>
              </a:ext>
            </a:extLst>
          </p:cNvPr>
          <p:cNvSpPr>
            <a:spLocks xmlns:a="http://schemas.openxmlformats.org/drawingml/2006/main" noGrp="1"/>
          </p:cNvSpPr>
          <p:nvPr/>
        </p:nvSpPr>
        <p:spPr>
          <a:xfrm xmlns:a="http://schemas.openxmlformats.org/drawingml/2006/main">
            <a:off x="8305800" y="4657725"/>
            <a:ext cx="289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Friedman χ²(6) = 27.56</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 &lt; 0.001</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Kendall's W = 0.184</a:t>
            </a:r>
          </a:p>
        </p:txBody>
      </p:sp>
      <p:sp>
        <p:nvSpPr>
          <p:cNvPr id="15" name="">
            <a:extLst xmlns:a="http://schemas.openxmlformats.org/drawingml/2006/main">
              <a:ext uri="{FF2B5EF4-FFF2-40B4-BE49-F238E27FC236}">
                <a16:creationId xmlns:a16="http://schemas.microsoft.com/office/drawing/2014/main" id="{EC98EE2A-BF54-4902-A7CA-102EBBAAC6BD}"/>
              </a:ext>
            </a:extLst>
          </p:cNvPr>
          <p:cNvSpPr>
            <a:spLocks xmlns:a="http://schemas.openxmlformats.org/drawingml/2006/main" noGrp="1"/>
          </p:cNvSpPr>
          <p:nvPr/>
        </p:nvSpPr>
        <p:spPr>
          <a:xfrm xmlns:a="http://schemas.openxmlformats.org/drawingml/2006/main">
            <a:off x="8096250" y="5572125"/>
            <a:ext cx="3238500" cy="419100"/>
          </a:xfrm>
          <a:prstGeom xmlns:a="http://schemas.openxmlformats.org/drawingml/2006/main" prst="rect">
            <a:avLst/>
          </a:prstGeom>
          <a:solidFill xmlns:a="http://schemas.openxmlformats.org/drawingml/2006/main">
            <a:srgbClr val="00A9B7"/>
          </a:solidFill>
          <a:ln xmlns:a="http://schemas.openxmlformats.org/drawingml/2006/main" w="0">
            <a:noFill/>
          </a:ln>
        </p:spPr>
        <p:txBody>
          <a:bodyPr xmlns:a="http://schemas.openxmlformats.org/drawingml/2006/main" anchor="ctr">
            <a:normAutofit fontScale="99556"/>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Control vs 798: Holm-adjusted p = 0.104</a:t>
            </a:r>
          </a:p>
        </p:txBody>
      </p:sp>
      <p:sp>
        <p:nvSpPr>
          <p:cNvPr id="16" name="">
            <a:extLst xmlns:a="http://schemas.openxmlformats.org/drawingml/2006/main">
              <a:ext uri="{FF2B5EF4-FFF2-40B4-BE49-F238E27FC236}">
                <a16:creationId xmlns:a16="http://schemas.microsoft.com/office/drawing/2014/main" id="{98B07CF2-9261-4E6B-9333-05FB2B10BF18}"/>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17" name="">
            <a:extLst xmlns:a="http://schemas.openxmlformats.org/drawingml/2006/main">
              <a:ext uri="{FF2B5EF4-FFF2-40B4-BE49-F238E27FC236}">
                <a16:creationId xmlns:a16="http://schemas.microsoft.com/office/drawing/2014/main" id="{85C36350-14BC-4CBA-B23B-5E9CE02A75A1}"/>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15</a:t>
            </a:r>
          </a:p>
        </p:txBody>
      </p:sp>
    </p:spTree>
    <p:extLst>
      <p:ext uri="{BB962C8B-B14F-4D97-AF65-F5344CB8AC3E}">
        <p14:creationId xmlns:p14="http://schemas.microsoft.com/office/powerpoint/2010/main" val="18705991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C7E0667-E5AC-40D7-963E-BD8058EA031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6C6BF4-626A-4A62-8EF5-5866273F4A4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CANDIDATE SELECTION</a:t>
            </a:r>
          </a:p>
        </p:txBody>
      </p:sp>
      <p:sp>
        <p:nvSpPr>
          <p:cNvPr id="3" name="">
            <a:extLst xmlns:a="http://schemas.openxmlformats.org/drawingml/2006/main">
              <a:ext uri="{FF2B5EF4-FFF2-40B4-BE49-F238E27FC236}">
                <a16:creationId xmlns:a16="http://schemas.microsoft.com/office/drawing/2014/main" id="{AE110349-1F6D-42B5-890D-4EBD8B3EC4F3}"/>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Why formulation 798 was selected</a:t>
            </a:r>
          </a:p>
        </p:txBody>
      </p:sp>
      <p:sp>
        <p:nvSpPr>
          <p:cNvPr id="4" name="">
            <a:extLst xmlns:a="http://schemas.openxmlformats.org/drawingml/2006/main">
              <a:ext uri="{FF2B5EF4-FFF2-40B4-BE49-F238E27FC236}">
                <a16:creationId xmlns:a16="http://schemas.microsoft.com/office/drawing/2014/main" id="{DFBB1F5B-9B16-4383-9815-8D288D20B969}"/>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7CCF584C-2099-4F64-AFBB-C86BE7C19503}"/>
              </a:ext>
            </a:extLst>
          </p:cNvPr>
          <p:cNvSpPr>
            <a:spLocks xmlns:a="http://schemas.openxmlformats.org/drawingml/2006/main" noGrp="1"/>
          </p:cNvSpPr>
          <p:nvPr/>
        </p:nvSpPr>
        <p:spPr>
          <a:xfrm xmlns:a="http://schemas.openxmlformats.org/drawingml/2006/main">
            <a:off x="4476750" y="1952625"/>
            <a:ext cx="3238500" cy="3238500"/>
          </a:xfrm>
          <a:prstGeom xmlns:a="http://schemas.openxmlformats.org/drawingml/2006/main" prst="ellipse">
            <a:avLst/>
          </a:prstGeom>
          <a:solidFill xmlns:a="http://schemas.openxmlformats.org/drawingml/2006/main">
            <a:srgbClr val="082C4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477EDC5-EB87-466D-8032-C2839413A0B8}"/>
              </a:ext>
            </a:extLst>
          </p:cNvPr>
          <p:cNvSpPr>
            <a:spLocks xmlns:a="http://schemas.openxmlformats.org/drawingml/2006/main" noGrp="1"/>
          </p:cNvSpPr>
          <p:nvPr/>
        </p:nvSpPr>
        <p:spPr>
          <a:xfrm xmlns:a="http://schemas.openxmlformats.org/drawingml/2006/main">
            <a:off x="5143500" y="247650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95"/>
          </a:bodyPr>
          <a:lstStyle xmlns:a="http://schemas.openxmlformats.org/drawingml/2006/main"/>
          <a:p xmlns:a="http://schemas.openxmlformats.org/drawingml/2006/main">
            <a:pPr algn="ctr">
              <a:defRPr sz="3900" b="1" i="0">
                <a:solidFill>
                  <a:srgbClr val="FFFFFF"/>
                </a:solidFill>
                <a:latin typeface="Arial"/>
                <a:ea typeface="Arial"/>
                <a:cs typeface="Arial"/>
              </a:defRPr>
            </a:pPr>
            <a:r>
              <a:rPr sz="3900" b="1" i="0">
                <a:solidFill>
                  <a:srgbClr val="FFFFFF"/>
                </a:solidFill>
                <a:latin typeface="Arial"/>
                <a:ea typeface="Arial"/>
                <a:cs typeface="Arial"/>
              </a:rPr>
              <a:t>798</a:t>
            </a:r>
          </a:p>
        </p:txBody>
      </p:sp>
      <p:sp>
        <p:nvSpPr>
          <p:cNvPr id="7" name="">
            <a:extLst xmlns:a="http://schemas.openxmlformats.org/drawingml/2006/main">
              <a:ext uri="{FF2B5EF4-FFF2-40B4-BE49-F238E27FC236}">
                <a16:creationId xmlns:a16="http://schemas.microsoft.com/office/drawing/2014/main" id="{4633576C-44B9-4078-8A92-9D0C30B70776}"/>
              </a:ext>
            </a:extLst>
          </p:cNvPr>
          <p:cNvSpPr>
            <a:spLocks xmlns:a="http://schemas.openxmlformats.org/drawingml/2006/main" noGrp="1"/>
          </p:cNvSpPr>
          <p:nvPr/>
        </p:nvSpPr>
        <p:spPr>
          <a:xfrm xmlns:a="http://schemas.openxmlformats.org/drawingml/2006/main">
            <a:off x="5048250" y="31908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72"/>
          </a:bodyPr>
          <a:lstStyle xmlns:a="http://schemas.openxmlformats.org/drawingml/2006/main"/>
          <a:p xmlns:a="http://schemas.openxmlformats.org/drawingml/2006/main">
            <a:pPr algn="ctr">
              <a:defRPr sz="1500" b="1" i="0">
                <a:solidFill>
                  <a:srgbClr val="BDEBF0"/>
                </a:solidFill>
                <a:latin typeface="Arial"/>
                <a:ea typeface="Arial"/>
                <a:cs typeface="Arial"/>
              </a:defRPr>
            </a:pPr>
            <a:r>
              <a:rPr sz="1500" b="1" i="0">
                <a:solidFill>
                  <a:srgbClr val="BDEBF0"/>
                </a:solidFill>
                <a:latin typeface="Arial"/>
                <a:ea typeface="Arial"/>
                <a:cs typeface="Arial"/>
              </a:rPr>
              <a:t>Selected development</a:t>
            </a:r>
          </a:p>
          <a:p xmlns:a="http://schemas.openxmlformats.org/drawingml/2006/main">
            <a:pPr algn="ctr">
              <a:defRPr sz="1500" b="1" i="0">
                <a:solidFill>
                  <a:srgbClr val="BDEBF0"/>
                </a:solidFill>
                <a:latin typeface="Arial"/>
                <a:ea typeface="Arial"/>
                <a:cs typeface="Arial"/>
              </a:defRPr>
            </a:pPr>
            <a:r>
              <a:rPr sz="1500" b="1" i="0">
                <a:solidFill>
                  <a:srgbClr val="BDEBF0"/>
                </a:solidFill>
                <a:latin typeface="Arial"/>
                <a:ea typeface="Arial"/>
                <a:cs typeface="Arial"/>
              </a:rPr>
              <a:t>candidate</a:t>
            </a:r>
          </a:p>
        </p:txBody>
      </p:sp>
      <p:sp>
        <p:nvSpPr>
          <p:cNvPr id="8" name="">
            <a:extLst xmlns:a="http://schemas.openxmlformats.org/drawingml/2006/main">
              <a:ext uri="{FF2B5EF4-FFF2-40B4-BE49-F238E27FC236}">
                <a16:creationId xmlns:a16="http://schemas.microsoft.com/office/drawing/2014/main" id="{0E72C0D9-DA5A-477D-8648-44E1B95ACAB9}"/>
              </a:ext>
            </a:extLst>
          </p:cNvPr>
          <p:cNvSpPr>
            <a:spLocks xmlns:a="http://schemas.openxmlformats.org/drawingml/2006/main" noGrp="1"/>
          </p:cNvSpPr>
          <p:nvPr/>
        </p:nvSpPr>
        <p:spPr>
          <a:xfrm xmlns:a="http://schemas.openxmlformats.org/drawingml/2006/main">
            <a:off x="5238750" y="40005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40% soy</a:t>
            </a:r>
          </a:p>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30% rice</a:t>
            </a:r>
          </a:p>
          <a:p xmlns:a="http://schemas.openxmlformats.org/drawingml/2006/main">
            <a:pPr algn="ctr">
              <a:defRPr sz="1275" b="0" i="0">
                <a:solidFill>
                  <a:srgbClr val="FFFFFF"/>
                </a:solidFill>
                <a:latin typeface="Arial"/>
                <a:ea typeface="Arial"/>
                <a:cs typeface="Arial"/>
              </a:defRPr>
            </a:pPr>
            <a:r>
              <a:rPr sz="1275" b="0" i="0">
                <a:solidFill>
                  <a:srgbClr val="FFFFFF"/>
                </a:solidFill>
                <a:latin typeface="Arial"/>
                <a:ea typeface="Arial"/>
                <a:cs typeface="Arial"/>
              </a:rPr>
              <a:t>30% pea</a:t>
            </a:r>
          </a:p>
        </p:txBody>
      </p:sp>
      <p:sp>
        <p:nvSpPr>
          <p:cNvPr id="9" name="">
            <a:extLst xmlns:a="http://schemas.openxmlformats.org/drawingml/2006/main">
              <a:ext uri="{FF2B5EF4-FFF2-40B4-BE49-F238E27FC236}">
                <a16:creationId xmlns:a16="http://schemas.microsoft.com/office/drawing/2014/main" id="{3E120467-F4DE-4BD5-BE07-9B860AF2CEE0}"/>
              </a:ext>
            </a:extLst>
          </p:cNvPr>
          <p:cNvSpPr>
            <a:spLocks xmlns:a="http://schemas.openxmlformats.org/drawingml/2006/main" noGrp="1"/>
          </p:cNvSpPr>
          <p:nvPr/>
        </p:nvSpPr>
        <p:spPr>
          <a:xfrm xmlns:a="http://schemas.openxmlformats.org/drawingml/2006/main">
            <a:off x="571500" y="1666875"/>
            <a:ext cx="314325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B31F3F-A4D5-4AD6-9E24-E1FA0CE39419}"/>
              </a:ext>
            </a:extLst>
          </p:cNvPr>
          <p:cNvSpPr>
            <a:spLocks xmlns:a="http://schemas.openxmlformats.org/drawingml/2006/main" noGrp="1"/>
          </p:cNvSpPr>
          <p:nvPr/>
        </p:nvSpPr>
        <p:spPr>
          <a:xfrm xmlns:a="http://schemas.openxmlformats.org/drawingml/2006/main">
            <a:off x="571500" y="1666875"/>
            <a:ext cx="66675" cy="1143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4BC96F-F20B-4F95-835C-4B152F931BC3}"/>
              </a:ext>
            </a:extLst>
          </p:cNvPr>
          <p:cNvSpPr>
            <a:spLocks xmlns:a="http://schemas.openxmlformats.org/drawingml/2006/main" noGrp="1"/>
          </p:cNvSpPr>
          <p:nvPr/>
        </p:nvSpPr>
        <p:spPr>
          <a:xfrm xmlns:a="http://schemas.openxmlformats.org/drawingml/2006/main">
            <a:off x="781050" y="17811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Overall liking</a:t>
            </a:r>
          </a:p>
        </p:txBody>
      </p:sp>
      <p:sp>
        <p:nvSpPr>
          <p:cNvPr id="12" name="">
            <a:extLst xmlns:a="http://schemas.openxmlformats.org/drawingml/2006/main">
              <a:ext uri="{FF2B5EF4-FFF2-40B4-BE49-F238E27FC236}">
                <a16:creationId xmlns:a16="http://schemas.microsoft.com/office/drawing/2014/main" id="{BCEBDEBD-0EB9-4328-AA73-CB56D6619AC4}"/>
              </a:ext>
            </a:extLst>
          </p:cNvPr>
          <p:cNvSpPr>
            <a:spLocks xmlns:a="http://schemas.openxmlformats.org/drawingml/2006/main" noGrp="1"/>
          </p:cNvSpPr>
          <p:nvPr/>
        </p:nvSpPr>
        <p:spPr>
          <a:xfrm xmlns:a="http://schemas.openxmlformats.org/drawingml/2006/main">
            <a:off x="781050" y="2085975"/>
            <a:ext cx="2800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6.56 / 9</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Highest mean among enriched formulations</a:t>
            </a:r>
          </a:p>
        </p:txBody>
      </p:sp>
      <p:sp>
        <p:nvSpPr>
          <p:cNvPr id="13" name="">
            <a:extLst xmlns:a="http://schemas.openxmlformats.org/drawingml/2006/main">
              <a:ext uri="{FF2B5EF4-FFF2-40B4-BE49-F238E27FC236}">
                <a16:creationId xmlns:a16="http://schemas.microsoft.com/office/drawing/2014/main" id="{D69C6C87-A86C-40A6-9200-89CB57271720}"/>
              </a:ext>
            </a:extLst>
          </p:cNvPr>
          <p:cNvSpPr>
            <a:spLocks xmlns:a="http://schemas.openxmlformats.org/drawingml/2006/main" noGrp="1"/>
          </p:cNvSpPr>
          <p:nvPr/>
        </p:nvSpPr>
        <p:spPr>
          <a:xfrm xmlns:a="http://schemas.openxmlformats.org/drawingml/2006/main">
            <a:off x="571500" y="3238500"/>
            <a:ext cx="3143250" cy="1143000"/>
          </a:xfrm>
          <a:prstGeom xmlns:a="http://schemas.openxmlformats.org/drawingml/2006/main" prst="roundRect">
            <a:avLst>
              <a:gd name="adj" fmla="val 6667"/>
            </a:avLst>
          </a:prstGeom>
          <a:solidFill xmlns:a="http://schemas.openxmlformats.org/drawingml/2006/main">
            <a:srgbClr val="F7FA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EC87C1-43DF-47E9-BC25-8ED89FE69026}"/>
              </a:ext>
            </a:extLst>
          </p:cNvPr>
          <p:cNvSpPr>
            <a:spLocks xmlns:a="http://schemas.openxmlformats.org/drawingml/2006/main" noGrp="1"/>
          </p:cNvSpPr>
          <p:nvPr/>
        </p:nvSpPr>
        <p:spPr>
          <a:xfrm xmlns:a="http://schemas.openxmlformats.org/drawingml/2006/main">
            <a:off x="571500" y="3238500"/>
            <a:ext cx="66675" cy="114300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1DF2F54-040E-4948-BE3D-8BD2DF2D98F1}"/>
              </a:ext>
            </a:extLst>
          </p:cNvPr>
          <p:cNvSpPr>
            <a:spLocks xmlns:a="http://schemas.openxmlformats.org/drawingml/2006/main" noGrp="1"/>
          </p:cNvSpPr>
          <p:nvPr/>
        </p:nvSpPr>
        <p:spPr>
          <a:xfrm xmlns:a="http://schemas.openxmlformats.org/drawingml/2006/main">
            <a:off x="781050" y="335280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Planned comparison</a:t>
            </a:r>
          </a:p>
        </p:txBody>
      </p:sp>
      <p:sp>
        <p:nvSpPr>
          <p:cNvPr id="16" name="">
            <a:extLst xmlns:a="http://schemas.openxmlformats.org/drawingml/2006/main">
              <a:ext uri="{FF2B5EF4-FFF2-40B4-BE49-F238E27FC236}">
                <a16:creationId xmlns:a16="http://schemas.microsoft.com/office/drawing/2014/main" id="{534AFCEB-D673-4239-8E2E-460E4B05BCB2}"/>
              </a:ext>
            </a:extLst>
          </p:cNvPr>
          <p:cNvSpPr>
            <a:spLocks xmlns:a="http://schemas.openxmlformats.org/drawingml/2006/main" noGrp="1"/>
          </p:cNvSpPr>
          <p:nvPr/>
        </p:nvSpPr>
        <p:spPr>
          <a:xfrm xmlns:a="http://schemas.openxmlformats.org/drawingml/2006/main">
            <a:off x="781050" y="3657600"/>
            <a:ext cx="2800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No significant difference detected versus control</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pHolm = 0.104</a:t>
            </a:r>
          </a:p>
        </p:txBody>
      </p:sp>
      <p:sp>
        <p:nvSpPr>
          <p:cNvPr id="17" name="">
            <a:extLst xmlns:a="http://schemas.openxmlformats.org/drawingml/2006/main">
              <a:ext uri="{FF2B5EF4-FFF2-40B4-BE49-F238E27FC236}">
                <a16:creationId xmlns:a16="http://schemas.microsoft.com/office/drawing/2014/main" id="{DA6E1169-9FF2-481F-AB54-6F693734EA59}"/>
              </a:ext>
            </a:extLst>
          </p:cNvPr>
          <p:cNvSpPr>
            <a:spLocks xmlns:a="http://schemas.openxmlformats.org/drawingml/2006/main" noGrp="1"/>
          </p:cNvSpPr>
          <p:nvPr/>
        </p:nvSpPr>
        <p:spPr>
          <a:xfrm xmlns:a="http://schemas.openxmlformats.org/drawingml/2006/main">
            <a:off x="8477250" y="1666875"/>
            <a:ext cx="3143250" cy="1428750"/>
          </a:xfrm>
          <a:prstGeom xmlns:a="http://schemas.openxmlformats.org/drawingml/2006/main" prst="roundRect">
            <a:avLst>
              <a:gd name="adj" fmla="val 5333"/>
            </a:avLst>
          </a:prstGeom>
          <a:solidFill xmlns:a="http://schemas.openxmlformats.org/drawingml/2006/main">
            <a:srgbClr val="EFF5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4A549B4-C3F8-4213-A5AC-385A8590C144}"/>
              </a:ext>
            </a:extLst>
          </p:cNvPr>
          <p:cNvSpPr>
            <a:spLocks xmlns:a="http://schemas.openxmlformats.org/drawingml/2006/main" noGrp="1"/>
          </p:cNvSpPr>
          <p:nvPr/>
        </p:nvSpPr>
        <p:spPr>
          <a:xfrm xmlns:a="http://schemas.openxmlformats.org/drawingml/2006/main">
            <a:off x="8477250" y="1666875"/>
            <a:ext cx="66675" cy="1428750"/>
          </a:xfrm>
          <a:prstGeom xmlns:a="http://schemas.openxmlformats.org/drawingml/2006/main" prst="rect">
            <a:avLst/>
          </a:prstGeom>
          <a:solidFill xmlns:a="http://schemas.openxmlformats.org/drawingml/2006/main">
            <a:srgbClr val="6F8F7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4A15586-BEC6-47F0-B0AB-26FA15648130}"/>
              </a:ext>
            </a:extLst>
          </p:cNvPr>
          <p:cNvSpPr>
            <a:spLocks xmlns:a="http://schemas.openxmlformats.org/drawingml/2006/main" noGrp="1"/>
          </p:cNvSpPr>
          <p:nvPr/>
        </p:nvSpPr>
        <p:spPr>
          <a:xfrm xmlns:a="http://schemas.openxmlformats.org/drawingml/2006/main">
            <a:off x="8686800" y="17811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Balanced JAR profile</a:t>
            </a:r>
          </a:p>
        </p:txBody>
      </p:sp>
      <p:sp>
        <p:nvSpPr>
          <p:cNvPr id="20" name="">
            <a:extLst xmlns:a="http://schemas.openxmlformats.org/drawingml/2006/main">
              <a:ext uri="{FF2B5EF4-FFF2-40B4-BE49-F238E27FC236}">
                <a16:creationId xmlns:a16="http://schemas.microsoft.com/office/drawing/2014/main" id="{C9B2402D-7654-477B-B5DD-FBC4B3ED5C22}"/>
              </a:ext>
            </a:extLst>
          </p:cNvPr>
          <p:cNvSpPr>
            <a:spLocks xmlns:a="http://schemas.openxmlformats.org/drawingml/2006/main" noGrp="1"/>
          </p:cNvSpPr>
          <p:nvPr/>
        </p:nvSpPr>
        <p:spPr>
          <a:xfrm xmlns:a="http://schemas.openxmlformats.org/drawingml/2006/main">
            <a:off x="8686800" y="2085975"/>
            <a:ext cx="28003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Sweetness 84% · bitterness 60%</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Flavour intensity 88%</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Creaminess 84% · thickness 80%</a:t>
            </a:r>
          </a:p>
        </p:txBody>
      </p:sp>
      <p:sp>
        <p:nvSpPr>
          <p:cNvPr id="21" name="">
            <a:extLst xmlns:a="http://schemas.openxmlformats.org/drawingml/2006/main">
              <a:ext uri="{FF2B5EF4-FFF2-40B4-BE49-F238E27FC236}">
                <a16:creationId xmlns:a16="http://schemas.microsoft.com/office/drawing/2014/main" id="{40BFD495-BC3B-4022-BE43-22C0727C4BFC}"/>
              </a:ext>
            </a:extLst>
          </p:cNvPr>
          <p:cNvSpPr>
            <a:spLocks xmlns:a="http://schemas.openxmlformats.org/drawingml/2006/main" noGrp="1"/>
          </p:cNvSpPr>
          <p:nvPr/>
        </p:nvSpPr>
        <p:spPr>
          <a:xfrm xmlns:a="http://schemas.openxmlformats.org/drawingml/2006/main">
            <a:off x="8477250" y="3476625"/>
            <a:ext cx="3143250" cy="1143000"/>
          </a:xfrm>
          <a:prstGeom xmlns:a="http://schemas.openxmlformats.org/drawingml/2006/main" prst="roundRect">
            <a:avLst>
              <a:gd name="adj" fmla="val 6667"/>
            </a:avLst>
          </a:prstGeom>
          <a:solidFill xmlns:a="http://schemas.openxmlformats.org/drawingml/2006/main">
            <a:srgbClr val="F4EBD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856154E-6C33-4ACB-9671-F46402B566FF}"/>
              </a:ext>
            </a:extLst>
          </p:cNvPr>
          <p:cNvSpPr>
            <a:spLocks xmlns:a="http://schemas.openxmlformats.org/drawingml/2006/main" noGrp="1"/>
          </p:cNvSpPr>
          <p:nvPr/>
        </p:nvSpPr>
        <p:spPr>
          <a:xfrm xmlns:a="http://schemas.openxmlformats.org/drawingml/2006/main">
            <a:off x="8477250" y="3476625"/>
            <a:ext cx="66675" cy="114300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7EEBDE-AF42-4E6B-BBF4-F79E1E107638}"/>
              </a:ext>
            </a:extLst>
          </p:cNvPr>
          <p:cNvSpPr>
            <a:spLocks xmlns:a="http://schemas.openxmlformats.org/drawingml/2006/main" noGrp="1"/>
          </p:cNvSpPr>
          <p:nvPr/>
        </p:nvSpPr>
        <p:spPr>
          <a:xfrm xmlns:a="http://schemas.openxmlformats.org/drawingml/2006/main">
            <a:off x="8686800" y="359092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Descriptors</a:t>
            </a:r>
          </a:p>
        </p:txBody>
      </p:sp>
      <p:sp>
        <p:nvSpPr>
          <p:cNvPr id="24" name="">
            <a:extLst xmlns:a="http://schemas.openxmlformats.org/drawingml/2006/main">
              <a:ext uri="{FF2B5EF4-FFF2-40B4-BE49-F238E27FC236}">
                <a16:creationId xmlns:a16="http://schemas.microsoft.com/office/drawing/2014/main" id="{8B1147B5-F140-4497-ACC7-15100B473D83}"/>
              </a:ext>
            </a:extLst>
          </p:cNvPr>
          <p:cNvSpPr>
            <a:spLocks xmlns:a="http://schemas.openxmlformats.org/drawingml/2006/main" noGrp="1"/>
          </p:cNvSpPr>
          <p:nvPr/>
        </p:nvSpPr>
        <p:spPr>
          <a:xfrm xmlns:a="http://schemas.openxmlformats.org/drawingml/2006/main">
            <a:off x="8686800" y="3895725"/>
            <a:ext cx="2800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Relatively low beany/soy-like perception and the lowest gritty/sandy frequency among enriched samples.</a:t>
            </a:r>
          </a:p>
        </p:txBody>
      </p:sp>
      <p:sp>
        <p:nvSpPr>
          <p:cNvPr id="25" name="">
            <a:extLst xmlns:a="http://schemas.openxmlformats.org/drawingml/2006/main">
              <a:ext uri="{FF2B5EF4-FFF2-40B4-BE49-F238E27FC236}">
                <a16:creationId xmlns:a16="http://schemas.microsoft.com/office/drawing/2014/main" id="{A6A84EAC-77EB-4FD1-8BDE-1BF0EC11AA7F}"/>
              </a:ext>
            </a:extLst>
          </p:cNvPr>
          <p:cNvSpPr>
            <a:spLocks xmlns:a="http://schemas.openxmlformats.org/drawingml/2006/main" noGrp="1"/>
          </p:cNvSpPr>
          <p:nvPr/>
        </p:nvSpPr>
        <p:spPr>
          <a:xfrm xmlns:a="http://schemas.openxmlformats.org/drawingml/2006/main">
            <a:off x="1333500" y="509587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ctr">
              <a:defRPr sz="975" b="1" i="0">
                <a:solidFill>
                  <a:srgbClr val="B64A50"/>
                </a:solidFill>
                <a:latin typeface="Arial"/>
                <a:ea typeface="Arial"/>
                <a:cs typeface="Arial"/>
              </a:defRPr>
            </a:pPr>
            <a:r>
              <a:rPr sz="975" b="1" i="0">
                <a:solidFill>
                  <a:srgbClr val="B64A50"/>
                </a:solidFill>
                <a:latin typeface="Arial"/>
                <a:ea typeface="Arial"/>
                <a:cs typeface="Arial"/>
              </a:rPr>
              <a:t>MAIN LIMITATION</a:t>
            </a:r>
          </a:p>
        </p:txBody>
      </p:sp>
      <p:sp>
        <p:nvSpPr>
          <p:cNvPr id="26" name="">
            <a:extLst xmlns:a="http://schemas.openxmlformats.org/drawingml/2006/main">
              <a:ext uri="{FF2B5EF4-FFF2-40B4-BE49-F238E27FC236}">
                <a16:creationId xmlns:a16="http://schemas.microsoft.com/office/drawing/2014/main" id="{147F2814-0DA6-4F48-9F29-C0926FC65C83}"/>
              </a:ext>
            </a:extLst>
          </p:cNvPr>
          <p:cNvSpPr>
            <a:spLocks xmlns:a="http://schemas.openxmlformats.org/drawingml/2006/main" noGrp="1"/>
          </p:cNvSpPr>
          <p:nvPr/>
        </p:nvSpPr>
        <p:spPr>
          <a:xfrm xmlns:a="http://schemas.openxmlformats.org/drawingml/2006/main">
            <a:off x="2000250" y="5381625"/>
            <a:ext cx="8191500" cy="47625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64A50"/>
                </a:solidFill>
                <a:latin typeface="Arial"/>
                <a:ea typeface="Arial"/>
                <a:cs typeface="Arial"/>
              </a:defRPr>
            </a:pPr>
            <a:r>
              <a:rPr sz="1875" b="1" i="0">
                <a:solidFill>
                  <a:srgbClr val="B64A50"/>
                </a:solidFill>
                <a:latin typeface="Arial"/>
                <a:ea typeface="Arial"/>
                <a:cs typeface="Arial"/>
              </a:rPr>
              <a:t>Powdery / chalky and gritty / sandy mouthfeel</a:t>
            </a:r>
          </a:p>
        </p:txBody>
      </p:sp>
      <p:sp>
        <p:nvSpPr>
          <p:cNvPr id="27" name="">
            <a:extLst xmlns:a="http://schemas.openxmlformats.org/drawingml/2006/main">
              <a:ext uri="{FF2B5EF4-FFF2-40B4-BE49-F238E27FC236}">
                <a16:creationId xmlns:a16="http://schemas.microsoft.com/office/drawing/2014/main" id="{4AD0A4CA-007C-4DAA-822B-9D141848FDA5}"/>
              </a:ext>
            </a:extLst>
          </p:cNvPr>
          <p:cNvSpPr>
            <a:spLocks xmlns:a="http://schemas.openxmlformats.org/drawingml/2006/main" noGrp="1"/>
          </p:cNvSpPr>
          <p:nvPr/>
        </p:nvSpPr>
        <p:spPr>
          <a:xfrm xmlns:a="http://schemas.openxmlformats.org/drawingml/2006/main">
            <a:off x="2667000" y="59531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A promising candidate for development, not a validated commercial product.</a:t>
            </a:r>
          </a:p>
        </p:txBody>
      </p:sp>
      <p:sp>
        <p:nvSpPr>
          <p:cNvPr id="28" name="">
            <a:extLst xmlns:a="http://schemas.openxmlformats.org/drawingml/2006/main">
              <a:ext uri="{FF2B5EF4-FFF2-40B4-BE49-F238E27FC236}">
                <a16:creationId xmlns:a16="http://schemas.microsoft.com/office/drawing/2014/main" id="{B9EEF1E0-CDE6-4B41-977E-BF8B69E3B57E}"/>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29" name="">
            <a:extLst xmlns:a="http://schemas.openxmlformats.org/drawingml/2006/main">
              <a:ext uri="{FF2B5EF4-FFF2-40B4-BE49-F238E27FC236}">
                <a16:creationId xmlns:a16="http://schemas.microsoft.com/office/drawing/2014/main" id="{ADD938FE-1895-4EFA-858F-D8FE89B2F0DC}"/>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16</a:t>
            </a:r>
          </a:p>
        </p:txBody>
      </p:sp>
    </p:spTree>
    <p:extLst>
      <p:ext uri="{BB962C8B-B14F-4D97-AF65-F5344CB8AC3E}">
        <p14:creationId xmlns:p14="http://schemas.microsoft.com/office/powerpoint/2010/main" val="19700186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4BE96C4-5A5C-48D9-8182-61F9A07FA90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8F5BF4-4D9D-4C15-B477-C91D0B26F95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NEXT STEPS</a:t>
            </a:r>
          </a:p>
        </p:txBody>
      </p:sp>
      <p:sp>
        <p:nvSpPr>
          <p:cNvPr id="3" name="">
            <a:extLst xmlns:a="http://schemas.openxmlformats.org/drawingml/2006/main">
              <a:ext uri="{FF2B5EF4-FFF2-40B4-BE49-F238E27FC236}">
                <a16:creationId xmlns:a16="http://schemas.microsoft.com/office/drawing/2014/main" id="{48B807FC-C40C-43D2-8DB0-83568F3367B5}"/>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Limitations translated into a development roadmap</a:t>
            </a:r>
          </a:p>
        </p:txBody>
      </p:sp>
      <p:sp>
        <p:nvSpPr>
          <p:cNvPr id="4" name="">
            <a:extLst xmlns:a="http://schemas.openxmlformats.org/drawingml/2006/main">
              <a:ext uri="{FF2B5EF4-FFF2-40B4-BE49-F238E27FC236}">
                <a16:creationId xmlns:a16="http://schemas.microsoft.com/office/drawing/2014/main" id="{93BC7745-6916-4A43-A162-01F87F809C04}"/>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9C143BF1-11F7-4DA2-BDEB-62D5A1CE6B99}"/>
              </a:ext>
            </a:extLst>
          </p:cNvPr>
          <p:cNvSpPr>
            <a:spLocks xmlns:a="http://schemas.openxmlformats.org/drawingml/2006/main" noGrp="1"/>
          </p:cNvSpPr>
          <p:nvPr/>
        </p:nvSpPr>
        <p:spPr>
          <a:xfrm xmlns:a="http://schemas.openxmlformats.org/drawingml/2006/main">
            <a:off x="619125" y="14763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B5B8C"/>
                </a:solidFill>
                <a:latin typeface="Arial"/>
                <a:ea typeface="Arial"/>
                <a:cs typeface="Arial"/>
              </a:defRPr>
            </a:pPr>
            <a:r>
              <a:rPr sz="2475" b="1" i="0">
                <a:solidFill>
                  <a:srgbClr val="0B5B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1C46305-8898-45A1-A87F-1D4AF5960383}"/>
              </a:ext>
            </a:extLst>
          </p:cNvPr>
          <p:cNvSpPr>
            <a:spLocks xmlns:a="http://schemas.openxmlformats.org/drawingml/2006/main" noGrp="1"/>
          </p:cNvSpPr>
          <p:nvPr/>
        </p:nvSpPr>
        <p:spPr>
          <a:xfrm xmlns:a="http://schemas.openxmlformats.org/drawingml/2006/main">
            <a:off x="1476375" y="14763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Protein dispersion</a:t>
            </a:r>
          </a:p>
        </p:txBody>
      </p:sp>
      <p:sp>
        <p:nvSpPr>
          <p:cNvPr id="7" name="">
            <a:extLst xmlns:a="http://schemas.openxmlformats.org/drawingml/2006/main">
              <a:ext uri="{FF2B5EF4-FFF2-40B4-BE49-F238E27FC236}">
                <a16:creationId xmlns:a16="http://schemas.microsoft.com/office/drawing/2014/main" id="{E9B0115E-869E-4BE3-ACE7-0DC8E9390787}"/>
              </a:ext>
            </a:extLst>
          </p:cNvPr>
          <p:cNvSpPr>
            <a:spLocks xmlns:a="http://schemas.openxmlformats.org/drawingml/2006/main" noGrp="1"/>
          </p:cNvSpPr>
          <p:nvPr/>
        </p:nvSpPr>
        <p:spPr>
          <a:xfrm xmlns:a="http://schemas.openxmlformats.org/drawingml/2006/main">
            <a:off x="1476375" y="18097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Prehydration, addition order, finer sieving, suitable homogenisation and particle-size measurement</a:t>
            </a:r>
          </a:p>
        </p:txBody>
      </p:sp>
      <p:sp>
        <p:nvSpPr>
          <p:cNvPr id="8" name="">
            <a:extLst xmlns:a="http://schemas.openxmlformats.org/drawingml/2006/main">
              <a:ext uri="{FF2B5EF4-FFF2-40B4-BE49-F238E27FC236}">
                <a16:creationId xmlns:a16="http://schemas.microsoft.com/office/drawing/2014/main" id="{6F40E63C-7BDC-43D1-BCD8-6E90276C939D}"/>
              </a:ext>
            </a:extLst>
          </p:cNvPr>
          <p:cNvSpPr>
            <a:spLocks xmlns:a="http://schemas.openxmlformats.org/drawingml/2006/main" noGrp="1"/>
          </p:cNvSpPr>
          <p:nvPr/>
        </p:nvSpPr>
        <p:spPr>
          <a:xfrm xmlns:a="http://schemas.openxmlformats.org/drawingml/2006/main">
            <a:off x="1476375" y="250507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9" name="">
            <a:extLst xmlns:a="http://schemas.openxmlformats.org/drawingml/2006/main">
              <a:ext uri="{FF2B5EF4-FFF2-40B4-BE49-F238E27FC236}">
                <a16:creationId xmlns:a16="http://schemas.microsoft.com/office/drawing/2014/main" id="{D127F8E6-1678-4565-BB49-3710ACB51A0C}"/>
              </a:ext>
            </a:extLst>
          </p:cNvPr>
          <p:cNvSpPr>
            <a:spLocks xmlns:a="http://schemas.openxmlformats.org/drawingml/2006/main" noGrp="1"/>
          </p:cNvSpPr>
          <p:nvPr/>
        </p:nvSpPr>
        <p:spPr>
          <a:xfrm xmlns:a="http://schemas.openxmlformats.org/drawingml/2006/main">
            <a:off x="6334125" y="14763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B5B8C"/>
                </a:solidFill>
                <a:latin typeface="Arial"/>
                <a:ea typeface="Arial"/>
                <a:cs typeface="Arial"/>
              </a:defRPr>
            </a:pPr>
            <a:r>
              <a:rPr sz="2475" b="1" i="0">
                <a:solidFill>
                  <a:srgbClr val="0B5B8C"/>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9887D9E-B110-40C2-BED2-6FA2DD1A20A5}"/>
              </a:ext>
            </a:extLst>
          </p:cNvPr>
          <p:cNvSpPr>
            <a:spLocks xmlns:a="http://schemas.openxmlformats.org/drawingml/2006/main" noGrp="1"/>
          </p:cNvSpPr>
          <p:nvPr/>
        </p:nvSpPr>
        <p:spPr>
          <a:xfrm xmlns:a="http://schemas.openxmlformats.org/drawingml/2006/main">
            <a:off x="7191375" y="14763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Thermal validation</a:t>
            </a:r>
          </a:p>
        </p:txBody>
      </p:sp>
      <p:sp>
        <p:nvSpPr>
          <p:cNvPr id="11" name="">
            <a:extLst xmlns:a="http://schemas.openxmlformats.org/drawingml/2006/main">
              <a:ext uri="{FF2B5EF4-FFF2-40B4-BE49-F238E27FC236}">
                <a16:creationId xmlns:a16="http://schemas.microsoft.com/office/drawing/2014/main" id="{CE37F7FE-83D2-4DF5-955F-EC8E1575954E}"/>
              </a:ext>
            </a:extLst>
          </p:cNvPr>
          <p:cNvSpPr>
            <a:spLocks xmlns:a="http://schemas.openxmlformats.org/drawingml/2006/main" noGrp="1"/>
          </p:cNvSpPr>
          <p:nvPr/>
        </p:nvSpPr>
        <p:spPr>
          <a:xfrm xmlns:a="http://schemas.openxmlformats.org/drawingml/2006/main">
            <a:off x="7191375" y="18097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Direct product-temperature monitoring with calibrated probes and data logging</a:t>
            </a:r>
          </a:p>
        </p:txBody>
      </p:sp>
      <p:sp>
        <p:nvSpPr>
          <p:cNvPr id="12" name="">
            <a:extLst xmlns:a="http://schemas.openxmlformats.org/drawingml/2006/main">
              <a:ext uri="{FF2B5EF4-FFF2-40B4-BE49-F238E27FC236}">
                <a16:creationId xmlns:a16="http://schemas.microsoft.com/office/drawing/2014/main" id="{987207E5-01B4-4E36-AAC4-0D5DD4AA015F}"/>
              </a:ext>
            </a:extLst>
          </p:cNvPr>
          <p:cNvSpPr>
            <a:spLocks xmlns:a="http://schemas.openxmlformats.org/drawingml/2006/main" noGrp="1"/>
          </p:cNvSpPr>
          <p:nvPr/>
        </p:nvSpPr>
        <p:spPr>
          <a:xfrm xmlns:a="http://schemas.openxmlformats.org/drawingml/2006/main">
            <a:off x="7191375" y="250507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13" name="">
            <a:extLst xmlns:a="http://schemas.openxmlformats.org/drawingml/2006/main">
              <a:ext uri="{FF2B5EF4-FFF2-40B4-BE49-F238E27FC236}">
                <a16:creationId xmlns:a16="http://schemas.microsoft.com/office/drawing/2014/main" id="{2E7910B7-B7D9-4443-953C-1BF5BB3F9A0F}"/>
              </a:ext>
            </a:extLst>
          </p:cNvPr>
          <p:cNvSpPr>
            <a:spLocks xmlns:a="http://schemas.openxmlformats.org/drawingml/2006/main" noGrp="1"/>
          </p:cNvSpPr>
          <p:nvPr/>
        </p:nvSpPr>
        <p:spPr>
          <a:xfrm xmlns:a="http://schemas.openxmlformats.org/drawingml/2006/main">
            <a:off x="619125" y="28575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0A9B7"/>
                </a:solidFill>
                <a:latin typeface="Arial"/>
                <a:ea typeface="Arial"/>
                <a:cs typeface="Arial"/>
              </a:defRPr>
            </a:pPr>
            <a:r>
              <a:rPr sz="2475" b="1" i="0">
                <a:solidFill>
                  <a:srgbClr val="00A9B7"/>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F6BF65F8-CA7D-48B7-8B54-638E7D076168}"/>
              </a:ext>
            </a:extLst>
          </p:cNvPr>
          <p:cNvSpPr>
            <a:spLocks xmlns:a="http://schemas.openxmlformats.org/drawingml/2006/main" noGrp="1"/>
          </p:cNvSpPr>
          <p:nvPr/>
        </p:nvSpPr>
        <p:spPr>
          <a:xfrm xmlns:a="http://schemas.openxmlformats.org/drawingml/2006/main">
            <a:off x="1476375" y="2857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Composition</a:t>
            </a:r>
          </a:p>
        </p:txBody>
      </p:sp>
      <p:sp>
        <p:nvSpPr>
          <p:cNvPr id="15" name="">
            <a:extLst xmlns:a="http://schemas.openxmlformats.org/drawingml/2006/main">
              <a:ext uri="{FF2B5EF4-FFF2-40B4-BE49-F238E27FC236}">
                <a16:creationId xmlns:a16="http://schemas.microsoft.com/office/drawing/2014/main" id="{C9A36400-F0B0-429B-85DD-7F67C0574626}"/>
              </a:ext>
            </a:extLst>
          </p:cNvPr>
          <p:cNvSpPr>
            <a:spLocks xmlns:a="http://schemas.openxmlformats.org/drawingml/2006/main" noGrp="1"/>
          </p:cNvSpPr>
          <p:nvPr/>
        </p:nvSpPr>
        <p:spPr>
          <a:xfrm xmlns:a="http://schemas.openxmlformats.org/drawingml/2006/main">
            <a:off x="1476375" y="31908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Direct protein analysis of the final enriched beverage</a:t>
            </a:r>
          </a:p>
        </p:txBody>
      </p:sp>
      <p:sp>
        <p:nvSpPr>
          <p:cNvPr id="16" name="">
            <a:extLst xmlns:a="http://schemas.openxmlformats.org/drawingml/2006/main">
              <a:ext uri="{FF2B5EF4-FFF2-40B4-BE49-F238E27FC236}">
                <a16:creationId xmlns:a16="http://schemas.microsoft.com/office/drawing/2014/main" id="{4D55F63F-20EC-4FAA-9812-B34C12E79FAF}"/>
              </a:ext>
            </a:extLst>
          </p:cNvPr>
          <p:cNvSpPr>
            <a:spLocks xmlns:a="http://schemas.openxmlformats.org/drawingml/2006/main" noGrp="1"/>
          </p:cNvSpPr>
          <p:nvPr/>
        </p:nvSpPr>
        <p:spPr>
          <a:xfrm xmlns:a="http://schemas.openxmlformats.org/drawingml/2006/main">
            <a:off x="1476375" y="3886200"/>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17" name="">
            <a:extLst xmlns:a="http://schemas.openxmlformats.org/drawingml/2006/main">
              <a:ext uri="{FF2B5EF4-FFF2-40B4-BE49-F238E27FC236}">
                <a16:creationId xmlns:a16="http://schemas.microsoft.com/office/drawing/2014/main" id="{DD0F44AA-7837-4374-889F-030E445F46D7}"/>
              </a:ext>
            </a:extLst>
          </p:cNvPr>
          <p:cNvSpPr>
            <a:spLocks xmlns:a="http://schemas.openxmlformats.org/drawingml/2006/main" noGrp="1"/>
          </p:cNvSpPr>
          <p:nvPr/>
        </p:nvSpPr>
        <p:spPr>
          <a:xfrm xmlns:a="http://schemas.openxmlformats.org/drawingml/2006/main">
            <a:off x="6334125" y="28575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00A9B7"/>
                </a:solidFill>
                <a:latin typeface="Arial"/>
                <a:ea typeface="Arial"/>
                <a:cs typeface="Arial"/>
              </a:defRPr>
            </a:pPr>
            <a:r>
              <a:rPr sz="2475" b="1" i="0">
                <a:solidFill>
                  <a:srgbClr val="00A9B7"/>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AA3495DE-8A3B-4376-AA0B-CEA67956DB47}"/>
              </a:ext>
            </a:extLst>
          </p:cNvPr>
          <p:cNvSpPr>
            <a:spLocks xmlns:a="http://schemas.openxmlformats.org/drawingml/2006/main" noGrp="1"/>
          </p:cNvSpPr>
          <p:nvPr/>
        </p:nvSpPr>
        <p:spPr>
          <a:xfrm xmlns:a="http://schemas.openxmlformats.org/drawingml/2006/main">
            <a:off x="7191375" y="2857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Repeatability</a:t>
            </a:r>
          </a:p>
        </p:txBody>
      </p:sp>
      <p:sp>
        <p:nvSpPr>
          <p:cNvPr id="19" name="">
            <a:extLst xmlns:a="http://schemas.openxmlformats.org/drawingml/2006/main">
              <a:ext uri="{FF2B5EF4-FFF2-40B4-BE49-F238E27FC236}">
                <a16:creationId xmlns:a16="http://schemas.microsoft.com/office/drawing/2014/main" id="{A92E9CE0-D930-4302-9ED1-BB46B2CF38A8}"/>
              </a:ext>
            </a:extLst>
          </p:cNvPr>
          <p:cNvSpPr>
            <a:spLocks xmlns:a="http://schemas.openxmlformats.org/drawingml/2006/main" noGrp="1"/>
          </p:cNvSpPr>
          <p:nvPr/>
        </p:nvSpPr>
        <p:spPr>
          <a:xfrm xmlns:a="http://schemas.openxmlformats.org/drawingml/2006/main">
            <a:off x="7191375" y="31908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At least three independent control and 798 batches; yield, pH, rheology, particle size and sedimentation</a:t>
            </a:r>
          </a:p>
        </p:txBody>
      </p:sp>
      <p:sp>
        <p:nvSpPr>
          <p:cNvPr id="20" name="">
            <a:extLst xmlns:a="http://schemas.openxmlformats.org/drawingml/2006/main">
              <a:ext uri="{FF2B5EF4-FFF2-40B4-BE49-F238E27FC236}">
                <a16:creationId xmlns:a16="http://schemas.microsoft.com/office/drawing/2014/main" id="{42E962F1-D656-4B07-8329-588D04C5A261}"/>
              </a:ext>
            </a:extLst>
          </p:cNvPr>
          <p:cNvSpPr>
            <a:spLocks xmlns:a="http://schemas.openxmlformats.org/drawingml/2006/main" noGrp="1"/>
          </p:cNvSpPr>
          <p:nvPr/>
        </p:nvSpPr>
        <p:spPr>
          <a:xfrm xmlns:a="http://schemas.openxmlformats.org/drawingml/2006/main">
            <a:off x="7191375" y="3886200"/>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21" name="">
            <a:extLst xmlns:a="http://schemas.openxmlformats.org/drawingml/2006/main">
              <a:ext uri="{FF2B5EF4-FFF2-40B4-BE49-F238E27FC236}">
                <a16:creationId xmlns:a16="http://schemas.microsoft.com/office/drawing/2014/main" id="{567C7A7A-E36E-4AFF-A1C2-CF73DB2ED28B}"/>
              </a:ext>
            </a:extLst>
          </p:cNvPr>
          <p:cNvSpPr>
            <a:spLocks xmlns:a="http://schemas.openxmlformats.org/drawingml/2006/main" noGrp="1"/>
          </p:cNvSpPr>
          <p:nvPr/>
        </p:nvSpPr>
        <p:spPr>
          <a:xfrm xmlns:a="http://schemas.openxmlformats.org/drawingml/2006/main">
            <a:off x="619125" y="4238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6F8F72"/>
                </a:solidFill>
                <a:latin typeface="Arial"/>
                <a:ea typeface="Arial"/>
                <a:cs typeface="Arial"/>
              </a:defRPr>
            </a:pPr>
            <a:r>
              <a:rPr sz="2475" b="1" i="0">
                <a:solidFill>
                  <a:srgbClr val="6F8F72"/>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4CC7FBFD-4224-4505-996E-44B297D3F4A6}"/>
              </a:ext>
            </a:extLst>
          </p:cNvPr>
          <p:cNvSpPr>
            <a:spLocks xmlns:a="http://schemas.openxmlformats.org/drawingml/2006/main" noGrp="1"/>
          </p:cNvSpPr>
          <p:nvPr/>
        </p:nvSpPr>
        <p:spPr>
          <a:xfrm xmlns:a="http://schemas.openxmlformats.org/drawingml/2006/main">
            <a:off x="1476375" y="4238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Food safety</a:t>
            </a:r>
          </a:p>
        </p:txBody>
      </p:sp>
      <p:sp>
        <p:nvSpPr>
          <p:cNvPr id="23" name="">
            <a:extLst xmlns:a="http://schemas.openxmlformats.org/drawingml/2006/main">
              <a:ext uri="{FF2B5EF4-FFF2-40B4-BE49-F238E27FC236}">
                <a16:creationId xmlns:a16="http://schemas.microsoft.com/office/drawing/2014/main" id="{81A5810A-1B31-405E-9DC7-7D284CC250A7}"/>
              </a:ext>
            </a:extLst>
          </p:cNvPr>
          <p:cNvSpPr>
            <a:spLocks xmlns:a="http://schemas.openxmlformats.org/drawingml/2006/main" noGrp="1"/>
          </p:cNvSpPr>
          <p:nvPr/>
        </p:nvSpPr>
        <p:spPr>
          <a:xfrm xmlns:a="http://schemas.openxmlformats.org/drawingml/2006/main">
            <a:off x="1476375" y="45720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Microbiological analysis and shelf-life testing; pH alone is insufficient</a:t>
            </a:r>
          </a:p>
        </p:txBody>
      </p:sp>
      <p:sp>
        <p:nvSpPr>
          <p:cNvPr id="24" name="">
            <a:extLst xmlns:a="http://schemas.openxmlformats.org/drawingml/2006/main">
              <a:ext uri="{FF2B5EF4-FFF2-40B4-BE49-F238E27FC236}">
                <a16:creationId xmlns:a16="http://schemas.microsoft.com/office/drawing/2014/main" id="{689D8F99-7207-4F34-B6E4-9717FB001529}"/>
              </a:ext>
            </a:extLst>
          </p:cNvPr>
          <p:cNvSpPr>
            <a:spLocks xmlns:a="http://schemas.openxmlformats.org/drawingml/2006/main" noGrp="1"/>
          </p:cNvSpPr>
          <p:nvPr/>
        </p:nvSpPr>
        <p:spPr>
          <a:xfrm xmlns:a="http://schemas.openxmlformats.org/drawingml/2006/main">
            <a:off x="1476375" y="526732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25" name="">
            <a:extLst xmlns:a="http://schemas.openxmlformats.org/drawingml/2006/main">
              <a:ext uri="{FF2B5EF4-FFF2-40B4-BE49-F238E27FC236}">
                <a16:creationId xmlns:a16="http://schemas.microsoft.com/office/drawing/2014/main" id="{3CA32F1D-F062-46A1-BD9B-D3D8B1BE1B02}"/>
              </a:ext>
            </a:extLst>
          </p:cNvPr>
          <p:cNvSpPr>
            <a:spLocks xmlns:a="http://schemas.openxmlformats.org/drawingml/2006/main" noGrp="1"/>
          </p:cNvSpPr>
          <p:nvPr/>
        </p:nvSpPr>
        <p:spPr>
          <a:xfrm xmlns:a="http://schemas.openxmlformats.org/drawingml/2006/main">
            <a:off x="6334125" y="4238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i="0">
                <a:solidFill>
                  <a:srgbClr val="6F8F72"/>
                </a:solidFill>
                <a:latin typeface="Arial"/>
                <a:ea typeface="Arial"/>
                <a:cs typeface="Arial"/>
              </a:defRPr>
            </a:pPr>
            <a:r>
              <a:rPr sz="2475" b="1" i="0">
                <a:solidFill>
                  <a:srgbClr val="6F8F72"/>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56869425-139E-4127-BBCD-195301946BF1}"/>
              </a:ext>
            </a:extLst>
          </p:cNvPr>
          <p:cNvSpPr>
            <a:spLocks xmlns:a="http://schemas.openxmlformats.org/drawingml/2006/main" noGrp="1"/>
          </p:cNvSpPr>
          <p:nvPr/>
        </p:nvSpPr>
        <p:spPr>
          <a:xfrm xmlns:a="http://schemas.openxmlformats.org/drawingml/2006/main">
            <a:off x="7191375" y="4238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i="0">
                <a:solidFill>
                  <a:srgbClr val="082C4C"/>
                </a:solidFill>
                <a:latin typeface="Arial"/>
                <a:ea typeface="Arial"/>
                <a:cs typeface="Arial"/>
              </a:defRPr>
            </a:pPr>
            <a:r>
              <a:rPr sz="1425" b="1" i="0">
                <a:solidFill>
                  <a:srgbClr val="082C4C"/>
                </a:solidFill>
                <a:latin typeface="Arial"/>
                <a:ea typeface="Arial"/>
                <a:cs typeface="Arial"/>
              </a:rPr>
              <a:t>Sensory confirmation</a:t>
            </a:r>
          </a:p>
        </p:txBody>
      </p:sp>
      <p:sp>
        <p:nvSpPr>
          <p:cNvPr id="27" name="">
            <a:extLst xmlns:a="http://schemas.openxmlformats.org/drawingml/2006/main">
              <a:ext uri="{FF2B5EF4-FFF2-40B4-BE49-F238E27FC236}">
                <a16:creationId xmlns:a16="http://schemas.microsoft.com/office/drawing/2014/main" id="{50CC57B8-EEAB-4BAC-8586-66BDEA718B72}"/>
              </a:ext>
            </a:extLst>
          </p:cNvPr>
          <p:cNvSpPr>
            <a:spLocks xmlns:a="http://schemas.openxmlformats.org/drawingml/2006/main" noGrp="1"/>
          </p:cNvSpPr>
          <p:nvPr/>
        </p:nvSpPr>
        <p:spPr>
          <a:xfrm xmlns:a="http://schemas.openxmlformats.org/drawingml/2006/main">
            <a:off x="7191375" y="45720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526878"/>
                </a:solidFill>
                <a:latin typeface="Arial"/>
                <a:ea typeface="Arial"/>
                <a:cs typeface="Arial"/>
              </a:defRPr>
            </a:pPr>
            <a:r>
              <a:rPr sz="1050" b="0" i="0">
                <a:solidFill>
                  <a:srgbClr val="526878"/>
                </a:solidFill>
                <a:latin typeface="Arial"/>
                <a:ea typeface="Arial"/>
                <a:cs typeface="Arial"/>
              </a:rPr>
              <a:t>A larger and more representative consumer panel</a:t>
            </a:r>
          </a:p>
        </p:txBody>
      </p:sp>
      <p:sp>
        <p:nvSpPr>
          <p:cNvPr id="28" name="">
            <a:extLst xmlns:a="http://schemas.openxmlformats.org/drawingml/2006/main">
              <a:ext uri="{FF2B5EF4-FFF2-40B4-BE49-F238E27FC236}">
                <a16:creationId xmlns:a16="http://schemas.microsoft.com/office/drawing/2014/main" id="{F02769A1-A022-4415-A83B-CFF0E6A3DC1F}"/>
              </a:ext>
            </a:extLst>
          </p:cNvPr>
          <p:cNvSpPr>
            <a:spLocks xmlns:a="http://schemas.openxmlformats.org/drawingml/2006/main" noGrp="1"/>
          </p:cNvSpPr>
          <p:nvPr/>
        </p:nvSpPr>
        <p:spPr>
          <a:xfrm xmlns:a="http://schemas.openxmlformats.org/drawingml/2006/main">
            <a:off x="7191375" y="5267325"/>
            <a:ext cx="409575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29" name="">
            <a:extLst xmlns:a="http://schemas.openxmlformats.org/drawingml/2006/main">
              <a:ext uri="{FF2B5EF4-FFF2-40B4-BE49-F238E27FC236}">
                <a16:creationId xmlns:a16="http://schemas.microsoft.com/office/drawing/2014/main" id="{BFDFC90F-3699-4D32-B7A9-849249FEAAA4}"/>
              </a:ext>
            </a:extLst>
          </p:cNvPr>
          <p:cNvSpPr>
            <a:spLocks xmlns:a="http://schemas.openxmlformats.org/drawingml/2006/main" noGrp="1"/>
          </p:cNvSpPr>
          <p:nvPr/>
        </p:nvSpPr>
        <p:spPr>
          <a:xfrm xmlns:a="http://schemas.openxmlformats.org/drawingml/2006/main">
            <a:off x="762000" y="5619750"/>
            <a:ext cx="2095500" cy="342900"/>
          </a:xfrm>
          <a:prstGeom xmlns:a="http://schemas.openxmlformats.org/drawingml/2006/main" prst="rect">
            <a:avLst/>
          </a:prstGeom>
          <a:solidFill xmlns:a="http://schemas.openxmlformats.org/drawingml/2006/main">
            <a:srgbClr val="082C4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Proposed next experiment</a:t>
            </a:r>
          </a:p>
        </p:txBody>
      </p:sp>
      <p:sp>
        <p:nvSpPr>
          <p:cNvPr id="30" name="">
            <a:extLst xmlns:a="http://schemas.openxmlformats.org/drawingml/2006/main">
              <a:ext uri="{FF2B5EF4-FFF2-40B4-BE49-F238E27FC236}">
                <a16:creationId xmlns:a16="http://schemas.microsoft.com/office/drawing/2014/main" id="{AFB9E20A-F2AA-4084-8A97-818E18F86991}"/>
              </a:ext>
            </a:extLst>
          </p:cNvPr>
          <p:cNvSpPr>
            <a:spLocks xmlns:a="http://schemas.openxmlformats.org/drawingml/2006/main" noGrp="1"/>
          </p:cNvSpPr>
          <p:nvPr/>
        </p:nvSpPr>
        <p:spPr>
          <a:xfrm xmlns:a="http://schemas.openxmlformats.org/drawingml/2006/main">
            <a:off x="3048000" y="5619750"/>
            <a:ext cx="8286750" cy="4191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89879"/>
          </a:bodyPr>
          <a:lstStyle xmlns:a="http://schemas.openxmlformats.org/drawingml/2006/main"/>
          <a:p xmlns:a="http://schemas.openxmlformats.org/drawingml/2006/main">
            <a:pPr algn="ctr">
              <a:defRPr sz="1275" b="1" i="0">
                <a:solidFill>
                  <a:srgbClr val="082C4C"/>
                </a:solidFill>
                <a:latin typeface="Arial"/>
                <a:ea typeface="Arial"/>
                <a:cs typeface="Arial"/>
              </a:defRPr>
            </a:pPr>
            <a:r>
              <a:rPr sz="1275" b="1" i="0">
                <a:solidFill>
                  <a:srgbClr val="082C4C"/>
                </a:solidFill>
                <a:latin typeface="Arial"/>
                <a:ea typeface="Arial"/>
                <a:cs typeface="Arial"/>
              </a:rPr>
              <a:t>Control vs 798 · replicated production · thermal monitoring · rheology · particle size · Kjeldahl · sensory confirmation</a:t>
            </a:r>
          </a:p>
        </p:txBody>
      </p:sp>
      <p:sp>
        <p:nvSpPr>
          <p:cNvPr id="31" name="">
            <a:extLst xmlns:a="http://schemas.openxmlformats.org/drawingml/2006/main">
              <a:ext uri="{FF2B5EF4-FFF2-40B4-BE49-F238E27FC236}">
                <a16:creationId xmlns:a16="http://schemas.microsoft.com/office/drawing/2014/main" id="{666CCE95-A989-4C57-9B17-F5406D14D46B}"/>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32" name="">
            <a:extLst xmlns:a="http://schemas.openxmlformats.org/drawingml/2006/main">
              <a:ext uri="{FF2B5EF4-FFF2-40B4-BE49-F238E27FC236}">
                <a16:creationId xmlns:a16="http://schemas.microsoft.com/office/drawing/2014/main" id="{A539E5F9-415A-4451-B8E4-9B1C4D7DFD6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17</a:t>
            </a:r>
          </a:p>
        </p:txBody>
      </p:sp>
    </p:spTree>
    <p:extLst>
      <p:ext uri="{BB962C8B-B14F-4D97-AF65-F5344CB8AC3E}">
        <p14:creationId xmlns:p14="http://schemas.microsoft.com/office/powerpoint/2010/main" val="73877486"/>
      </p:ext>
    </p:extLst>
  </p:cSld>
</p:sld>
</file>

<file path=ppt/slides/slide18.xml><?xml version="1.0" encoding="utf-8"?>
<p:sld xmlns:p="http://schemas.openxmlformats.org/presentationml/2006/main">
  <p:cSld>
    <p:bg>
      <p:bgPr>
        <a:solidFill xmlns:a="http://schemas.openxmlformats.org/drawingml/2006/main">
          <a:srgbClr val="082C4C"/>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a9679a82f36480e"/>
          <a:srcRect xmlns:a="http://schemas.openxmlformats.org/drawingml/2006/main" l="11111" t="0" r="11111" b="0"/>
          <a:stretch xmlns:a="http://schemas.openxmlformats.org/drawingml/2006/main">
            <a:fillRect l="0" t="0" r="0" b="0"/>
          </a:stretch>
        </p:blipFill>
        <p:spPr>
          <a:xfrm xmlns:a="http://schemas.openxmlformats.org/drawingml/2006/main">
            <a:off x="8191500" y="0"/>
            <a:ext cx="4000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6D3397-2DFC-4AC5-B30A-237FEEB3E7FB}"/>
              </a:ext>
            </a:extLst>
          </p:cNvPr>
          <p:cNvSpPr>
            <a:spLocks xmlns:a="http://schemas.openxmlformats.org/drawingml/2006/main" noGrp="1"/>
          </p:cNvSpPr>
          <p:nvPr/>
        </p:nvSpPr>
        <p:spPr>
          <a:xfrm xmlns:a="http://schemas.openxmlformats.org/drawingml/2006/main">
            <a:off x="7620000" y="0"/>
            <a:ext cx="1143000" cy="6858000"/>
          </a:xfrm>
          <a:prstGeom xmlns:a="http://schemas.openxmlformats.org/drawingml/2006/main" prst="rect">
            <a:avLst/>
          </a:prstGeom>
          <a:solidFill xmlns:a="http://schemas.openxmlformats.org/drawingml/2006/main">
            <a:srgbClr val="082C4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A4A14C-9CB4-4B98-A4CA-08417E7D8063}"/>
              </a:ext>
            </a:extLst>
          </p:cNvPr>
          <p:cNvSpPr>
            <a:spLocks xmlns:a="http://schemas.openxmlformats.org/drawingml/2006/main" noGrp="1"/>
          </p:cNvSpPr>
          <p:nvPr/>
        </p:nvSpPr>
        <p:spPr>
          <a:xfrm xmlns:a="http://schemas.openxmlformats.org/drawingml/2006/main">
            <a:off x="7762875" y="0"/>
            <a:ext cx="76200" cy="685800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2DB986-7D2B-4A52-BF89-029AE5D2B744}"/>
              </a:ext>
            </a:extLst>
          </p:cNvPr>
          <p:cNvSpPr>
            <a:spLocks xmlns:a="http://schemas.openxmlformats.org/drawingml/2006/main" noGrp="1"/>
          </p:cNvSpPr>
          <p:nvPr/>
        </p:nvSpPr>
        <p:spPr>
          <a:xfrm xmlns:a="http://schemas.openxmlformats.org/drawingml/2006/main">
            <a:off x="571500" y="457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PROFESSIONAL OUTCOMES AND CONCLUSION</a:t>
            </a:r>
          </a:p>
        </p:txBody>
      </p:sp>
      <p:sp>
        <p:nvSpPr>
          <p:cNvPr id="5" name="">
            <a:extLst xmlns:a="http://schemas.openxmlformats.org/drawingml/2006/main">
              <a:ext uri="{FF2B5EF4-FFF2-40B4-BE49-F238E27FC236}">
                <a16:creationId xmlns:a16="http://schemas.microsoft.com/office/drawing/2014/main" id="{3149B9F0-D517-46DC-BAF5-4D955F503398}"/>
              </a:ext>
            </a:extLst>
          </p:cNvPr>
          <p:cNvSpPr>
            <a:spLocks xmlns:a="http://schemas.openxmlformats.org/drawingml/2006/main" noGrp="1"/>
          </p:cNvSpPr>
          <p:nvPr/>
        </p:nvSpPr>
        <p:spPr>
          <a:xfrm xmlns:a="http://schemas.openxmlformats.org/drawingml/2006/main">
            <a:off x="571500" y="857250"/>
            <a:ext cx="647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271"/>
          </a:bodyPr>
          <a:lstStyle xmlns:a="http://schemas.openxmlformats.org/drawingml/2006/main"/>
          <a:p xmlns:a="http://schemas.openxmlformats.org/drawingml/2006/main">
            <a:pPr algn="l">
              <a:defRPr sz="2400" b="1" i="0">
                <a:solidFill>
                  <a:srgbClr val="FFFFFF"/>
                </a:solidFill>
                <a:latin typeface="Arial"/>
                <a:ea typeface="Arial"/>
                <a:cs typeface="Arial"/>
              </a:defRPr>
            </a:pPr>
            <a:r>
              <a:rPr sz="2400" b="1" i="0">
                <a:solidFill>
                  <a:srgbClr val="FFFFFF"/>
                </a:solidFill>
                <a:latin typeface="Arial"/>
                <a:ea typeface="Arial"/>
                <a:cs typeface="Arial"/>
              </a:rPr>
              <a:t>Engineering is also knowing when an experimental plan must change.</a:t>
            </a:r>
          </a:p>
        </p:txBody>
      </p:sp>
      <p:sp>
        <p:nvSpPr>
          <p:cNvPr id="6" name="">
            <a:extLst xmlns:a="http://schemas.openxmlformats.org/drawingml/2006/main">
              <a:ext uri="{FF2B5EF4-FFF2-40B4-BE49-F238E27FC236}">
                <a16:creationId xmlns:a16="http://schemas.microsoft.com/office/drawing/2014/main" id="{156FB1EC-07F6-4B9B-A3CF-E317ECD7E89B}"/>
              </a:ext>
            </a:extLst>
          </p:cNvPr>
          <p:cNvSpPr>
            <a:spLocks xmlns:a="http://schemas.openxmlformats.org/drawingml/2006/main" noGrp="1"/>
          </p:cNvSpPr>
          <p:nvPr/>
        </p:nvSpPr>
        <p:spPr>
          <a:xfrm xmlns:a="http://schemas.openxmlformats.org/drawingml/2006/main">
            <a:off x="571500" y="20002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ADAPTATION</a:t>
            </a:r>
          </a:p>
        </p:txBody>
      </p:sp>
      <p:sp>
        <p:nvSpPr>
          <p:cNvPr id="7" name="">
            <a:extLst xmlns:a="http://schemas.openxmlformats.org/drawingml/2006/main">
              <a:ext uri="{FF2B5EF4-FFF2-40B4-BE49-F238E27FC236}">
                <a16:creationId xmlns:a16="http://schemas.microsoft.com/office/drawing/2014/main" id="{5FD72B5C-9468-48AA-B7DA-7E44BBC400D8}"/>
              </a:ext>
            </a:extLst>
          </p:cNvPr>
          <p:cNvSpPr>
            <a:spLocks xmlns:a="http://schemas.openxmlformats.org/drawingml/2006/main" noGrp="1"/>
          </p:cNvSpPr>
          <p:nvPr/>
        </p:nvSpPr>
        <p:spPr>
          <a:xfrm xmlns:a="http://schemas.openxmlformats.org/drawingml/2006/main">
            <a:off x="2381250" y="19812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The VR study was redirected when experimental reliability could not be guaranteed.</a:t>
            </a:r>
          </a:p>
        </p:txBody>
      </p:sp>
      <p:sp>
        <p:nvSpPr>
          <p:cNvPr id="8" name="">
            <a:extLst xmlns:a="http://schemas.openxmlformats.org/drawingml/2006/main">
              <a:ext uri="{FF2B5EF4-FFF2-40B4-BE49-F238E27FC236}">
                <a16:creationId xmlns:a16="http://schemas.microsoft.com/office/drawing/2014/main" id="{48F93EDC-7D15-429E-A94E-05FA9B205CA0}"/>
              </a:ext>
            </a:extLst>
          </p:cNvPr>
          <p:cNvSpPr>
            <a:spLocks xmlns:a="http://schemas.openxmlformats.org/drawingml/2006/main" noGrp="1"/>
          </p:cNvSpPr>
          <p:nvPr/>
        </p:nvSpPr>
        <p:spPr>
          <a:xfrm xmlns:a="http://schemas.openxmlformats.org/drawingml/2006/main">
            <a:off x="571500" y="29718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0A9B7"/>
                </a:solidFill>
                <a:latin typeface="Arial"/>
                <a:ea typeface="Arial"/>
                <a:cs typeface="Arial"/>
              </a:defRPr>
            </a:pPr>
            <a:r>
              <a:rPr sz="900" b="1" i="0">
                <a:solidFill>
                  <a:srgbClr val="00A9B7"/>
                </a:solidFill>
                <a:latin typeface="Arial"/>
                <a:ea typeface="Arial"/>
                <a:cs typeface="Arial"/>
              </a:rPr>
              <a:t>ANALYTICAL RESULT</a:t>
            </a:r>
          </a:p>
        </p:txBody>
      </p:sp>
      <p:sp>
        <p:nvSpPr>
          <p:cNvPr id="9" name="">
            <a:extLst xmlns:a="http://schemas.openxmlformats.org/drawingml/2006/main">
              <a:ext uri="{FF2B5EF4-FFF2-40B4-BE49-F238E27FC236}">
                <a16:creationId xmlns:a16="http://schemas.microsoft.com/office/drawing/2014/main" id="{188D132B-D3FB-4EF0-9BC9-6BEDF6296D71}"/>
              </a:ext>
            </a:extLst>
          </p:cNvPr>
          <p:cNvSpPr>
            <a:spLocks xmlns:a="http://schemas.openxmlformats.org/drawingml/2006/main" noGrp="1"/>
          </p:cNvSpPr>
          <p:nvPr/>
        </p:nvSpPr>
        <p:spPr>
          <a:xfrm xmlns:a="http://schemas.openxmlformats.org/drawingml/2006/main">
            <a:off x="2381250" y="29527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Selected base: 2.39 ± 0.17 g protein / 100 mL.</a:t>
            </a:r>
          </a:p>
        </p:txBody>
      </p:sp>
      <p:sp>
        <p:nvSpPr>
          <p:cNvPr id="10" name="">
            <a:extLst xmlns:a="http://schemas.openxmlformats.org/drawingml/2006/main">
              <a:ext uri="{FF2B5EF4-FFF2-40B4-BE49-F238E27FC236}">
                <a16:creationId xmlns:a16="http://schemas.microsoft.com/office/drawing/2014/main" id="{BB340116-26ED-4678-8D74-C6FB6BEAAE81}"/>
              </a:ext>
            </a:extLst>
          </p:cNvPr>
          <p:cNvSpPr>
            <a:spLocks xmlns:a="http://schemas.openxmlformats.org/drawingml/2006/main" noGrp="1"/>
          </p:cNvSpPr>
          <p:nvPr/>
        </p:nvSpPr>
        <p:spPr>
          <a:xfrm xmlns:a="http://schemas.openxmlformats.org/drawingml/2006/main">
            <a:off x="571500" y="39433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D8B77B"/>
                </a:solidFill>
                <a:latin typeface="Arial"/>
                <a:ea typeface="Arial"/>
                <a:cs typeface="Arial"/>
              </a:defRPr>
            </a:pPr>
            <a:r>
              <a:rPr sz="900" b="1" i="0">
                <a:solidFill>
                  <a:srgbClr val="D8B77B"/>
                </a:solidFill>
                <a:latin typeface="Arial"/>
                <a:ea typeface="Arial"/>
                <a:cs typeface="Arial"/>
              </a:rPr>
              <a:t>DEVELOPMENT RESULT</a:t>
            </a:r>
          </a:p>
        </p:txBody>
      </p:sp>
      <p:sp>
        <p:nvSpPr>
          <p:cNvPr id="11" name="">
            <a:extLst xmlns:a="http://schemas.openxmlformats.org/drawingml/2006/main">
              <a:ext uri="{FF2B5EF4-FFF2-40B4-BE49-F238E27FC236}">
                <a16:creationId xmlns:a16="http://schemas.microsoft.com/office/drawing/2014/main" id="{4E2F8AA4-5288-43F6-830A-5157A1A18C01}"/>
              </a:ext>
            </a:extLst>
          </p:cNvPr>
          <p:cNvSpPr>
            <a:spLocks xmlns:a="http://schemas.openxmlformats.org/drawingml/2006/main" noGrp="1"/>
          </p:cNvSpPr>
          <p:nvPr/>
        </p:nvSpPr>
        <p:spPr>
          <a:xfrm xmlns:a="http://schemas.openxmlformats.org/drawingml/2006/main">
            <a:off x="2381250" y="39243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Theoretical enriched level ≈4.85%; 798 was the strongest enriched candidate, with powdery and gritty mouthfeel still unresolved.</a:t>
            </a:r>
          </a:p>
        </p:txBody>
      </p:sp>
      <p:sp>
        <p:nvSpPr>
          <p:cNvPr id="12" name="">
            <a:extLst xmlns:a="http://schemas.openxmlformats.org/drawingml/2006/main">
              <a:ext uri="{FF2B5EF4-FFF2-40B4-BE49-F238E27FC236}">
                <a16:creationId xmlns:a16="http://schemas.microsoft.com/office/drawing/2014/main" id="{C3ACA5CE-AB99-4E1D-8A76-976040AF9699}"/>
              </a:ext>
            </a:extLst>
          </p:cNvPr>
          <p:cNvSpPr>
            <a:spLocks xmlns:a="http://schemas.openxmlformats.org/drawingml/2006/main" noGrp="1"/>
          </p:cNvSpPr>
          <p:nvPr/>
        </p:nvSpPr>
        <p:spPr>
          <a:xfrm xmlns:a="http://schemas.openxmlformats.org/drawingml/2006/main">
            <a:off x="571500" y="50958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i="0">
                <a:solidFill>
                  <a:srgbClr val="00A9B7"/>
                </a:solidFill>
                <a:latin typeface="Arial"/>
                <a:ea typeface="Arial"/>
                <a:cs typeface="Arial"/>
              </a:defRPr>
            </a:pPr>
            <a:r>
              <a:rPr sz="1200" b="1" i="0">
                <a:solidFill>
                  <a:srgbClr val="00A9B7"/>
                </a:solidFill>
                <a:latin typeface="Arial"/>
                <a:ea typeface="Arial"/>
                <a:cs typeface="Arial"/>
              </a:rPr>
              <a:t>Technical</a:t>
            </a:r>
          </a:p>
        </p:txBody>
      </p:sp>
      <p:sp>
        <p:nvSpPr>
          <p:cNvPr id="13" name="">
            <a:extLst xmlns:a="http://schemas.openxmlformats.org/drawingml/2006/main">
              <a:ext uri="{FF2B5EF4-FFF2-40B4-BE49-F238E27FC236}">
                <a16:creationId xmlns:a16="http://schemas.microsoft.com/office/drawing/2014/main" id="{DC30F6DA-4086-4843-A9B8-657D199C44D6}"/>
              </a:ext>
            </a:extLst>
          </p:cNvPr>
          <p:cNvSpPr>
            <a:spLocks xmlns:a="http://schemas.openxmlformats.org/drawingml/2006/main" noGrp="1"/>
          </p:cNvSpPr>
          <p:nvPr/>
        </p:nvSpPr>
        <p:spPr>
          <a:xfrm xmlns:a="http://schemas.openxmlformats.org/drawingml/2006/main">
            <a:off x="571500" y="54102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i="0">
                <a:solidFill>
                  <a:srgbClr val="D9EAF1"/>
                </a:solidFill>
                <a:latin typeface="Arial"/>
                <a:ea typeface="Arial"/>
                <a:cs typeface="Arial"/>
              </a:defRPr>
            </a:pPr>
            <a:r>
              <a:rPr sz="1050" b="0" i="0">
                <a:solidFill>
                  <a:srgbClr val="D9EAF1"/>
                </a:solidFill>
                <a:latin typeface="Arial"/>
                <a:ea typeface="Arial"/>
                <a:cs typeface="Arial"/>
              </a:rPr>
              <a:t>Processing · formulation · rheology · Kjeldahl · sensory preparation</a:t>
            </a:r>
          </a:p>
        </p:txBody>
      </p:sp>
      <p:sp>
        <p:nvSpPr>
          <p:cNvPr id="14" name="">
            <a:extLst xmlns:a="http://schemas.openxmlformats.org/drawingml/2006/main">
              <a:ext uri="{FF2B5EF4-FFF2-40B4-BE49-F238E27FC236}">
                <a16:creationId xmlns:a16="http://schemas.microsoft.com/office/drawing/2014/main" id="{05C7C47B-B255-4ECD-9D48-5C8B1BC6D99D}"/>
              </a:ext>
            </a:extLst>
          </p:cNvPr>
          <p:cNvSpPr>
            <a:spLocks xmlns:a="http://schemas.openxmlformats.org/drawingml/2006/main" noGrp="1"/>
          </p:cNvSpPr>
          <p:nvPr/>
        </p:nvSpPr>
        <p:spPr>
          <a:xfrm xmlns:a="http://schemas.openxmlformats.org/drawingml/2006/main">
            <a:off x="571500" y="5810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i="0">
                <a:solidFill>
                  <a:srgbClr val="D8B77B"/>
                </a:solidFill>
                <a:latin typeface="Arial"/>
                <a:ea typeface="Arial"/>
                <a:cs typeface="Arial"/>
              </a:defRPr>
            </a:pPr>
            <a:r>
              <a:rPr sz="1200" b="1" i="0">
                <a:solidFill>
                  <a:srgbClr val="D8B77B"/>
                </a:solidFill>
                <a:latin typeface="Arial"/>
                <a:ea typeface="Arial"/>
                <a:cs typeface="Arial"/>
              </a:rPr>
              <a:t>Professional</a:t>
            </a:r>
          </a:p>
        </p:txBody>
      </p:sp>
      <p:sp>
        <p:nvSpPr>
          <p:cNvPr id="15" name="">
            <a:extLst xmlns:a="http://schemas.openxmlformats.org/drawingml/2006/main">
              <a:ext uri="{FF2B5EF4-FFF2-40B4-BE49-F238E27FC236}">
                <a16:creationId xmlns:a16="http://schemas.microsoft.com/office/drawing/2014/main" id="{25B08B7E-342F-4D74-AC5F-7B1CCC1C4B7D}"/>
              </a:ext>
            </a:extLst>
          </p:cNvPr>
          <p:cNvSpPr>
            <a:spLocks xmlns:a="http://schemas.openxmlformats.org/drawingml/2006/main" noGrp="1"/>
          </p:cNvSpPr>
          <p:nvPr/>
        </p:nvSpPr>
        <p:spPr>
          <a:xfrm xmlns:a="http://schemas.openxmlformats.org/drawingml/2006/main">
            <a:off x="571500" y="612457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i="0">
                <a:solidFill>
                  <a:srgbClr val="D9EAF1"/>
                </a:solidFill>
                <a:latin typeface="Arial"/>
                <a:ea typeface="Arial"/>
                <a:cs typeface="Arial"/>
              </a:defRPr>
            </a:pPr>
            <a:r>
              <a:rPr sz="1050" b="0" i="0">
                <a:solidFill>
                  <a:srgbClr val="D9EAF1"/>
                </a:solidFill>
                <a:latin typeface="Arial"/>
                <a:ea typeface="Arial"/>
                <a:cs typeface="Arial"/>
              </a:rPr>
              <a:t>Working in English · troubleshooting · autonomy · traceability · project redirection</a:t>
            </a:r>
          </a:p>
        </p:txBody>
      </p:sp>
      <p:sp>
        <p:nvSpPr>
          <p:cNvPr id="16" name="">
            <a:extLst xmlns:a="http://schemas.openxmlformats.org/drawingml/2006/main">
              <a:ext uri="{FF2B5EF4-FFF2-40B4-BE49-F238E27FC236}">
                <a16:creationId xmlns:a16="http://schemas.microsoft.com/office/drawing/2014/main" id="{16A8713C-0ADE-4924-8E3E-E3A5585523BC}"/>
              </a:ext>
            </a:extLst>
          </p:cNvPr>
          <p:cNvSpPr>
            <a:spLocks xmlns:a="http://schemas.openxmlformats.org/drawingml/2006/main" noGrp="1"/>
          </p:cNvSpPr>
          <p:nvPr/>
        </p:nvSpPr>
        <p:spPr>
          <a:xfrm xmlns:a="http://schemas.openxmlformats.org/drawingml/2006/main">
            <a:off x="8572500" y="49530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i="0">
                <a:solidFill>
                  <a:srgbClr val="FFFFFF"/>
                </a:solidFill>
                <a:latin typeface="Arial"/>
                <a:ea typeface="Arial"/>
                <a:cs typeface="Arial"/>
              </a:defRPr>
            </a:pPr>
            <a:r>
              <a:rPr sz="2700" b="1" i="0">
                <a:solidFill>
                  <a:srgbClr val="FFFFFF"/>
                </a:solidFill>
                <a:latin typeface="Arial"/>
                <a:ea typeface="Arial"/>
                <a:cs typeface="Arial"/>
              </a:rPr>
              <a:t>Thank you</a:t>
            </a:r>
          </a:p>
          <a:p xmlns:a="http://schemas.openxmlformats.org/drawingml/2006/main">
            <a:pPr algn="ctr">
              <a:defRPr sz="2700" b="1" i="0">
                <a:solidFill>
                  <a:srgbClr val="FFFFFF"/>
                </a:solidFill>
                <a:latin typeface="Arial"/>
                <a:ea typeface="Arial"/>
                <a:cs typeface="Arial"/>
              </a:defRPr>
            </a:pPr>
            <a:r>
              <a:rPr sz="2700" b="1" i="0">
                <a:solidFill>
                  <a:srgbClr val="FFFFFF"/>
                </a:solidFill>
                <a:latin typeface="Arial"/>
                <a:ea typeface="Arial"/>
                <a:cs typeface="Arial"/>
              </a:rPr>
              <a:t>Questions?</a:t>
            </a:r>
          </a:p>
        </p:txBody>
      </p:sp>
      <p:sp>
        <p:nvSpPr>
          <p:cNvPr id="17" name="">
            <a:extLst xmlns:a="http://schemas.openxmlformats.org/drawingml/2006/main">
              <a:ext uri="{FF2B5EF4-FFF2-40B4-BE49-F238E27FC236}">
                <a16:creationId xmlns:a16="http://schemas.microsoft.com/office/drawing/2014/main" id="{EFB996A9-7957-4988-BCD4-EBD0FD8F70B3}"/>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Kali Mana · AUT 2026</a:t>
            </a:r>
          </a:p>
        </p:txBody>
      </p:sp>
      <p:sp>
        <p:nvSpPr>
          <p:cNvPr id="18" name="">
            <a:extLst xmlns:a="http://schemas.openxmlformats.org/drawingml/2006/main">
              <a:ext uri="{FF2B5EF4-FFF2-40B4-BE49-F238E27FC236}">
                <a16:creationId xmlns:a16="http://schemas.microsoft.com/office/drawing/2014/main" id="{6D2ADC28-E491-4ECB-BA18-7BB43ABE2FD1}"/>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18</a:t>
            </a:r>
          </a:p>
        </p:txBody>
      </p:sp>
    </p:spTree>
    <p:extLst>
      <p:ext uri="{BB962C8B-B14F-4D97-AF65-F5344CB8AC3E}">
        <p14:creationId xmlns:p14="http://schemas.microsoft.com/office/powerpoint/2010/main" val="1918412805"/>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50B315-326B-4370-BE97-09DDD4868BB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382AE6-C143-4548-9CED-CCC04F9282A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F4B5C7B5-11C3-492B-A5A9-9B29AF1FB2C6}"/>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Detailed oat beverage process</a:t>
            </a:r>
          </a:p>
        </p:txBody>
      </p:sp>
      <p:sp>
        <p:nvSpPr>
          <p:cNvPr id="4" name="">
            <a:extLst xmlns:a="http://schemas.openxmlformats.org/drawingml/2006/main">
              <a:ext uri="{FF2B5EF4-FFF2-40B4-BE49-F238E27FC236}">
                <a16:creationId xmlns:a16="http://schemas.microsoft.com/office/drawing/2014/main" id="{1F800487-4ACE-4948-9EF9-CE9A073CB517}"/>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3" name=""/>
          <p:cNvGraphicFramePr/>
          <p:nvPr/>
        </p:nvGraphicFramePr>
        <p:xfrm>
          <a:off xmlns:a="http://schemas.openxmlformats.org/drawingml/2006/main" x="571500" y="1476375"/>
          <a:ext xmlns:a="http://schemas.openxmlformats.org/drawingml/2006/main" cx="11049000" cy="4000500"/>
        </p:xfrm>
        <a:graphic xmlns:a="http://schemas.openxmlformats.org/drawingml/2006/main">
          <a:graphicData uri="http://schemas.openxmlformats.org/drawingml/2006/table">
            <a:tbl>
              <a:tblPr/>
              <a:tblGrid>
                <a:gridCol w="1809750"/>
                <a:gridCol w="4000500"/>
                <a:gridCol w="5238750"/>
              </a:tblGrid>
              <a:tr h="571500">
                <a:tc>
                  <a:txBody>
                    <a:bodyPr/>
                    <a:lstStyle/>
                    <a:p>
                      <a:r>
                        <a:rPr sz="1050" b="1">
                          <a:solidFill>
                            <a:srgbClr val="FFFFFF"/>
                          </a:solidFill>
                          <a:latin typeface="Arial"/>
                          <a:ea typeface="Arial"/>
                          <a:cs typeface="Arial"/>
                        </a:rPr>
                        <a:t>Stage</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Inputs / conditions</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Key control point</a:t>
                      </a:r>
                    </a:p>
                  </a:txBody>
                  <a:tcPr marL="91440" marR="91440" marT="45720" marB="45720" anchor="ctr">
                    <a:solidFill>
                      <a:srgbClr val="082C4C"/>
                    </a:solidFill>
                  </a:tcPr>
                </a:tc>
              </a:tr>
              <a:tr h="571500">
                <a:tc>
                  <a:txBody>
                    <a:bodyPr/>
                    <a:lstStyle/>
                    <a:p>
                      <a:r>
                        <a:rPr sz="1050">
                          <a:solidFill>
                            <a:srgbClr val="173244"/>
                          </a:solidFill>
                          <a:latin typeface="Arial"/>
                          <a:ea typeface="Arial"/>
                          <a:cs typeface="Arial"/>
                        </a:rPr>
                        <a:t>Base</a:t>
                      </a:r>
                    </a:p>
                  </a:txBody>
                  <a:tcPr marL="66675" marR="66675" marT="38100" marB="38100" anchor="ctr">
                    <a:solidFill>
                      <a:srgbClr val="F7FAFC"/>
                    </a:solidFill>
                  </a:tcPr>
                </a:tc>
                <a:tc>
                  <a:txBody>
                    <a:bodyPr/>
                    <a:lstStyle/>
                    <a:p>
                      <a:r>
                        <a:rPr sz="1050">
                          <a:solidFill>
                            <a:srgbClr val="173244"/>
                          </a:solidFill>
                          <a:latin typeface="Arial"/>
                          <a:ea typeface="Arial"/>
                          <a:cs typeface="Arial"/>
                        </a:rPr>
                        <a:t>600 g oats + 3.0 L water</a:t>
                      </a:r>
                    </a:p>
                  </a:txBody>
                  <a:tcPr marL="66675" marR="66675" marT="38100" marB="38100" anchor="ctr">
                    <a:solidFill>
                      <a:srgbClr val="F7FAFC"/>
                    </a:solidFill>
                  </a:tcPr>
                </a:tc>
                <a:tc>
                  <a:txBody>
                    <a:bodyPr/>
                    <a:lstStyle/>
                    <a:p>
                      <a:r>
                        <a:rPr sz="1050">
                          <a:solidFill>
                            <a:srgbClr val="173244"/>
                          </a:solidFill>
                          <a:latin typeface="Arial"/>
                          <a:ea typeface="Arial"/>
                          <a:cs typeface="Arial"/>
                        </a:rPr>
                        <a:t>Hand mixing; shallow trays</a:t>
                      </a:r>
                    </a:p>
                  </a:txBody>
                  <a:tcPr marL="66675" marR="66675" marT="38100" marB="38100" anchor="ctr">
                    <a:solidFill>
                      <a:srgbClr val="F7FAFC"/>
                    </a:solidFill>
                  </a:tcPr>
                </a:tc>
              </a:tr>
              <a:tr h="571500">
                <a:tc>
                  <a:txBody>
                    <a:bodyPr/>
                    <a:lstStyle/>
                    <a:p>
                      <a:r>
                        <a:rPr sz="1050">
                          <a:solidFill>
                            <a:srgbClr val="173244"/>
                          </a:solidFill>
                          <a:latin typeface="Arial"/>
                          <a:ea typeface="Arial"/>
                          <a:cs typeface="Arial"/>
                        </a:rPr>
                        <a:t>Enzymes</a:t>
                      </a:r>
                    </a:p>
                  </a:txBody>
                  <a:tcPr marL="66675" marR="66675" marT="38100" marB="38100" anchor="ctr"/>
                </a:tc>
                <a:tc>
                  <a:txBody>
                    <a:bodyPr/>
                    <a:lstStyle/>
                    <a:p>
                      <a:r>
                        <a:rPr sz="1050">
                          <a:solidFill>
                            <a:srgbClr val="173244"/>
                          </a:solidFill>
                          <a:latin typeface="Arial"/>
                          <a:ea typeface="Arial"/>
                          <a:cs typeface="Arial"/>
                        </a:rPr>
                        <a:t>BAN 528 µL + AMG 198 µL</a:t>
                      </a:r>
                    </a:p>
                  </a:txBody>
                  <a:tcPr marL="66675" marR="66675" marT="38100" marB="38100" anchor="ctr"/>
                </a:tc>
                <a:tc>
                  <a:txBody>
                    <a:bodyPr/>
                    <a:lstStyle/>
                    <a:p>
                      <a:r>
                        <a:rPr sz="1050">
                          <a:solidFill>
                            <a:srgbClr val="173244"/>
                          </a:solidFill>
                          <a:latin typeface="Arial"/>
                          <a:ea typeface="Arial"/>
                          <a:cs typeface="Arial"/>
                        </a:rPr>
                        <a:t>Scaled to batch size</a:t>
                      </a:r>
                    </a:p>
                  </a:txBody>
                  <a:tcPr marL="66675" marR="66675" marT="38100" marB="38100" anchor="ctr"/>
                </a:tc>
              </a:tr>
              <a:tr h="571500">
                <a:tc>
                  <a:txBody>
                    <a:bodyPr/>
                    <a:lstStyle/>
                    <a:p>
                      <a:r>
                        <a:rPr sz="1050">
                          <a:solidFill>
                            <a:srgbClr val="173244"/>
                          </a:solidFill>
                          <a:latin typeface="Arial"/>
                          <a:ea typeface="Arial"/>
                          <a:cs typeface="Arial"/>
                        </a:rPr>
                        <a:t>Hydrolysis</a:t>
                      </a:r>
                    </a:p>
                  </a:txBody>
                  <a:tcPr marL="66675" marR="66675" marT="38100" marB="38100" anchor="ctr">
                    <a:solidFill>
                      <a:srgbClr val="F7FAFC"/>
                    </a:solidFill>
                  </a:tcPr>
                </a:tc>
                <a:tc>
                  <a:txBody>
                    <a:bodyPr/>
                    <a:lstStyle/>
                    <a:p>
                      <a:r>
                        <a:rPr sz="1050">
                          <a:solidFill>
                            <a:srgbClr val="173244"/>
                          </a:solidFill>
                          <a:latin typeface="Arial"/>
                          <a:ea typeface="Arial"/>
                          <a:cs typeface="Arial"/>
                        </a:rPr>
                        <a:t>Oven set to 67 °C for 90 min</a:t>
                      </a:r>
                    </a:p>
                  </a:txBody>
                  <a:tcPr marL="66675" marR="66675" marT="38100" marB="38100" anchor="ctr">
                    <a:solidFill>
                      <a:srgbClr val="F7FAFC"/>
                    </a:solidFill>
                  </a:tcPr>
                </a:tc>
                <a:tc>
                  <a:txBody>
                    <a:bodyPr/>
                    <a:lstStyle/>
                    <a:p>
                      <a:r>
                        <a:rPr sz="1050">
                          <a:solidFill>
                            <a:srgbClr val="173244"/>
                          </a:solidFill>
                          <a:latin typeface="Arial"/>
                          <a:ea typeface="Arial"/>
                          <a:cs typeface="Arial"/>
                        </a:rPr>
                        <a:t>Product temperature not continuously measured</a:t>
                      </a:r>
                    </a:p>
                  </a:txBody>
                  <a:tcPr marL="66675" marR="66675" marT="38100" marB="38100" anchor="ctr">
                    <a:solidFill>
                      <a:srgbClr val="F7FAFC"/>
                    </a:solidFill>
                  </a:tcPr>
                </a:tc>
              </a:tr>
              <a:tr h="571500">
                <a:tc>
                  <a:txBody>
                    <a:bodyPr/>
                    <a:lstStyle/>
                    <a:p>
                      <a:r>
                        <a:rPr sz="1050">
                          <a:solidFill>
                            <a:srgbClr val="173244"/>
                          </a:solidFill>
                          <a:latin typeface="Arial"/>
                          <a:ea typeface="Arial"/>
                          <a:cs typeface="Arial"/>
                        </a:rPr>
                        <a:t>Final heating</a:t>
                      </a:r>
                    </a:p>
                  </a:txBody>
                  <a:tcPr marL="66675" marR="66675" marT="38100" marB="38100" anchor="ctr"/>
                </a:tc>
                <a:tc>
                  <a:txBody>
                    <a:bodyPr/>
                    <a:lstStyle/>
                    <a:p>
                      <a:r>
                        <a:rPr sz="1050">
                          <a:solidFill>
                            <a:srgbClr val="173244"/>
                          </a:solidFill>
                          <a:latin typeface="Arial"/>
                          <a:ea typeface="Arial"/>
                          <a:cs typeface="Arial"/>
                        </a:rPr>
                        <a:t>Oven set to 200 °C; stop at visible boiling</a:t>
                      </a:r>
                    </a:p>
                  </a:txBody>
                  <a:tcPr marL="66675" marR="66675" marT="38100" marB="38100" anchor="ctr"/>
                </a:tc>
                <a:tc>
                  <a:txBody>
                    <a:bodyPr/>
                    <a:lstStyle/>
                    <a:p>
                      <a:r>
                        <a:rPr sz="1050">
                          <a:solidFill>
                            <a:srgbClr val="173244"/>
                          </a:solidFill>
                          <a:latin typeface="Arial"/>
                          <a:ea typeface="Arial"/>
                          <a:cs typeface="Arial"/>
                        </a:rPr>
                        <a:t>Empirical inactivation step, not validated pasteurisation</a:t>
                      </a:r>
                    </a:p>
                  </a:txBody>
                  <a:tcPr marL="66675" marR="66675" marT="38100" marB="38100" anchor="ctr"/>
                </a:tc>
              </a:tr>
              <a:tr h="571500">
                <a:tc>
                  <a:txBody>
                    <a:bodyPr/>
                    <a:lstStyle/>
                    <a:p>
                      <a:r>
                        <a:rPr sz="1050">
                          <a:solidFill>
                            <a:srgbClr val="173244"/>
                          </a:solidFill>
                          <a:latin typeface="Arial"/>
                          <a:ea typeface="Arial"/>
                          <a:cs typeface="Arial"/>
                        </a:rPr>
                        <a:t>Recovery</a:t>
                      </a:r>
                    </a:p>
                  </a:txBody>
                  <a:tcPr marL="66675" marR="66675" marT="38100" marB="38100" anchor="ctr">
                    <a:solidFill>
                      <a:srgbClr val="F7FAFC"/>
                    </a:solidFill>
                  </a:tcPr>
                </a:tc>
                <a:tc>
                  <a:txBody>
                    <a:bodyPr/>
                    <a:lstStyle/>
                    <a:p>
                      <a:r>
                        <a:rPr sz="1050">
                          <a:solidFill>
                            <a:srgbClr val="173244"/>
                          </a:solidFill>
                          <a:latin typeface="Arial"/>
                          <a:ea typeface="Arial"/>
                          <a:cs typeface="Arial"/>
                        </a:rPr>
                        <a:t>Hot filtration; cold or iced-water cooling</a:t>
                      </a:r>
                    </a:p>
                  </a:txBody>
                  <a:tcPr marL="66675" marR="66675" marT="38100" marB="38100" anchor="ctr">
                    <a:solidFill>
                      <a:srgbClr val="F7FAFC"/>
                    </a:solidFill>
                  </a:tcPr>
                </a:tc>
                <a:tc>
                  <a:txBody>
                    <a:bodyPr/>
                    <a:lstStyle/>
                    <a:p>
                      <a:r>
                        <a:rPr sz="1050">
                          <a:solidFill>
                            <a:srgbClr val="173244"/>
                          </a:solidFill>
                          <a:latin typeface="Arial"/>
                          <a:ea typeface="Arial"/>
                          <a:cs typeface="Arial"/>
                        </a:rPr>
                        <a:t>≈2.5 L filtered beverage</a:t>
                      </a:r>
                    </a:p>
                  </a:txBody>
                  <a:tcPr marL="66675" marR="66675" marT="38100" marB="38100" anchor="ctr">
                    <a:solidFill>
                      <a:srgbClr val="F7FAFC"/>
                    </a:solidFill>
                  </a:tcPr>
                </a:tc>
              </a:tr>
              <a:tr h="571500">
                <a:tc>
                  <a:txBody>
                    <a:bodyPr/>
                    <a:lstStyle/>
                    <a:p>
                      <a:r>
                        <a:rPr sz="1050">
                          <a:solidFill>
                            <a:srgbClr val="173244"/>
                          </a:solidFill>
                          <a:latin typeface="Arial"/>
                          <a:ea typeface="Arial"/>
                          <a:cs typeface="Arial"/>
                        </a:rPr>
                        <a:t>Functional base</a:t>
                      </a:r>
                    </a:p>
                  </a:txBody>
                  <a:tcPr marL="66675" marR="66675" marT="38100" marB="38100" anchor="ctr"/>
                </a:tc>
                <a:tc>
                  <a:txBody>
                    <a:bodyPr/>
                    <a:lstStyle/>
                    <a:p>
                      <a:r>
                        <a:rPr sz="1050">
                          <a:solidFill>
                            <a:srgbClr val="173244"/>
                          </a:solidFill>
                          <a:latin typeface="Arial"/>
                          <a:ea typeface="Arial"/>
                          <a:cs typeface="Arial"/>
                        </a:rPr>
                        <a:t>375 g caramel; 50 mL Tulsi; 3.25 g xanthan; 5.00 g salt</a:t>
                      </a:r>
                    </a:p>
                  </a:txBody>
                  <a:tcPr marL="66675" marR="66675" marT="38100" marB="38100" anchor="ctr"/>
                </a:tc>
                <a:tc>
                  <a:txBody>
                    <a:bodyPr/>
                    <a:lstStyle/>
                    <a:p>
                      <a:r>
                        <a:rPr sz="1050">
                          <a:solidFill>
                            <a:srgbClr val="173244"/>
                          </a:solidFill>
                          <a:latin typeface="Arial"/>
                          <a:ea typeface="Arial"/>
                          <a:cs typeface="Arial"/>
                        </a:rPr>
                        <a:t>Protein added after this stage</a:t>
                      </a:r>
                    </a:p>
                  </a:txBody>
                  <a:tcPr marL="66675" marR="66675" marT="38100" marB="38100" anchor="ctr"/>
                </a:tc>
              </a:tr>
            </a:tbl>
          </a:graphicData>
        </a:graphic>
      </p:graphicFrame>
      <p:sp>
        <p:nvSpPr>
          <p:cNvPr id="6" name="">
            <a:extLst xmlns:a="http://schemas.openxmlformats.org/drawingml/2006/main">
              <a:ext uri="{FF2B5EF4-FFF2-40B4-BE49-F238E27FC236}">
                <a16:creationId xmlns:a16="http://schemas.microsoft.com/office/drawing/2014/main" id="{CAB4EA83-51C5-4035-AFF6-8019864D687C}"/>
              </a:ext>
            </a:extLst>
          </p:cNvPr>
          <p:cNvSpPr>
            <a:spLocks xmlns:a="http://schemas.openxmlformats.org/drawingml/2006/main" noGrp="1"/>
          </p:cNvSpPr>
          <p:nvPr/>
        </p:nvSpPr>
        <p:spPr>
          <a:xfrm xmlns:a="http://schemas.openxmlformats.org/drawingml/2006/main">
            <a:off x="762000" y="5734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i="0">
                <a:solidFill>
                  <a:srgbClr val="526878"/>
                </a:solidFill>
                <a:latin typeface="Arial"/>
                <a:ea typeface="Arial"/>
                <a:cs typeface="Arial"/>
              </a:defRPr>
            </a:pPr>
            <a:r>
              <a:rPr sz="1125" b="0" i="0">
                <a:solidFill>
                  <a:srgbClr val="526878"/>
                </a:solidFill>
                <a:latin typeface="Arial"/>
                <a:ea typeface="Arial"/>
                <a:cs typeface="Arial"/>
              </a:rPr>
              <a:t>Coconut caramel: 400 g coconut cream + 250 g brown sugar + 5 g corn starch + 0.5 g salt + 2 g vanilla</a:t>
            </a:r>
          </a:p>
        </p:txBody>
      </p:sp>
      <p:sp>
        <p:nvSpPr>
          <p:cNvPr id="7" name="">
            <a:extLst xmlns:a="http://schemas.openxmlformats.org/drawingml/2006/main">
              <a:ext uri="{FF2B5EF4-FFF2-40B4-BE49-F238E27FC236}">
                <a16:creationId xmlns:a16="http://schemas.microsoft.com/office/drawing/2014/main" id="{90737F10-8E81-45CD-AA8A-BF453157FE31}"/>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8" name="">
            <a:extLst xmlns:a="http://schemas.openxmlformats.org/drawingml/2006/main">
              <a:ext uri="{FF2B5EF4-FFF2-40B4-BE49-F238E27FC236}">
                <a16:creationId xmlns:a16="http://schemas.microsoft.com/office/drawing/2014/main" id="{87E3828F-73AD-4815-9226-D51386A47904}"/>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19</a:t>
            </a:r>
          </a:p>
        </p:txBody>
      </p:sp>
    </p:spTree>
    <p:extLst>
      <p:ext uri="{BB962C8B-B14F-4D97-AF65-F5344CB8AC3E}">
        <p14:creationId xmlns:p14="http://schemas.microsoft.com/office/powerpoint/2010/main" val="1641116719"/>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4E6CE5-0FE1-4B54-84CE-025BD263E72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D37CB1-234F-4CD5-81FB-4165E529F0D6}"/>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26B6095D-47BC-44D8-9D25-160FC6BCF959}"/>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Preliminary rheology</a:t>
            </a:r>
          </a:p>
        </p:txBody>
      </p:sp>
      <p:sp>
        <p:nvSpPr>
          <p:cNvPr id="4" name="">
            <a:extLst xmlns:a="http://schemas.openxmlformats.org/drawingml/2006/main">
              <a:ext uri="{FF2B5EF4-FFF2-40B4-BE49-F238E27FC236}">
                <a16:creationId xmlns:a16="http://schemas.microsoft.com/office/drawing/2014/main" id="{B3C8C764-1963-4677-94BB-F141FB89517F}"/>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6" name="Chart"/>
          <p:cNvGraphicFramePr/>
          <p:nvPr/>
        </p:nvGraphicFramePr>
        <p:xfrm>
          <a:off xmlns:a="http://schemas.openxmlformats.org/drawingml/2006/main" x="523875" y="1524000"/>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d04d15f99f1842ec"/>
          </a:graphicData>
        </a:graphic>
      </p:graphicFrame>
      <p:sp>
        <p:nvSpPr>
          <p:cNvPr id="6" name="">
            <a:extLst xmlns:a="http://schemas.openxmlformats.org/drawingml/2006/main">
              <a:ext uri="{FF2B5EF4-FFF2-40B4-BE49-F238E27FC236}">
                <a16:creationId xmlns:a16="http://schemas.microsoft.com/office/drawing/2014/main" id="{9363E500-04C7-457B-81F0-5E75ACDB265B}"/>
              </a:ext>
            </a:extLst>
          </p:cNvPr>
          <p:cNvSpPr>
            <a:spLocks xmlns:a="http://schemas.openxmlformats.org/drawingml/2006/main" noGrp="1"/>
          </p:cNvSpPr>
          <p:nvPr/>
        </p:nvSpPr>
        <p:spPr>
          <a:xfrm xmlns:a="http://schemas.openxmlformats.org/drawingml/2006/main">
            <a:off x="809625" y="16383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0B5B8C"/>
                </a:solidFill>
                <a:latin typeface="Arial"/>
                <a:ea typeface="Arial"/>
                <a:cs typeface="Arial"/>
              </a:defRPr>
            </a:pPr>
            <a:r>
              <a:rPr sz="900" b="1" i="0">
                <a:solidFill>
                  <a:srgbClr val="0B5B8C"/>
                </a:solidFill>
                <a:latin typeface="Arial"/>
                <a:ea typeface="Arial"/>
                <a:cs typeface="Arial"/>
              </a:rPr>
              <a:t>SOY: NOMINAL PRELIMINARY LEVELS</a:t>
            </a:r>
          </a:p>
        </p:txBody>
      </p:sp>
      <p:graphicFrame>
        <p:nvGraphicFramePr>
          <p:cNvPr id="18" name="Chart"/>
          <p:cNvGraphicFramePr/>
          <p:nvPr/>
        </p:nvGraphicFramePr>
        <p:xfrm>
          <a:off xmlns:a="http://schemas.openxmlformats.org/drawingml/2006/main" x="6477000" y="1524000"/>
          <a:ext xmlns:a="http://schemas.openxmlformats.org/drawingml/2006/main" cx="4953000" cy="3714750"/>
        </p:xfrm>
        <a:graphic xmlns:a="http://schemas.openxmlformats.org/drawingml/2006/main">
          <a:graphicData uri="http://schemas.openxmlformats.org/drawingml/2006/chart">
            <c:chart xmlns:r="http://schemas.openxmlformats.org/officeDocument/2006/relationships" xmlns:c="http://schemas.openxmlformats.org/drawingml/2006/chart" r:id="R5311a393e2984795"/>
          </a:graphicData>
        </a:graphic>
      </p:graphicFrame>
      <p:sp>
        <p:nvSpPr>
          <p:cNvPr id="8" name="">
            <a:extLst xmlns:a="http://schemas.openxmlformats.org/drawingml/2006/main">
              <a:ext uri="{FF2B5EF4-FFF2-40B4-BE49-F238E27FC236}">
                <a16:creationId xmlns:a16="http://schemas.microsoft.com/office/drawing/2014/main" id="{81659175-45EF-404C-B895-7CD1C894FE6F}"/>
              </a:ext>
            </a:extLst>
          </p:cNvPr>
          <p:cNvSpPr>
            <a:spLocks xmlns:a="http://schemas.openxmlformats.org/drawingml/2006/main" noGrp="1"/>
          </p:cNvSpPr>
          <p:nvPr/>
        </p:nvSpPr>
        <p:spPr>
          <a:xfrm xmlns:a="http://schemas.openxmlformats.org/drawingml/2006/main">
            <a:off x="6762750" y="1638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i="0">
                <a:solidFill>
                  <a:srgbClr val="D8B77B"/>
                </a:solidFill>
                <a:latin typeface="Arial"/>
                <a:ea typeface="Arial"/>
                <a:cs typeface="Arial"/>
              </a:defRPr>
            </a:pPr>
            <a:r>
              <a:rPr sz="900" b="1" i="0">
                <a:solidFill>
                  <a:srgbClr val="D8B77B"/>
                </a:solidFill>
                <a:latin typeface="Arial"/>
                <a:ea typeface="Arial"/>
                <a:cs typeface="Arial"/>
              </a:rPr>
              <a:t>RICE: EXPLORATORY HEATING PILOT</a:t>
            </a:r>
          </a:p>
        </p:txBody>
      </p:sp>
      <p:sp>
        <p:nvSpPr>
          <p:cNvPr id="9" name="">
            <a:extLst xmlns:a="http://schemas.openxmlformats.org/drawingml/2006/main">
              <a:ext uri="{FF2B5EF4-FFF2-40B4-BE49-F238E27FC236}">
                <a16:creationId xmlns:a16="http://schemas.microsoft.com/office/drawing/2014/main" id="{A1296066-3A93-4841-BFB8-01A9DB47C23E}"/>
              </a:ext>
            </a:extLst>
          </p:cNvPr>
          <p:cNvSpPr>
            <a:spLocks xmlns:a="http://schemas.openxmlformats.org/drawingml/2006/main" noGrp="1"/>
          </p:cNvSpPr>
          <p:nvPr/>
        </p:nvSpPr>
        <p:spPr>
          <a:xfrm xmlns:a="http://schemas.openxmlformats.org/drawingml/2006/main">
            <a:off x="1524000" y="5619750"/>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B64A50"/>
                </a:solidFill>
                <a:latin typeface="Arial"/>
                <a:ea typeface="Arial"/>
                <a:cs typeface="Arial"/>
              </a:defRPr>
            </a:pPr>
            <a:r>
              <a:rPr sz="1200" b="1" i="0">
                <a:solidFill>
                  <a:srgbClr val="B64A50"/>
                </a:solidFill>
                <a:latin typeface="Arial"/>
                <a:ea typeface="Arial"/>
                <a:cs typeface="Arial"/>
              </a:rPr>
              <a:t>Single screening runs. Preliminary nominal percentages used the earlier 1% base-protein assumption.</a:t>
            </a:r>
          </a:p>
        </p:txBody>
      </p:sp>
      <p:sp>
        <p:nvSpPr>
          <p:cNvPr id="10" name="">
            <a:extLst xmlns:a="http://schemas.openxmlformats.org/drawingml/2006/main">
              <a:ext uri="{FF2B5EF4-FFF2-40B4-BE49-F238E27FC236}">
                <a16:creationId xmlns:a16="http://schemas.microsoft.com/office/drawing/2014/main" id="{16B42BD5-0466-44A8-893C-47B03C5FFB21}"/>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1" name="">
            <a:extLst xmlns:a="http://schemas.openxmlformats.org/drawingml/2006/main">
              <a:ext uri="{FF2B5EF4-FFF2-40B4-BE49-F238E27FC236}">
                <a16:creationId xmlns:a16="http://schemas.microsoft.com/office/drawing/2014/main" id="{E1CB6718-77F4-4EAE-B960-BD0B74138AE5}"/>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20</a:t>
            </a:r>
          </a:p>
        </p:txBody>
      </p:sp>
    </p:spTree>
    <p:extLst>
      <p:ext uri="{BB962C8B-B14F-4D97-AF65-F5344CB8AC3E}">
        <p14:creationId xmlns:p14="http://schemas.microsoft.com/office/powerpoint/2010/main" val="1987832010"/>
      </p:ext>
    </p:extLst>
  </p:cSld>
</p:sld>
</file>

<file path=ppt/slides/slide2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675E1A8-272B-435B-9638-E1CF812A9F8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39E726-1B5D-4342-A34D-BDD16FB1230A}"/>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B63C3B2E-DA27-4444-B617-B4D9AA6BD23F}"/>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Kjeldahl method</a:t>
            </a:r>
          </a:p>
        </p:txBody>
      </p:sp>
      <p:sp>
        <p:nvSpPr>
          <p:cNvPr id="4" name="">
            <a:extLst xmlns:a="http://schemas.openxmlformats.org/drawingml/2006/main">
              <a:ext uri="{FF2B5EF4-FFF2-40B4-BE49-F238E27FC236}">
                <a16:creationId xmlns:a16="http://schemas.microsoft.com/office/drawing/2014/main" id="{4C2CD5F2-089D-4588-8717-A900CEBC9DF3}"/>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20F168A8-98F0-42E0-9075-8B385DD3952B}"/>
              </a:ext>
            </a:extLst>
          </p:cNvPr>
          <p:cNvSpPr>
            <a:spLocks xmlns:a="http://schemas.openxmlformats.org/drawingml/2006/main" noGrp="1"/>
          </p:cNvSpPr>
          <p:nvPr/>
        </p:nvSpPr>
        <p:spPr>
          <a:xfrm xmlns:a="http://schemas.openxmlformats.org/drawingml/2006/main">
            <a:off x="523875" y="1619250"/>
            <a:ext cx="1571625" cy="666750"/>
          </a:xfrm>
          <a:prstGeom xmlns:a="http://schemas.openxmlformats.org/drawingml/2006/main" prst="roundRect">
            <a:avLst>
              <a:gd name="adj" fmla="val 11429"/>
            </a:avLst>
          </a:prstGeom>
          <a:solidFill xmlns:a="http://schemas.openxmlformats.org/drawingml/2006/main">
            <a:srgbClr val="EEF5F9"/>
          </a:solidFill>
          <a:ln xmlns:a="http://schemas.openxmlformats.org/drawingml/2006/main" w="14288">
            <a:solidFill>
              <a:srgbClr val="0B5B8C"/>
            </a:solidFill>
          </a:ln>
        </p:spPr>
      </p:sp>
      <p:sp>
        <p:nvSpPr>
          <p:cNvPr id="6" name="">
            <a:extLst xmlns:a="http://schemas.openxmlformats.org/drawingml/2006/main">
              <a:ext uri="{FF2B5EF4-FFF2-40B4-BE49-F238E27FC236}">
                <a16:creationId xmlns:a16="http://schemas.microsoft.com/office/drawing/2014/main" id="{957F0609-4697-4FEE-B42D-4EEC095C1DC3}"/>
              </a:ext>
            </a:extLst>
          </p:cNvPr>
          <p:cNvSpPr>
            <a:spLocks xmlns:a="http://schemas.openxmlformats.org/drawingml/2006/main" noGrp="1"/>
          </p:cNvSpPr>
          <p:nvPr/>
        </p:nvSpPr>
        <p:spPr>
          <a:xfrm xmlns:a="http://schemas.openxmlformats.org/drawingml/2006/main">
            <a:off x="60007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Freeze-drying</a:t>
            </a:r>
          </a:p>
        </p:txBody>
      </p:sp>
      <p:sp>
        <p:nvSpPr>
          <p:cNvPr id="7" name="">
            <a:extLst xmlns:a="http://schemas.openxmlformats.org/drawingml/2006/main">
              <a:ext uri="{FF2B5EF4-FFF2-40B4-BE49-F238E27FC236}">
                <a16:creationId xmlns:a16="http://schemas.microsoft.com/office/drawing/2014/main" id="{3EF2CFFA-23FC-4914-9C9E-18D6E221174C}"/>
              </a:ext>
            </a:extLst>
          </p:cNvPr>
          <p:cNvSpPr>
            <a:spLocks xmlns:a="http://schemas.openxmlformats.org/drawingml/2006/main" noGrp="1"/>
          </p:cNvSpPr>
          <p:nvPr/>
        </p:nvSpPr>
        <p:spPr>
          <a:xfrm xmlns:a="http://schemas.openxmlformats.org/drawingml/2006/main">
            <a:off x="212407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8" name="">
            <a:extLst xmlns:a="http://schemas.openxmlformats.org/drawingml/2006/main">
              <a:ext uri="{FF2B5EF4-FFF2-40B4-BE49-F238E27FC236}">
                <a16:creationId xmlns:a16="http://schemas.microsoft.com/office/drawing/2014/main" id="{0DFEE32C-0DE9-4BD3-A686-134B01F15DC9}"/>
              </a:ext>
            </a:extLst>
          </p:cNvPr>
          <p:cNvSpPr>
            <a:spLocks xmlns:a="http://schemas.openxmlformats.org/drawingml/2006/main" noGrp="1"/>
          </p:cNvSpPr>
          <p:nvPr/>
        </p:nvSpPr>
        <p:spPr>
          <a:xfrm xmlns:a="http://schemas.openxmlformats.org/drawingml/2006/main">
            <a:off x="227647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9B5DAB-634C-4640-8A40-47220A357E64}"/>
              </a:ext>
            </a:extLst>
          </p:cNvPr>
          <p:cNvSpPr>
            <a:spLocks xmlns:a="http://schemas.openxmlformats.org/drawingml/2006/main" noGrp="1"/>
          </p:cNvSpPr>
          <p:nvPr/>
        </p:nvSpPr>
        <p:spPr>
          <a:xfrm xmlns:a="http://schemas.openxmlformats.org/drawingml/2006/main">
            <a:off x="2409825" y="1619250"/>
            <a:ext cx="1571625" cy="666750"/>
          </a:xfrm>
          <a:prstGeom xmlns:a="http://schemas.openxmlformats.org/drawingml/2006/main" prst="roundRect">
            <a:avLst>
              <a:gd name="adj" fmla="val 11429"/>
            </a:avLst>
          </a:prstGeom>
          <a:solidFill xmlns:a="http://schemas.openxmlformats.org/drawingml/2006/main">
            <a:srgbClr val="EEF5F9"/>
          </a:solidFill>
          <a:ln xmlns:a="http://schemas.openxmlformats.org/drawingml/2006/main" w="14288">
            <a:solidFill>
              <a:srgbClr val="0B5B8C"/>
            </a:solidFill>
          </a:ln>
        </p:spPr>
      </p:sp>
      <p:sp>
        <p:nvSpPr>
          <p:cNvPr id="10" name="">
            <a:extLst xmlns:a="http://schemas.openxmlformats.org/drawingml/2006/main">
              <a:ext uri="{FF2B5EF4-FFF2-40B4-BE49-F238E27FC236}">
                <a16:creationId xmlns:a16="http://schemas.microsoft.com/office/drawing/2014/main" id="{F27010F2-E004-43E9-BDCA-A3BD4DD31AF3}"/>
              </a:ext>
            </a:extLst>
          </p:cNvPr>
          <p:cNvSpPr>
            <a:spLocks xmlns:a="http://schemas.openxmlformats.org/drawingml/2006/main" noGrp="1"/>
          </p:cNvSpPr>
          <p:nvPr/>
        </p:nvSpPr>
        <p:spPr>
          <a:xfrm xmlns:a="http://schemas.openxmlformats.org/drawingml/2006/main">
            <a:off x="248602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≈1.000 g sample</a:t>
            </a:r>
          </a:p>
        </p:txBody>
      </p:sp>
      <p:sp>
        <p:nvSpPr>
          <p:cNvPr id="11" name="">
            <a:extLst xmlns:a="http://schemas.openxmlformats.org/drawingml/2006/main">
              <a:ext uri="{FF2B5EF4-FFF2-40B4-BE49-F238E27FC236}">
                <a16:creationId xmlns:a16="http://schemas.microsoft.com/office/drawing/2014/main" id="{65C6D409-E4E9-45B0-B773-727ABCE29190}"/>
              </a:ext>
            </a:extLst>
          </p:cNvPr>
          <p:cNvSpPr>
            <a:spLocks xmlns:a="http://schemas.openxmlformats.org/drawingml/2006/main" noGrp="1"/>
          </p:cNvSpPr>
          <p:nvPr/>
        </p:nvSpPr>
        <p:spPr>
          <a:xfrm xmlns:a="http://schemas.openxmlformats.org/drawingml/2006/main">
            <a:off x="401002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2" name="">
            <a:extLst xmlns:a="http://schemas.openxmlformats.org/drawingml/2006/main">
              <a:ext uri="{FF2B5EF4-FFF2-40B4-BE49-F238E27FC236}">
                <a16:creationId xmlns:a16="http://schemas.microsoft.com/office/drawing/2014/main" id="{30340DBD-1537-4410-AF52-1FE105AFF527}"/>
              </a:ext>
            </a:extLst>
          </p:cNvPr>
          <p:cNvSpPr>
            <a:spLocks xmlns:a="http://schemas.openxmlformats.org/drawingml/2006/main" noGrp="1"/>
          </p:cNvSpPr>
          <p:nvPr/>
        </p:nvSpPr>
        <p:spPr>
          <a:xfrm xmlns:a="http://schemas.openxmlformats.org/drawingml/2006/main">
            <a:off x="416242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12138F-6A0E-4714-85F2-D35E5504E074}"/>
              </a:ext>
            </a:extLst>
          </p:cNvPr>
          <p:cNvSpPr>
            <a:spLocks xmlns:a="http://schemas.openxmlformats.org/drawingml/2006/main" noGrp="1"/>
          </p:cNvSpPr>
          <p:nvPr/>
        </p:nvSpPr>
        <p:spPr>
          <a:xfrm xmlns:a="http://schemas.openxmlformats.org/drawingml/2006/main">
            <a:off x="4295775" y="1619250"/>
            <a:ext cx="1571625" cy="666750"/>
          </a:xfrm>
          <a:prstGeom xmlns:a="http://schemas.openxmlformats.org/drawingml/2006/main" prst="roundRect">
            <a:avLst>
              <a:gd name="adj" fmla="val 11429"/>
            </a:avLst>
          </a:prstGeom>
          <a:solidFill xmlns:a="http://schemas.openxmlformats.org/drawingml/2006/main">
            <a:srgbClr val="EEF5F9"/>
          </a:solidFill>
          <a:ln xmlns:a="http://schemas.openxmlformats.org/drawingml/2006/main" w="14288">
            <a:solidFill>
              <a:srgbClr val="0B5B8C"/>
            </a:solidFill>
          </a:ln>
        </p:spPr>
      </p:sp>
      <p:sp>
        <p:nvSpPr>
          <p:cNvPr id="14" name="">
            <a:extLst xmlns:a="http://schemas.openxmlformats.org/drawingml/2006/main">
              <a:ext uri="{FF2B5EF4-FFF2-40B4-BE49-F238E27FC236}">
                <a16:creationId xmlns:a16="http://schemas.microsoft.com/office/drawing/2014/main" id="{3CA527E5-D630-4EBB-9A05-864FBC5ADBD3}"/>
              </a:ext>
            </a:extLst>
          </p:cNvPr>
          <p:cNvSpPr>
            <a:spLocks xmlns:a="http://schemas.openxmlformats.org/drawingml/2006/main" noGrp="1"/>
          </p:cNvSpPr>
          <p:nvPr/>
        </p:nvSpPr>
        <p:spPr>
          <a:xfrm xmlns:a="http://schemas.openxmlformats.org/drawingml/2006/main">
            <a:off x="437197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Digestion</a:t>
            </a:r>
          </a:p>
        </p:txBody>
      </p:sp>
      <p:sp>
        <p:nvSpPr>
          <p:cNvPr id="15" name="">
            <a:extLst xmlns:a="http://schemas.openxmlformats.org/drawingml/2006/main">
              <a:ext uri="{FF2B5EF4-FFF2-40B4-BE49-F238E27FC236}">
                <a16:creationId xmlns:a16="http://schemas.microsoft.com/office/drawing/2014/main" id="{4945F170-1684-47BA-9CE7-03883597BE21}"/>
              </a:ext>
            </a:extLst>
          </p:cNvPr>
          <p:cNvSpPr>
            <a:spLocks xmlns:a="http://schemas.openxmlformats.org/drawingml/2006/main" noGrp="1"/>
          </p:cNvSpPr>
          <p:nvPr/>
        </p:nvSpPr>
        <p:spPr>
          <a:xfrm xmlns:a="http://schemas.openxmlformats.org/drawingml/2006/main">
            <a:off x="589597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16" name="">
            <a:extLst xmlns:a="http://schemas.openxmlformats.org/drawingml/2006/main">
              <a:ext uri="{FF2B5EF4-FFF2-40B4-BE49-F238E27FC236}">
                <a16:creationId xmlns:a16="http://schemas.microsoft.com/office/drawing/2014/main" id="{C8B8FFC1-F31E-4723-94F2-A61A50A62268}"/>
              </a:ext>
            </a:extLst>
          </p:cNvPr>
          <p:cNvSpPr>
            <a:spLocks xmlns:a="http://schemas.openxmlformats.org/drawingml/2006/main" noGrp="1"/>
          </p:cNvSpPr>
          <p:nvPr/>
        </p:nvSpPr>
        <p:spPr>
          <a:xfrm xmlns:a="http://schemas.openxmlformats.org/drawingml/2006/main">
            <a:off x="604837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353CBC8-6B25-4C37-A79A-4756EFF2B4BC}"/>
              </a:ext>
            </a:extLst>
          </p:cNvPr>
          <p:cNvSpPr>
            <a:spLocks xmlns:a="http://schemas.openxmlformats.org/drawingml/2006/main" noGrp="1"/>
          </p:cNvSpPr>
          <p:nvPr/>
        </p:nvSpPr>
        <p:spPr>
          <a:xfrm xmlns:a="http://schemas.openxmlformats.org/drawingml/2006/main">
            <a:off x="6181725" y="1619250"/>
            <a:ext cx="1571625" cy="666750"/>
          </a:xfrm>
          <a:prstGeom xmlns:a="http://schemas.openxmlformats.org/drawingml/2006/main" prst="roundRect">
            <a:avLst>
              <a:gd name="adj" fmla="val 11429"/>
            </a:avLst>
          </a:prstGeom>
          <a:solidFill xmlns:a="http://schemas.openxmlformats.org/drawingml/2006/main">
            <a:srgbClr val="F4EBDD"/>
          </a:solidFill>
          <a:ln xmlns:a="http://schemas.openxmlformats.org/drawingml/2006/main" w="14288">
            <a:solidFill>
              <a:srgbClr val="D8B77B"/>
            </a:solidFill>
          </a:ln>
        </p:spPr>
      </p:sp>
      <p:sp>
        <p:nvSpPr>
          <p:cNvPr id="18" name="">
            <a:extLst xmlns:a="http://schemas.openxmlformats.org/drawingml/2006/main">
              <a:ext uri="{FF2B5EF4-FFF2-40B4-BE49-F238E27FC236}">
                <a16:creationId xmlns:a16="http://schemas.microsoft.com/office/drawing/2014/main" id="{B99CF805-3EA3-4C0F-8D72-BB307D5603B3}"/>
              </a:ext>
            </a:extLst>
          </p:cNvPr>
          <p:cNvSpPr>
            <a:spLocks xmlns:a="http://schemas.openxmlformats.org/drawingml/2006/main" noGrp="1"/>
          </p:cNvSpPr>
          <p:nvPr/>
        </p:nvSpPr>
        <p:spPr>
          <a:xfrm xmlns:a="http://schemas.openxmlformats.org/drawingml/2006/main">
            <a:off x="625792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Distillation</a:t>
            </a:r>
          </a:p>
        </p:txBody>
      </p:sp>
      <p:sp>
        <p:nvSpPr>
          <p:cNvPr id="19" name="">
            <a:extLst xmlns:a="http://schemas.openxmlformats.org/drawingml/2006/main">
              <a:ext uri="{FF2B5EF4-FFF2-40B4-BE49-F238E27FC236}">
                <a16:creationId xmlns:a16="http://schemas.microsoft.com/office/drawing/2014/main" id="{17FE212D-511F-4CC1-8BAF-DB0EC58BFCE3}"/>
              </a:ext>
            </a:extLst>
          </p:cNvPr>
          <p:cNvSpPr>
            <a:spLocks xmlns:a="http://schemas.openxmlformats.org/drawingml/2006/main" noGrp="1"/>
          </p:cNvSpPr>
          <p:nvPr/>
        </p:nvSpPr>
        <p:spPr>
          <a:xfrm xmlns:a="http://schemas.openxmlformats.org/drawingml/2006/main">
            <a:off x="778192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0" name="">
            <a:extLst xmlns:a="http://schemas.openxmlformats.org/drawingml/2006/main">
              <a:ext uri="{FF2B5EF4-FFF2-40B4-BE49-F238E27FC236}">
                <a16:creationId xmlns:a16="http://schemas.microsoft.com/office/drawing/2014/main" id="{AB331E84-9662-4080-B1ED-77545E48F247}"/>
              </a:ext>
            </a:extLst>
          </p:cNvPr>
          <p:cNvSpPr>
            <a:spLocks xmlns:a="http://schemas.openxmlformats.org/drawingml/2006/main" noGrp="1"/>
          </p:cNvSpPr>
          <p:nvPr/>
        </p:nvSpPr>
        <p:spPr>
          <a:xfrm xmlns:a="http://schemas.openxmlformats.org/drawingml/2006/main">
            <a:off x="793432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FD43957-4D98-444D-9569-F2177F9A41C4}"/>
              </a:ext>
            </a:extLst>
          </p:cNvPr>
          <p:cNvSpPr>
            <a:spLocks xmlns:a="http://schemas.openxmlformats.org/drawingml/2006/main" noGrp="1"/>
          </p:cNvSpPr>
          <p:nvPr/>
        </p:nvSpPr>
        <p:spPr>
          <a:xfrm xmlns:a="http://schemas.openxmlformats.org/drawingml/2006/main">
            <a:off x="8067675" y="1619250"/>
            <a:ext cx="1571625" cy="666750"/>
          </a:xfrm>
          <a:prstGeom xmlns:a="http://schemas.openxmlformats.org/drawingml/2006/main" prst="roundRect">
            <a:avLst>
              <a:gd name="adj" fmla="val 11429"/>
            </a:avLst>
          </a:prstGeom>
          <a:solidFill xmlns:a="http://schemas.openxmlformats.org/drawingml/2006/main">
            <a:srgbClr val="F4EBDD"/>
          </a:solidFill>
          <a:ln xmlns:a="http://schemas.openxmlformats.org/drawingml/2006/main" w="14288">
            <a:solidFill>
              <a:srgbClr val="D8B77B"/>
            </a:solidFill>
          </a:ln>
        </p:spPr>
      </p:sp>
      <p:sp>
        <p:nvSpPr>
          <p:cNvPr id="22" name="">
            <a:extLst xmlns:a="http://schemas.openxmlformats.org/drawingml/2006/main">
              <a:ext uri="{FF2B5EF4-FFF2-40B4-BE49-F238E27FC236}">
                <a16:creationId xmlns:a16="http://schemas.microsoft.com/office/drawing/2014/main" id="{120BF0B9-F9C0-4AB0-926E-72CB50130985}"/>
              </a:ext>
            </a:extLst>
          </p:cNvPr>
          <p:cNvSpPr>
            <a:spLocks xmlns:a="http://schemas.openxmlformats.org/drawingml/2006/main" noGrp="1"/>
          </p:cNvSpPr>
          <p:nvPr/>
        </p:nvSpPr>
        <p:spPr>
          <a:xfrm xmlns:a="http://schemas.openxmlformats.org/drawingml/2006/main">
            <a:off x="814387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0.100 mol/L HCl</a:t>
            </a:r>
          </a:p>
        </p:txBody>
      </p:sp>
      <p:sp>
        <p:nvSpPr>
          <p:cNvPr id="23" name="">
            <a:extLst xmlns:a="http://schemas.openxmlformats.org/drawingml/2006/main">
              <a:ext uri="{FF2B5EF4-FFF2-40B4-BE49-F238E27FC236}">
                <a16:creationId xmlns:a16="http://schemas.microsoft.com/office/drawing/2014/main" id="{3BA77E9B-ADA9-435F-87C9-A806F99A045E}"/>
              </a:ext>
            </a:extLst>
          </p:cNvPr>
          <p:cNvSpPr>
            <a:spLocks xmlns:a="http://schemas.openxmlformats.org/drawingml/2006/main" noGrp="1"/>
          </p:cNvSpPr>
          <p:nvPr/>
        </p:nvSpPr>
        <p:spPr>
          <a:xfrm xmlns:a="http://schemas.openxmlformats.org/drawingml/2006/main">
            <a:off x="9667875" y="1952625"/>
            <a:ext cx="228600" cy="0"/>
          </a:xfrm>
          <a:prstGeom xmlns:a="http://schemas.openxmlformats.org/drawingml/2006/main" prst="line">
            <a:avLst/>
          </a:prstGeom>
          <a:noFill xmlns:a="http://schemas.openxmlformats.org/drawingml/2006/main"/>
          <a:ln xmlns:a="http://schemas.openxmlformats.org/drawingml/2006/main" w="19050">
            <a:solidFill>
              <a:srgbClr val="00A9B7"/>
            </a:solidFill>
          </a:ln>
        </p:spPr>
      </p:sp>
      <p:sp>
        <p:nvSpPr>
          <p:cNvPr id="24" name="">
            <a:extLst xmlns:a="http://schemas.openxmlformats.org/drawingml/2006/main">
              <a:ext uri="{FF2B5EF4-FFF2-40B4-BE49-F238E27FC236}">
                <a16:creationId xmlns:a16="http://schemas.microsoft.com/office/drawing/2014/main" id="{C6D7C011-0463-4904-BBFF-2DCCC4EA2F39}"/>
              </a:ext>
            </a:extLst>
          </p:cNvPr>
          <p:cNvSpPr>
            <a:spLocks xmlns:a="http://schemas.openxmlformats.org/drawingml/2006/main" noGrp="1"/>
          </p:cNvSpPr>
          <p:nvPr/>
        </p:nvSpPr>
        <p:spPr>
          <a:xfrm xmlns:a="http://schemas.openxmlformats.org/drawingml/2006/main">
            <a:off x="9820275" y="1895475"/>
            <a:ext cx="133350" cy="114300"/>
          </a:xfrm>
          <a:prstGeom xmlns:a="http://schemas.openxmlformats.org/drawingml/2006/main" prst="triangle">
            <a:avLst/>
          </a:prstGeom>
          <a:solidFill xmlns:a="http://schemas.openxmlformats.org/drawingml/2006/main">
            <a:srgbClr val="00A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ABC3A02-5ABA-447C-B42D-CA5F0C558B2F}"/>
              </a:ext>
            </a:extLst>
          </p:cNvPr>
          <p:cNvSpPr>
            <a:spLocks xmlns:a="http://schemas.openxmlformats.org/drawingml/2006/main" noGrp="1"/>
          </p:cNvSpPr>
          <p:nvPr/>
        </p:nvSpPr>
        <p:spPr>
          <a:xfrm xmlns:a="http://schemas.openxmlformats.org/drawingml/2006/main">
            <a:off x="9953625" y="1619250"/>
            <a:ext cx="1571625" cy="666750"/>
          </a:xfrm>
          <a:prstGeom xmlns:a="http://schemas.openxmlformats.org/drawingml/2006/main" prst="roundRect">
            <a:avLst>
              <a:gd name="adj" fmla="val 11429"/>
            </a:avLst>
          </a:prstGeom>
          <a:solidFill xmlns:a="http://schemas.openxmlformats.org/drawingml/2006/main">
            <a:srgbClr val="F4EBDD"/>
          </a:solidFill>
          <a:ln xmlns:a="http://schemas.openxmlformats.org/drawingml/2006/main" w="14288">
            <a:solidFill>
              <a:srgbClr val="D8B77B"/>
            </a:solidFill>
          </a:ln>
        </p:spPr>
      </p:sp>
      <p:sp>
        <p:nvSpPr>
          <p:cNvPr id="26" name="">
            <a:extLst xmlns:a="http://schemas.openxmlformats.org/drawingml/2006/main">
              <a:ext uri="{FF2B5EF4-FFF2-40B4-BE49-F238E27FC236}">
                <a16:creationId xmlns:a16="http://schemas.microsoft.com/office/drawing/2014/main" id="{2AEBE438-1029-4923-93C3-23AFA601D970}"/>
              </a:ext>
            </a:extLst>
          </p:cNvPr>
          <p:cNvSpPr>
            <a:spLocks xmlns:a="http://schemas.openxmlformats.org/drawingml/2006/main" noGrp="1"/>
          </p:cNvSpPr>
          <p:nvPr/>
        </p:nvSpPr>
        <p:spPr>
          <a:xfrm xmlns:a="http://schemas.openxmlformats.org/drawingml/2006/main">
            <a:off x="10029825" y="1695450"/>
            <a:ext cx="1419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i="0">
                <a:solidFill>
                  <a:srgbClr val="173244"/>
                </a:solidFill>
                <a:latin typeface="Arial"/>
                <a:ea typeface="Arial"/>
                <a:cs typeface="Arial"/>
              </a:defRPr>
            </a:pPr>
            <a:r>
              <a:rPr sz="1125" b="1" i="0">
                <a:solidFill>
                  <a:srgbClr val="173244"/>
                </a:solidFill>
                <a:latin typeface="Arial"/>
                <a:ea typeface="Arial"/>
                <a:cs typeface="Arial"/>
              </a:rPr>
              <a:t>Calculation</a:t>
            </a:r>
          </a:p>
        </p:txBody>
      </p:sp>
      <p:sp>
        <p:nvSpPr>
          <p:cNvPr id="27" name="">
            <a:extLst xmlns:a="http://schemas.openxmlformats.org/drawingml/2006/main">
              <a:ext uri="{FF2B5EF4-FFF2-40B4-BE49-F238E27FC236}">
                <a16:creationId xmlns:a16="http://schemas.microsoft.com/office/drawing/2014/main" id="{40B55656-DDB4-4A67-B953-FA57FE2734CB}"/>
              </a:ext>
            </a:extLst>
          </p:cNvPr>
          <p:cNvSpPr>
            <a:spLocks xmlns:a="http://schemas.openxmlformats.org/drawingml/2006/main" noGrp="1"/>
          </p:cNvSpPr>
          <p:nvPr/>
        </p:nvSpPr>
        <p:spPr>
          <a:xfrm xmlns:a="http://schemas.openxmlformats.org/drawingml/2006/main">
            <a:off x="857250" y="2857500"/>
            <a:ext cx="4762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9F0F4"/>
            </a:solidFill>
          </a:ln>
        </p:spPr>
        <p:txBody>
          <a:bodyPr xmlns:a="http://schemas.openxmlformats.org/drawingml/2006/main" anchor="ctr">
            <a:normAutofit fontScale="100000"/>
          </a:bodyPr>
          <a:lstStyle xmlns:a="http://schemas.openxmlformats.org/drawingml/2006/main"/>
          <a:p xmlns:a="http://schemas.openxmlformats.org/drawingml/2006/main">
            <a:pPr algn="ctr">
              <a:defRPr sz="1950" b="1" i="0">
                <a:solidFill>
                  <a:srgbClr val="082C4C"/>
                </a:solidFill>
                <a:latin typeface="Arial"/>
                <a:ea typeface="Arial"/>
                <a:cs typeface="Arial"/>
              </a:defRPr>
            </a:pPr>
            <a:r>
              <a:rPr sz="1950" b="1" i="0">
                <a:solidFill>
                  <a:srgbClr val="082C4C"/>
                </a:solidFill>
                <a:latin typeface="Arial"/>
                <a:ea typeface="Arial"/>
                <a:cs typeface="Arial"/>
              </a:rPr>
              <a:t>Vcorrected = Vsample − Vblank</a:t>
            </a:r>
          </a:p>
        </p:txBody>
      </p:sp>
      <p:sp>
        <p:nvSpPr>
          <p:cNvPr id="28" name="">
            <a:extLst xmlns:a="http://schemas.openxmlformats.org/drawingml/2006/main">
              <a:ext uri="{FF2B5EF4-FFF2-40B4-BE49-F238E27FC236}">
                <a16:creationId xmlns:a16="http://schemas.microsoft.com/office/drawing/2014/main" id="{6EE809CC-E9A2-4EE8-B7A4-F3DA47343A72}"/>
              </a:ext>
            </a:extLst>
          </p:cNvPr>
          <p:cNvSpPr>
            <a:spLocks xmlns:a="http://schemas.openxmlformats.org/drawingml/2006/main" noGrp="1"/>
          </p:cNvSpPr>
          <p:nvPr/>
        </p:nvSpPr>
        <p:spPr>
          <a:xfrm xmlns:a="http://schemas.openxmlformats.org/drawingml/2006/main">
            <a:off x="5953125" y="2857500"/>
            <a:ext cx="5429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9F0F4"/>
            </a:solid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082C4C"/>
                </a:solidFill>
                <a:latin typeface="Arial"/>
                <a:ea typeface="Arial"/>
                <a:cs typeface="Arial"/>
              </a:defRPr>
            </a:pPr>
            <a:r>
              <a:rPr sz="1500" b="1" i="0">
                <a:solidFill>
                  <a:srgbClr val="082C4C"/>
                </a:solidFill>
                <a:latin typeface="Arial"/>
                <a:ea typeface="Arial"/>
                <a:cs typeface="Arial"/>
              </a:rPr>
              <a:t>Nitrogen (% DM) = Vcorrected × CHCl × 14.007 × 100 / (m × 1000)</a:t>
            </a:r>
          </a:p>
        </p:txBody>
      </p:sp>
      <p:sp>
        <p:nvSpPr>
          <p:cNvPr id="29" name="">
            <a:extLst xmlns:a="http://schemas.openxmlformats.org/drawingml/2006/main">
              <a:ext uri="{FF2B5EF4-FFF2-40B4-BE49-F238E27FC236}">
                <a16:creationId xmlns:a16="http://schemas.microsoft.com/office/drawing/2014/main" id="{1A55E771-8907-4E4D-BC14-EC83D30B53E4}"/>
              </a:ext>
            </a:extLst>
          </p:cNvPr>
          <p:cNvSpPr>
            <a:spLocks xmlns:a="http://schemas.openxmlformats.org/drawingml/2006/main" noGrp="1"/>
          </p:cNvSpPr>
          <p:nvPr/>
        </p:nvSpPr>
        <p:spPr>
          <a:xfrm xmlns:a="http://schemas.openxmlformats.org/drawingml/2006/main">
            <a:off x="857250" y="3714750"/>
            <a:ext cx="4762500" cy="552450"/>
          </a:xfrm>
          <a:prstGeom xmlns:a="http://schemas.openxmlformats.org/drawingml/2006/main" prst="rect">
            <a:avLst/>
          </a:prstGeom>
          <a:solidFill xmlns:a="http://schemas.openxmlformats.org/drawingml/2006/main">
            <a:srgbClr val="EFF5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6F8F72"/>
                </a:solidFill>
                <a:latin typeface="Arial"/>
                <a:ea typeface="Arial"/>
                <a:cs typeface="Arial"/>
              </a:defRPr>
            </a:pPr>
            <a:r>
              <a:rPr sz="1650" b="1" i="0">
                <a:solidFill>
                  <a:srgbClr val="6F8F72"/>
                </a:solidFill>
                <a:latin typeface="Arial"/>
                <a:ea typeface="Arial"/>
                <a:cs typeface="Arial"/>
              </a:rPr>
              <a:t>Protein (% DM) = Nitrogen (% DM) × 5.83</a:t>
            </a:r>
          </a:p>
        </p:txBody>
      </p:sp>
      <p:sp>
        <p:nvSpPr>
          <p:cNvPr id="30" name="">
            <a:extLst xmlns:a="http://schemas.openxmlformats.org/drawingml/2006/main">
              <a:ext uri="{FF2B5EF4-FFF2-40B4-BE49-F238E27FC236}">
                <a16:creationId xmlns:a16="http://schemas.microsoft.com/office/drawing/2014/main" id="{E077E4B7-A118-47E7-9429-ABC9EF63B3E6}"/>
              </a:ext>
            </a:extLst>
          </p:cNvPr>
          <p:cNvSpPr>
            <a:spLocks xmlns:a="http://schemas.openxmlformats.org/drawingml/2006/main" noGrp="1"/>
          </p:cNvSpPr>
          <p:nvPr/>
        </p:nvSpPr>
        <p:spPr>
          <a:xfrm xmlns:a="http://schemas.openxmlformats.org/drawingml/2006/main">
            <a:off x="5953125" y="3714750"/>
            <a:ext cx="5429250" cy="552450"/>
          </a:xfrm>
          <a:prstGeom xmlns:a="http://schemas.openxmlformats.org/drawingml/2006/main" prst="rect">
            <a:avLst/>
          </a:prstGeom>
          <a:solidFill xmlns:a="http://schemas.openxmlformats.org/drawingml/2006/main">
            <a:srgbClr val="EFF5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i="0">
                <a:solidFill>
                  <a:srgbClr val="6F8F72"/>
                </a:solidFill>
                <a:latin typeface="Arial"/>
                <a:ea typeface="Arial"/>
                <a:cs typeface="Arial"/>
              </a:defRPr>
            </a:pPr>
            <a:r>
              <a:rPr sz="1425" b="1" i="0">
                <a:solidFill>
                  <a:srgbClr val="6F8F72"/>
                </a:solidFill>
                <a:latin typeface="Arial"/>
                <a:ea typeface="Arial"/>
                <a:cs typeface="Arial"/>
              </a:rPr>
              <a:t>Protein (g/100 mL) = Protein (% DM) × dry matter (g/100 mL) / 100</a:t>
            </a:r>
          </a:p>
        </p:txBody>
      </p:sp>
      <p:sp>
        <p:nvSpPr>
          <p:cNvPr id="31" name="">
            <a:extLst xmlns:a="http://schemas.openxmlformats.org/drawingml/2006/main">
              <a:ext uri="{FF2B5EF4-FFF2-40B4-BE49-F238E27FC236}">
                <a16:creationId xmlns:a16="http://schemas.microsoft.com/office/drawing/2014/main" id="{4765093B-82BD-449C-9E6D-93856A17406C}"/>
              </a:ext>
            </a:extLst>
          </p:cNvPr>
          <p:cNvSpPr>
            <a:spLocks xmlns:a="http://schemas.openxmlformats.org/drawingml/2006/main" noGrp="1"/>
          </p:cNvSpPr>
          <p:nvPr/>
        </p:nvSpPr>
        <p:spPr>
          <a:xfrm xmlns:a="http://schemas.openxmlformats.org/drawingml/2006/main">
            <a:off x="1809750" y="4810125"/>
            <a:ext cx="8572500" cy="857250"/>
          </a:xfrm>
          <a:prstGeom xmlns:a="http://schemas.openxmlformats.org/drawingml/2006/main" prst="roundRect">
            <a:avLst>
              <a:gd name="adj" fmla="val 8889"/>
            </a:avLst>
          </a:prstGeom>
          <a:solidFill xmlns:a="http://schemas.openxmlformats.org/drawingml/2006/main">
            <a:srgbClr val="F7FAFC"/>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D265776-D245-4F6F-AD55-7235A5932A16}"/>
              </a:ext>
            </a:extLst>
          </p:cNvPr>
          <p:cNvSpPr>
            <a:spLocks xmlns:a="http://schemas.openxmlformats.org/drawingml/2006/main" noGrp="1"/>
          </p:cNvSpPr>
          <p:nvPr/>
        </p:nvSpPr>
        <p:spPr>
          <a:xfrm xmlns:a="http://schemas.openxmlformats.org/drawingml/2006/main">
            <a:off x="1809750" y="4810125"/>
            <a:ext cx="66675" cy="8572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A179330-5901-4924-B0F2-EDFBE2BDB021}"/>
              </a:ext>
            </a:extLst>
          </p:cNvPr>
          <p:cNvSpPr>
            <a:spLocks xmlns:a="http://schemas.openxmlformats.org/drawingml/2006/main" noGrp="1"/>
          </p:cNvSpPr>
          <p:nvPr/>
        </p:nvSpPr>
        <p:spPr>
          <a:xfrm xmlns:a="http://schemas.openxmlformats.org/drawingml/2006/main">
            <a:off x="2019300" y="4924425"/>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Reagents</a:t>
            </a:r>
          </a:p>
        </p:txBody>
      </p:sp>
      <p:sp>
        <p:nvSpPr>
          <p:cNvPr id="34" name="">
            <a:extLst xmlns:a="http://schemas.openxmlformats.org/drawingml/2006/main">
              <a:ext uri="{FF2B5EF4-FFF2-40B4-BE49-F238E27FC236}">
                <a16:creationId xmlns:a16="http://schemas.microsoft.com/office/drawing/2014/main" id="{463DD755-4D48-4952-B944-2CFD201A03A7}"/>
              </a:ext>
            </a:extLst>
          </p:cNvPr>
          <p:cNvSpPr>
            <a:spLocks xmlns:a="http://schemas.openxmlformats.org/drawingml/2006/main" noGrp="1"/>
          </p:cNvSpPr>
          <p:nvPr/>
        </p:nvSpPr>
        <p:spPr>
          <a:xfrm xmlns:a="http://schemas.openxmlformats.org/drawingml/2006/main">
            <a:off x="2019300" y="5229225"/>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≈0.5 g CuSO₄ · 7 g K₂SO₄ · 10 mL concentrated H₂SO₄ · boric-acid indicator solution</a:t>
            </a:r>
          </a:p>
        </p:txBody>
      </p:sp>
      <p:sp>
        <p:nvSpPr>
          <p:cNvPr id="35" name="">
            <a:extLst xmlns:a="http://schemas.openxmlformats.org/drawingml/2006/main">
              <a:ext uri="{FF2B5EF4-FFF2-40B4-BE49-F238E27FC236}">
                <a16:creationId xmlns:a16="http://schemas.microsoft.com/office/drawing/2014/main" id="{336A44C5-C9FE-4575-92BB-E6976B8E1F6B}"/>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36" name="">
            <a:extLst xmlns:a="http://schemas.openxmlformats.org/drawingml/2006/main">
              <a:ext uri="{FF2B5EF4-FFF2-40B4-BE49-F238E27FC236}">
                <a16:creationId xmlns:a16="http://schemas.microsoft.com/office/drawing/2014/main" id="{981843FD-3810-4AF7-A81E-5FC16CDE3711}"/>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21</a:t>
            </a:r>
          </a:p>
        </p:txBody>
      </p:sp>
    </p:spTree>
    <p:extLst>
      <p:ext uri="{BB962C8B-B14F-4D97-AF65-F5344CB8AC3E}">
        <p14:creationId xmlns:p14="http://schemas.microsoft.com/office/powerpoint/2010/main" val="1841503475"/>
      </p:ext>
    </p:extLst>
  </p:cSld>
</p:sld>
</file>

<file path=ppt/slides/slide2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A640FE1-F396-41F4-A4E0-2234AF9F363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605B23-2875-4CA8-A7D7-1BCAC151DA21}"/>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EC161B1B-A480-42C5-9C62-730523FEE82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Kjeldahl calculation example — selected batch replicate 1</a:t>
            </a:r>
          </a:p>
        </p:txBody>
      </p:sp>
      <p:sp>
        <p:nvSpPr>
          <p:cNvPr id="4" name="">
            <a:extLst xmlns:a="http://schemas.openxmlformats.org/drawingml/2006/main">
              <a:ext uri="{FF2B5EF4-FFF2-40B4-BE49-F238E27FC236}">
                <a16:creationId xmlns:a16="http://schemas.microsoft.com/office/drawing/2014/main" id="{F6CBCCA5-136F-44B3-974B-C044AAC9DFA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5D361E42-B525-4007-AB37-460CDCCC0522}"/>
              </a:ext>
            </a:extLst>
          </p:cNvPr>
          <p:cNvSpPr>
            <a:spLocks xmlns:a="http://schemas.openxmlformats.org/drawingml/2006/main" noGrp="1"/>
          </p:cNvSpPr>
          <p:nvPr/>
        </p:nvSpPr>
        <p:spPr>
          <a:xfrm xmlns:a="http://schemas.openxmlformats.org/drawingml/2006/main">
            <a:off x="762000" y="14287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B5B8C"/>
                </a:solidFill>
                <a:latin typeface="Arial"/>
                <a:ea typeface="Arial"/>
                <a:cs typeface="Arial"/>
              </a:defRPr>
            </a:pPr>
            <a:r>
              <a:rPr sz="1800" b="1" i="0">
                <a:solidFill>
                  <a:srgbClr val="0B5B8C"/>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8BA3D9E-0F82-41EE-9D04-D5936B538A41}"/>
              </a:ext>
            </a:extLst>
          </p:cNvPr>
          <p:cNvSpPr>
            <a:spLocks xmlns:a="http://schemas.openxmlformats.org/drawingml/2006/main" noGrp="1"/>
          </p:cNvSpPr>
          <p:nvPr/>
        </p:nvSpPr>
        <p:spPr>
          <a:xfrm xmlns:a="http://schemas.openxmlformats.org/drawingml/2006/main">
            <a:off x="1571625" y="14287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Measured HCl</a:t>
            </a:r>
          </a:p>
        </p:txBody>
      </p:sp>
      <p:sp>
        <p:nvSpPr>
          <p:cNvPr id="7" name="">
            <a:extLst xmlns:a="http://schemas.openxmlformats.org/drawingml/2006/main">
              <a:ext uri="{FF2B5EF4-FFF2-40B4-BE49-F238E27FC236}">
                <a16:creationId xmlns:a16="http://schemas.microsoft.com/office/drawing/2014/main" id="{331D95CA-82C7-4D9C-9B4E-FE66AF82FBAD}"/>
              </a:ext>
            </a:extLst>
          </p:cNvPr>
          <p:cNvSpPr>
            <a:spLocks xmlns:a="http://schemas.openxmlformats.org/drawingml/2006/main" noGrp="1"/>
          </p:cNvSpPr>
          <p:nvPr/>
        </p:nvSpPr>
        <p:spPr>
          <a:xfrm xmlns:a="http://schemas.openxmlformats.org/drawingml/2006/main">
            <a:off x="5429250" y="14287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13.95 mL</a:t>
            </a:r>
          </a:p>
        </p:txBody>
      </p:sp>
      <p:sp>
        <p:nvSpPr>
          <p:cNvPr id="8" name="">
            <a:extLst xmlns:a="http://schemas.openxmlformats.org/drawingml/2006/main">
              <a:ext uri="{FF2B5EF4-FFF2-40B4-BE49-F238E27FC236}">
                <a16:creationId xmlns:a16="http://schemas.microsoft.com/office/drawing/2014/main" id="{1BC73EAC-B80D-49E6-BB40-F73167D552A4}"/>
              </a:ext>
            </a:extLst>
          </p:cNvPr>
          <p:cNvSpPr>
            <a:spLocks xmlns:a="http://schemas.openxmlformats.org/drawingml/2006/main" noGrp="1"/>
          </p:cNvSpPr>
          <p:nvPr/>
        </p:nvSpPr>
        <p:spPr>
          <a:xfrm xmlns:a="http://schemas.openxmlformats.org/drawingml/2006/main">
            <a:off x="762000" y="21526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B5B8C"/>
                </a:solidFill>
                <a:latin typeface="Arial"/>
                <a:ea typeface="Arial"/>
                <a:cs typeface="Arial"/>
              </a:defRPr>
            </a:pPr>
            <a:r>
              <a:rPr sz="1800" b="1" i="0">
                <a:solidFill>
                  <a:srgbClr val="0B5B8C"/>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695F14D-0C4F-403C-A032-1562BF77DC7E}"/>
              </a:ext>
            </a:extLst>
          </p:cNvPr>
          <p:cNvSpPr>
            <a:spLocks xmlns:a="http://schemas.openxmlformats.org/drawingml/2006/main" noGrp="1"/>
          </p:cNvSpPr>
          <p:nvPr/>
        </p:nvSpPr>
        <p:spPr>
          <a:xfrm xmlns:a="http://schemas.openxmlformats.org/drawingml/2006/main">
            <a:off x="1571625" y="21526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Blank correction</a:t>
            </a:r>
          </a:p>
        </p:txBody>
      </p:sp>
      <p:sp>
        <p:nvSpPr>
          <p:cNvPr id="10" name="">
            <a:extLst xmlns:a="http://schemas.openxmlformats.org/drawingml/2006/main">
              <a:ext uri="{FF2B5EF4-FFF2-40B4-BE49-F238E27FC236}">
                <a16:creationId xmlns:a16="http://schemas.microsoft.com/office/drawing/2014/main" id="{2C1441FB-A78A-4C61-AC42-8C6C3F1A917C}"/>
              </a:ext>
            </a:extLst>
          </p:cNvPr>
          <p:cNvSpPr>
            <a:spLocks xmlns:a="http://schemas.openxmlformats.org/drawingml/2006/main" noGrp="1"/>
          </p:cNvSpPr>
          <p:nvPr/>
        </p:nvSpPr>
        <p:spPr>
          <a:xfrm xmlns:a="http://schemas.openxmlformats.org/drawingml/2006/main">
            <a:off x="5429250" y="21526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13.95 − 0.45 = 13.50 mL</a:t>
            </a:r>
          </a:p>
        </p:txBody>
      </p:sp>
      <p:sp>
        <p:nvSpPr>
          <p:cNvPr id="11" name="">
            <a:extLst xmlns:a="http://schemas.openxmlformats.org/drawingml/2006/main">
              <a:ext uri="{FF2B5EF4-FFF2-40B4-BE49-F238E27FC236}">
                <a16:creationId xmlns:a16="http://schemas.microsoft.com/office/drawing/2014/main" id="{3379843C-5080-4148-AA10-7DE1AB04354E}"/>
              </a:ext>
            </a:extLst>
          </p:cNvPr>
          <p:cNvSpPr>
            <a:spLocks xmlns:a="http://schemas.openxmlformats.org/drawingml/2006/main" noGrp="1"/>
          </p:cNvSpPr>
          <p:nvPr/>
        </p:nvSpPr>
        <p:spPr>
          <a:xfrm xmlns:a="http://schemas.openxmlformats.org/drawingml/2006/main">
            <a:off x="762000" y="28765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0A9B7"/>
                </a:solidFill>
                <a:latin typeface="Arial"/>
                <a:ea typeface="Arial"/>
                <a:cs typeface="Arial"/>
              </a:defRPr>
            </a:pPr>
            <a:r>
              <a:rPr sz="1800" b="1" i="0">
                <a:solidFill>
                  <a:srgbClr val="00A9B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07C93D2D-84C8-428B-8666-A3BD5C92C4C1}"/>
              </a:ext>
            </a:extLst>
          </p:cNvPr>
          <p:cNvSpPr>
            <a:spLocks xmlns:a="http://schemas.openxmlformats.org/drawingml/2006/main" noGrp="1"/>
          </p:cNvSpPr>
          <p:nvPr/>
        </p:nvSpPr>
        <p:spPr>
          <a:xfrm xmlns:a="http://schemas.openxmlformats.org/drawingml/2006/main">
            <a:off x="1571625" y="28765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Nitrogen in dry matter</a:t>
            </a:r>
          </a:p>
        </p:txBody>
      </p:sp>
      <p:sp>
        <p:nvSpPr>
          <p:cNvPr id="13" name="">
            <a:extLst xmlns:a="http://schemas.openxmlformats.org/drawingml/2006/main">
              <a:ext uri="{FF2B5EF4-FFF2-40B4-BE49-F238E27FC236}">
                <a16:creationId xmlns:a16="http://schemas.microsoft.com/office/drawing/2014/main" id="{55D771D1-9485-4A7B-AD34-0282A604983F}"/>
              </a:ext>
            </a:extLst>
          </p:cNvPr>
          <p:cNvSpPr>
            <a:spLocks xmlns:a="http://schemas.openxmlformats.org/drawingml/2006/main" noGrp="1"/>
          </p:cNvSpPr>
          <p:nvPr/>
        </p:nvSpPr>
        <p:spPr>
          <a:xfrm xmlns:a="http://schemas.openxmlformats.org/drawingml/2006/main">
            <a:off x="5429250" y="28765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1.8909%</a:t>
            </a:r>
          </a:p>
        </p:txBody>
      </p:sp>
      <p:sp>
        <p:nvSpPr>
          <p:cNvPr id="14" name="">
            <a:extLst xmlns:a="http://schemas.openxmlformats.org/drawingml/2006/main">
              <a:ext uri="{FF2B5EF4-FFF2-40B4-BE49-F238E27FC236}">
                <a16:creationId xmlns:a16="http://schemas.microsoft.com/office/drawing/2014/main" id="{CB7E24C7-89FD-4C84-8C04-86B5DCE1C522}"/>
              </a:ext>
            </a:extLst>
          </p:cNvPr>
          <p:cNvSpPr>
            <a:spLocks xmlns:a="http://schemas.openxmlformats.org/drawingml/2006/main" noGrp="1"/>
          </p:cNvSpPr>
          <p:nvPr/>
        </p:nvSpPr>
        <p:spPr>
          <a:xfrm xmlns:a="http://schemas.openxmlformats.org/drawingml/2006/main">
            <a:off x="762000" y="36004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00A9B7"/>
                </a:solidFill>
                <a:latin typeface="Arial"/>
                <a:ea typeface="Arial"/>
                <a:cs typeface="Arial"/>
              </a:defRPr>
            </a:pPr>
            <a:r>
              <a:rPr sz="1800" b="1" i="0">
                <a:solidFill>
                  <a:srgbClr val="00A9B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C9891B0B-56CA-4FDE-BDE8-C5130BF244DF}"/>
              </a:ext>
            </a:extLst>
          </p:cNvPr>
          <p:cNvSpPr>
            <a:spLocks xmlns:a="http://schemas.openxmlformats.org/drawingml/2006/main" noGrp="1"/>
          </p:cNvSpPr>
          <p:nvPr/>
        </p:nvSpPr>
        <p:spPr>
          <a:xfrm xmlns:a="http://schemas.openxmlformats.org/drawingml/2006/main">
            <a:off x="1571625" y="36004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Protein in dry matter</a:t>
            </a:r>
          </a:p>
        </p:txBody>
      </p:sp>
      <p:sp>
        <p:nvSpPr>
          <p:cNvPr id="16" name="">
            <a:extLst xmlns:a="http://schemas.openxmlformats.org/drawingml/2006/main">
              <a:ext uri="{FF2B5EF4-FFF2-40B4-BE49-F238E27FC236}">
                <a16:creationId xmlns:a16="http://schemas.microsoft.com/office/drawing/2014/main" id="{C428187D-2FC9-44A0-BE20-2757C2DCAD43}"/>
              </a:ext>
            </a:extLst>
          </p:cNvPr>
          <p:cNvSpPr>
            <a:spLocks xmlns:a="http://schemas.openxmlformats.org/drawingml/2006/main" noGrp="1"/>
          </p:cNvSpPr>
          <p:nvPr/>
        </p:nvSpPr>
        <p:spPr>
          <a:xfrm xmlns:a="http://schemas.openxmlformats.org/drawingml/2006/main">
            <a:off x="5429250" y="36004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1.8909 × 5.83 = 11.024%</a:t>
            </a:r>
          </a:p>
        </p:txBody>
      </p:sp>
      <p:sp>
        <p:nvSpPr>
          <p:cNvPr id="17" name="">
            <a:extLst xmlns:a="http://schemas.openxmlformats.org/drawingml/2006/main">
              <a:ext uri="{FF2B5EF4-FFF2-40B4-BE49-F238E27FC236}">
                <a16:creationId xmlns:a16="http://schemas.microsoft.com/office/drawing/2014/main" id="{A27125F5-8DF6-45C1-8E35-A756F8207D88}"/>
              </a:ext>
            </a:extLst>
          </p:cNvPr>
          <p:cNvSpPr>
            <a:spLocks xmlns:a="http://schemas.openxmlformats.org/drawingml/2006/main" noGrp="1"/>
          </p:cNvSpPr>
          <p:nvPr/>
        </p:nvSpPr>
        <p:spPr>
          <a:xfrm xmlns:a="http://schemas.openxmlformats.org/drawingml/2006/main">
            <a:off x="762000" y="43243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6F8F72"/>
                </a:solidFill>
                <a:latin typeface="Arial"/>
                <a:ea typeface="Arial"/>
                <a:cs typeface="Arial"/>
              </a:defRPr>
            </a:pPr>
            <a:r>
              <a:rPr sz="1800" b="1" i="0">
                <a:solidFill>
                  <a:srgbClr val="6F8F72"/>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FD4AB6FD-28A8-4D5E-83B9-B654A32E9565}"/>
              </a:ext>
            </a:extLst>
          </p:cNvPr>
          <p:cNvSpPr>
            <a:spLocks xmlns:a="http://schemas.openxmlformats.org/drawingml/2006/main" noGrp="1"/>
          </p:cNvSpPr>
          <p:nvPr/>
        </p:nvSpPr>
        <p:spPr>
          <a:xfrm xmlns:a="http://schemas.openxmlformats.org/drawingml/2006/main">
            <a:off x="1571625" y="43243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Selected-batch dry matter</a:t>
            </a:r>
          </a:p>
        </p:txBody>
      </p:sp>
      <p:sp>
        <p:nvSpPr>
          <p:cNvPr id="19" name="">
            <a:extLst xmlns:a="http://schemas.openxmlformats.org/drawingml/2006/main">
              <a:ext uri="{FF2B5EF4-FFF2-40B4-BE49-F238E27FC236}">
                <a16:creationId xmlns:a16="http://schemas.microsoft.com/office/drawing/2014/main" id="{199E8B82-5ACE-4C04-B28B-E3BC7E5DAC67}"/>
              </a:ext>
            </a:extLst>
          </p:cNvPr>
          <p:cNvSpPr>
            <a:spLocks xmlns:a="http://schemas.openxmlformats.org/drawingml/2006/main" noGrp="1"/>
          </p:cNvSpPr>
          <p:nvPr/>
        </p:nvSpPr>
        <p:spPr>
          <a:xfrm xmlns:a="http://schemas.openxmlformats.org/drawingml/2006/main">
            <a:off x="5429250" y="4324350"/>
            <a:ext cx="581025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173244"/>
                </a:solidFill>
                <a:latin typeface="Arial"/>
                <a:ea typeface="Arial"/>
                <a:cs typeface="Arial"/>
              </a:defRPr>
            </a:pPr>
            <a:r>
              <a:rPr sz="1350" b="0" i="0">
                <a:solidFill>
                  <a:srgbClr val="173244"/>
                </a:solidFill>
                <a:latin typeface="Arial"/>
                <a:ea typeface="Arial"/>
                <a:cs typeface="Arial"/>
              </a:rPr>
              <a:t>14 g / 60 mL = 23.33 g/100 mL</a:t>
            </a:r>
          </a:p>
        </p:txBody>
      </p:sp>
      <p:sp>
        <p:nvSpPr>
          <p:cNvPr id="20" name="">
            <a:extLst xmlns:a="http://schemas.openxmlformats.org/drawingml/2006/main">
              <a:ext uri="{FF2B5EF4-FFF2-40B4-BE49-F238E27FC236}">
                <a16:creationId xmlns:a16="http://schemas.microsoft.com/office/drawing/2014/main" id="{AB26A6D7-4231-4B7E-B9A8-78E7AA0DB475}"/>
              </a:ext>
            </a:extLst>
          </p:cNvPr>
          <p:cNvSpPr>
            <a:spLocks xmlns:a="http://schemas.openxmlformats.org/drawingml/2006/main" noGrp="1"/>
          </p:cNvSpPr>
          <p:nvPr/>
        </p:nvSpPr>
        <p:spPr>
          <a:xfrm xmlns:a="http://schemas.openxmlformats.org/drawingml/2006/main">
            <a:off x="762000" y="50482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6F8F72"/>
                </a:solidFill>
                <a:latin typeface="Arial"/>
                <a:ea typeface="Arial"/>
                <a:cs typeface="Arial"/>
              </a:defRPr>
            </a:pPr>
            <a:r>
              <a:rPr sz="1800" b="1" i="0">
                <a:solidFill>
                  <a:srgbClr val="6F8F72"/>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7C9139B8-E000-415A-AFF4-B4EA589653BA}"/>
              </a:ext>
            </a:extLst>
          </p:cNvPr>
          <p:cNvSpPr>
            <a:spLocks xmlns:a="http://schemas.openxmlformats.org/drawingml/2006/main" noGrp="1"/>
          </p:cNvSpPr>
          <p:nvPr/>
        </p:nvSpPr>
        <p:spPr>
          <a:xfrm xmlns:a="http://schemas.openxmlformats.org/drawingml/2006/main">
            <a:off x="1571625" y="50482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Protein in beverage</a:t>
            </a:r>
          </a:p>
        </p:txBody>
      </p:sp>
      <p:sp>
        <p:nvSpPr>
          <p:cNvPr id="22" name="">
            <a:extLst xmlns:a="http://schemas.openxmlformats.org/drawingml/2006/main">
              <a:ext uri="{FF2B5EF4-FFF2-40B4-BE49-F238E27FC236}">
                <a16:creationId xmlns:a16="http://schemas.microsoft.com/office/drawing/2014/main" id="{1B237CB6-EF14-4ADE-AD63-43FB7E4A4EDE}"/>
              </a:ext>
            </a:extLst>
          </p:cNvPr>
          <p:cNvSpPr>
            <a:spLocks xmlns:a="http://schemas.openxmlformats.org/drawingml/2006/main" noGrp="1"/>
          </p:cNvSpPr>
          <p:nvPr/>
        </p:nvSpPr>
        <p:spPr>
          <a:xfrm xmlns:a="http://schemas.openxmlformats.org/drawingml/2006/main">
            <a:off x="5429250" y="5048250"/>
            <a:ext cx="5810250" cy="457200"/>
          </a:xfrm>
          <a:prstGeom xmlns:a="http://schemas.openxmlformats.org/drawingml/2006/main" prst="rect">
            <a:avLst/>
          </a:prstGeom>
          <a:solidFill xmlns:a="http://schemas.openxmlformats.org/drawingml/2006/main">
            <a:srgbClr val="F4EBD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i="0">
                <a:solidFill>
                  <a:srgbClr val="173244"/>
                </a:solidFill>
                <a:latin typeface="Arial"/>
                <a:ea typeface="Arial"/>
                <a:cs typeface="Arial"/>
              </a:defRPr>
            </a:pPr>
            <a:r>
              <a:rPr sz="1350" b="1" i="0">
                <a:solidFill>
                  <a:srgbClr val="173244"/>
                </a:solidFill>
                <a:latin typeface="Arial"/>
                <a:ea typeface="Arial"/>
                <a:cs typeface="Arial"/>
              </a:rPr>
              <a:t>11.024 × 23.33 / 100 = 2.572 g/100 mL</a:t>
            </a:r>
          </a:p>
        </p:txBody>
      </p:sp>
      <p:sp>
        <p:nvSpPr>
          <p:cNvPr id="23" name="">
            <a:extLst xmlns:a="http://schemas.openxmlformats.org/drawingml/2006/main">
              <a:ext uri="{FF2B5EF4-FFF2-40B4-BE49-F238E27FC236}">
                <a16:creationId xmlns:a16="http://schemas.microsoft.com/office/drawing/2014/main" id="{F697004A-D91E-4077-93F8-052E1886B3E4}"/>
              </a:ext>
            </a:extLst>
          </p:cNvPr>
          <p:cNvSpPr>
            <a:spLocks xmlns:a="http://schemas.openxmlformats.org/drawingml/2006/main" noGrp="1"/>
          </p:cNvSpPr>
          <p:nvPr/>
        </p:nvSpPr>
        <p:spPr>
          <a:xfrm xmlns:a="http://schemas.openxmlformats.org/drawingml/2006/main">
            <a:off x="3143250" y="5857875"/>
            <a:ext cx="5905500" cy="419100"/>
          </a:xfrm>
          <a:prstGeom xmlns:a="http://schemas.openxmlformats.org/drawingml/2006/main" prst="rect">
            <a:avLst/>
          </a:prstGeom>
          <a:solidFill xmlns:a="http://schemas.openxmlformats.org/drawingml/2006/main">
            <a:srgbClr val="082C4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Replicate result: 2.572 g protein / 100 mL</a:t>
            </a:r>
          </a:p>
        </p:txBody>
      </p:sp>
      <p:sp>
        <p:nvSpPr>
          <p:cNvPr id="24" name="">
            <a:extLst xmlns:a="http://schemas.openxmlformats.org/drawingml/2006/main">
              <a:ext uri="{FF2B5EF4-FFF2-40B4-BE49-F238E27FC236}">
                <a16:creationId xmlns:a16="http://schemas.microsoft.com/office/drawing/2014/main" id="{DCDFC1D0-3027-4B3F-BF7E-7BA3DA3AB04F}"/>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25" name="">
            <a:extLst xmlns:a="http://schemas.openxmlformats.org/drawingml/2006/main">
              <a:ext uri="{FF2B5EF4-FFF2-40B4-BE49-F238E27FC236}">
                <a16:creationId xmlns:a16="http://schemas.microsoft.com/office/drawing/2014/main" id="{495A26BE-14BC-4496-BE88-3C90D0A4A71D}"/>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22</a:t>
            </a:r>
          </a:p>
        </p:txBody>
      </p:sp>
    </p:spTree>
    <p:extLst>
      <p:ext uri="{BB962C8B-B14F-4D97-AF65-F5344CB8AC3E}">
        <p14:creationId xmlns:p14="http://schemas.microsoft.com/office/powerpoint/2010/main" val="1553797773"/>
      </p:ext>
    </p:extLst>
  </p:cSld>
</p:sld>
</file>

<file path=ppt/slides/slide2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109FDA-02B7-4426-A1EF-AE407866B8D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52A81C-4581-4843-8F0B-1200682AE233}"/>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C81B79A1-5735-49EF-BF13-6E9BF3FF18E1}"/>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Complete final formulation table</a:t>
            </a:r>
          </a:p>
        </p:txBody>
      </p:sp>
      <p:sp>
        <p:nvSpPr>
          <p:cNvPr id="4" name="">
            <a:extLst xmlns:a="http://schemas.openxmlformats.org/drawingml/2006/main">
              <a:ext uri="{FF2B5EF4-FFF2-40B4-BE49-F238E27FC236}">
                <a16:creationId xmlns:a16="http://schemas.microsoft.com/office/drawing/2014/main" id="{06EFEEB2-EE6D-456E-8E9B-067BFD948B3F}"/>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3" name=""/>
          <p:cNvGraphicFramePr/>
          <p:nvPr/>
        </p:nvGraphicFramePr>
        <p:xfrm>
          <a:off xmlns:a="http://schemas.openxmlformats.org/drawingml/2006/main" x="428625" y="1428750"/>
          <a:ext xmlns:a="http://schemas.openxmlformats.org/drawingml/2006/main" cx="11334750" cy="4095750"/>
        </p:xfrm>
        <a:graphic xmlns:a="http://schemas.openxmlformats.org/drawingml/2006/main">
          <a:graphicData uri="http://schemas.openxmlformats.org/drawingml/2006/table">
            <a:tbl>
              <a:tblPr/>
              <a:tblGrid>
                <a:gridCol w="762000"/>
                <a:gridCol w="3048000"/>
                <a:gridCol w="1143000"/>
                <a:gridCol w="1143000"/>
                <a:gridCol w="1143000"/>
                <a:gridCol w="1809750"/>
                <a:gridCol w="2286000"/>
              </a:tblGrid>
              <a:tr h="511969">
                <a:tc>
                  <a:txBody>
                    <a:bodyPr/>
                    <a:lstStyle/>
                    <a:p>
                      <a:r>
                        <a:rPr sz="975" b="1">
                          <a:solidFill>
                            <a:srgbClr val="FFFFFF"/>
                          </a:solidFill>
                          <a:latin typeface="Arial"/>
                          <a:ea typeface="Arial"/>
                          <a:cs typeface="Arial"/>
                        </a:rPr>
                        <a:t>Code</a:t>
                      </a:r>
                    </a:p>
                  </a:txBody>
                  <a:tcPr marL="91440" marR="91440" marT="45720" marB="45720" anchor="ctr">
                    <a:solidFill>
                      <a:srgbClr val="082C4C"/>
                    </a:solidFill>
                  </a:tcPr>
                </a:tc>
                <a:tc>
                  <a:txBody>
                    <a:bodyPr/>
                    <a:lstStyle/>
                    <a:p>
                      <a:r>
                        <a:rPr sz="975" b="1">
                          <a:solidFill>
                            <a:srgbClr val="FFFFFF"/>
                          </a:solidFill>
                          <a:latin typeface="Arial"/>
                          <a:ea typeface="Arial"/>
                          <a:cs typeface="Arial"/>
                        </a:rPr>
                        <a:t>Protein composition</a:t>
                      </a:r>
                    </a:p>
                  </a:txBody>
                  <a:tcPr marL="91440" marR="91440" marT="45720" marB="45720" anchor="ctr">
                    <a:solidFill>
                      <a:srgbClr val="082C4C"/>
                    </a:solidFill>
                  </a:tcPr>
                </a:tc>
                <a:tc>
                  <a:txBody>
                    <a:bodyPr/>
                    <a:lstStyle/>
                    <a:p>
                      <a:r>
                        <a:rPr sz="975" b="1">
                          <a:solidFill>
                            <a:srgbClr val="FFFFFF"/>
                          </a:solidFill>
                          <a:latin typeface="Arial"/>
                          <a:ea typeface="Arial"/>
                          <a:cs typeface="Arial"/>
                        </a:rPr>
                        <a:t>Soy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Rice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Pea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Total powder (g)</a:t>
                      </a:r>
                    </a:p>
                  </a:txBody>
                  <a:tcPr marL="91440" marR="91440" marT="45720" marB="45720" anchor="ctr">
                    <a:solidFill>
                      <a:srgbClr val="082C4C"/>
                    </a:solidFill>
                  </a:tcPr>
                </a:tc>
                <a:tc>
                  <a:txBody>
                    <a:bodyPr/>
                    <a:lstStyle/>
                    <a:p>
                      <a:r>
                        <a:rPr sz="975" b="1">
                          <a:solidFill>
                            <a:srgbClr val="FFFFFF"/>
                          </a:solidFill>
                          <a:latin typeface="Arial"/>
                          <a:ea typeface="Arial"/>
                          <a:cs typeface="Arial"/>
                        </a:rPr>
                        <a:t>Estimated protein (%)</a:t>
                      </a:r>
                    </a:p>
                  </a:txBody>
                  <a:tcPr marL="91440" marR="91440" marT="45720" marB="45720" anchor="ctr">
                    <a:solidFill>
                      <a:srgbClr val="082C4C"/>
                    </a:solidFill>
                  </a:tcPr>
                </a:tc>
              </a:tr>
              <a:tr h="511969">
                <a:tc>
                  <a:txBody>
                    <a:bodyPr/>
                    <a:lstStyle/>
                    <a:p>
                      <a:r>
                        <a:rPr sz="975">
                          <a:solidFill>
                            <a:srgbClr val="173244"/>
                          </a:solidFill>
                          <a:latin typeface="Arial"/>
                          <a:ea typeface="Arial"/>
                          <a:cs typeface="Arial"/>
                        </a:rPr>
                        <a:t>156</a:t>
                      </a:r>
                    </a:p>
                  </a:txBody>
                  <a:tcPr marL="66675" marR="66675" marT="38100" marB="38100" anchor="ctr">
                    <a:solidFill>
                      <a:srgbClr val="F7FAFC"/>
                    </a:solidFill>
                  </a:tcPr>
                </a:tc>
                <a:tc>
                  <a:txBody>
                    <a:bodyPr/>
                    <a:lstStyle/>
                    <a:p>
                      <a:r>
                        <a:rPr sz="975">
                          <a:solidFill>
                            <a:srgbClr val="173244"/>
                          </a:solidFill>
                          <a:latin typeface="Arial"/>
                          <a:ea typeface="Arial"/>
                          <a:cs typeface="Arial"/>
                        </a:rPr>
                        <a:t>Pea / Rice 50:50</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6.45</a:t>
                      </a:r>
                    </a:p>
                  </a:txBody>
                  <a:tcPr marL="66675" marR="66675" marT="38100" marB="38100" anchor="ctr">
                    <a:solidFill>
                      <a:srgbClr val="F7FAFC"/>
                    </a:solidFill>
                  </a:tcPr>
                </a:tc>
                <a:tc>
                  <a:txBody>
                    <a:bodyPr/>
                    <a:lstStyle/>
                    <a:p>
                      <a:r>
                        <a:rPr sz="975">
                          <a:solidFill>
                            <a:srgbClr val="173244"/>
                          </a:solidFill>
                          <a:latin typeface="Arial"/>
                          <a:ea typeface="Arial"/>
                          <a:cs typeface="Arial"/>
                        </a:rPr>
                        <a:t>6.45</a:t>
                      </a:r>
                    </a:p>
                  </a:txBody>
                  <a:tcPr marL="66675" marR="66675" marT="38100" marB="38100" anchor="ctr">
                    <a:solidFill>
                      <a:srgbClr val="F7FAFC"/>
                    </a:solidFill>
                  </a:tcPr>
                </a:tc>
                <a:tc>
                  <a:txBody>
                    <a:bodyPr/>
                    <a:lstStyle/>
                    <a:p>
                      <a:r>
                        <a:rPr sz="975">
                          <a:solidFill>
                            <a:srgbClr val="173244"/>
                          </a:solidFill>
                          <a:latin typeface="Arial"/>
                          <a:ea typeface="Arial"/>
                          <a:cs typeface="Arial"/>
                        </a:rPr>
                        <a:t>12.90</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F7FAFC"/>
                    </a:solidFill>
                  </a:tcPr>
                </a:tc>
              </a:tr>
              <a:tr h="511969">
                <a:tc>
                  <a:txBody>
                    <a:bodyPr/>
                    <a:lstStyle/>
                    <a:p>
                      <a:r>
                        <a:rPr sz="975">
                          <a:solidFill>
                            <a:srgbClr val="173244"/>
                          </a:solidFill>
                          <a:latin typeface="Arial"/>
                          <a:ea typeface="Arial"/>
                          <a:cs typeface="Arial"/>
                        </a:rPr>
                        <a:t>235</a:t>
                      </a:r>
                    </a:p>
                  </a:txBody>
                  <a:tcPr marL="66675" marR="66675" marT="38100" marB="38100" anchor="ctr"/>
                </a:tc>
                <a:tc>
                  <a:txBody>
                    <a:bodyPr/>
                    <a:lstStyle/>
                    <a:p>
                      <a:r>
                        <a:rPr sz="975">
                          <a:solidFill>
                            <a:srgbClr val="173244"/>
                          </a:solidFill>
                          <a:latin typeface="Arial"/>
                          <a:ea typeface="Arial"/>
                          <a:cs typeface="Arial"/>
                        </a:rPr>
                        <a:t>Pea / Soy 50:50</a:t>
                      </a:r>
                    </a:p>
                  </a:txBody>
                  <a:tcPr marL="66675" marR="66675" marT="38100" marB="38100" anchor="ctr"/>
                </a:tc>
                <a:tc>
                  <a:txBody>
                    <a:bodyPr/>
                    <a:lstStyle/>
                    <a:p>
                      <a:r>
                        <a:rPr sz="975">
                          <a:solidFill>
                            <a:srgbClr val="173244"/>
                          </a:solidFill>
                          <a:latin typeface="Arial"/>
                          <a:ea typeface="Arial"/>
                          <a:cs typeface="Arial"/>
                        </a:rPr>
                        <a:t>6.06</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6.06</a:t>
                      </a:r>
                    </a:p>
                  </a:txBody>
                  <a:tcPr marL="66675" marR="66675" marT="38100" marB="38100" anchor="ctr"/>
                </a:tc>
                <a:tc>
                  <a:txBody>
                    <a:bodyPr/>
                    <a:lstStyle/>
                    <a:p>
                      <a:r>
                        <a:rPr sz="975">
                          <a:solidFill>
                            <a:srgbClr val="173244"/>
                          </a:solidFill>
                          <a:latin typeface="Arial"/>
                          <a:ea typeface="Arial"/>
                          <a:cs typeface="Arial"/>
                        </a:rPr>
                        <a:t>12.12</a:t>
                      </a:r>
                    </a:p>
                  </a:txBody>
                  <a:tcPr marL="66675" marR="66675" marT="38100" marB="38100" anchor="ctr"/>
                </a:tc>
                <a:tc>
                  <a:txBody>
                    <a:bodyPr/>
                    <a:lstStyle/>
                    <a:p>
                      <a:r>
                        <a:rPr sz="975">
                          <a:solidFill>
                            <a:srgbClr val="173244"/>
                          </a:solidFill>
                          <a:latin typeface="Arial"/>
                          <a:ea typeface="Arial"/>
                          <a:cs typeface="Arial"/>
                        </a:rPr>
                        <a:t>4.85</a:t>
                      </a:r>
                    </a:p>
                  </a:txBody>
                  <a:tcPr marL="66675" marR="66675" marT="38100" marB="38100" anchor="ctr"/>
                </a:tc>
              </a:tr>
              <a:tr h="511969">
                <a:tc>
                  <a:txBody>
                    <a:bodyPr/>
                    <a:lstStyle/>
                    <a:p>
                      <a:r>
                        <a:rPr sz="975">
                          <a:solidFill>
                            <a:srgbClr val="173244"/>
                          </a:solidFill>
                          <a:latin typeface="Arial"/>
                          <a:ea typeface="Arial"/>
                          <a:cs typeface="Arial"/>
                        </a:rPr>
                        <a:t>320</a:t>
                      </a:r>
                    </a:p>
                  </a:txBody>
                  <a:tcPr marL="66675" marR="66675" marT="38100" marB="38100" anchor="ctr">
                    <a:solidFill>
                      <a:srgbClr val="F7FAFC"/>
                    </a:solidFill>
                  </a:tcPr>
                </a:tc>
                <a:tc>
                  <a:txBody>
                    <a:bodyPr/>
                    <a:lstStyle/>
                    <a:p>
                      <a:r>
                        <a:rPr sz="975">
                          <a:solidFill>
                            <a:srgbClr val="173244"/>
                          </a:solidFill>
                          <a:latin typeface="Arial"/>
                          <a:ea typeface="Arial"/>
                          <a:cs typeface="Arial"/>
                        </a:rPr>
                        <a:t>Soy / Rice 50:50</a:t>
                      </a:r>
                    </a:p>
                  </a:txBody>
                  <a:tcPr marL="66675" marR="66675" marT="38100" marB="38100" anchor="ctr">
                    <a:solidFill>
                      <a:srgbClr val="F7FAFC"/>
                    </a:solidFill>
                  </a:tcPr>
                </a:tc>
                <a:tc>
                  <a:txBody>
                    <a:bodyPr/>
                    <a:lstStyle/>
                    <a:p>
                      <a:r>
                        <a:rPr sz="975">
                          <a:solidFill>
                            <a:srgbClr val="173244"/>
                          </a:solidFill>
                          <a:latin typeface="Arial"/>
                          <a:ea typeface="Arial"/>
                          <a:cs typeface="Arial"/>
                        </a:rPr>
                        <a:t>6.06</a:t>
                      </a:r>
                    </a:p>
                  </a:txBody>
                  <a:tcPr marL="66675" marR="66675" marT="38100" marB="38100" anchor="ctr">
                    <a:solidFill>
                      <a:srgbClr val="F7FAFC"/>
                    </a:solidFill>
                  </a:tcPr>
                </a:tc>
                <a:tc>
                  <a:txBody>
                    <a:bodyPr/>
                    <a:lstStyle/>
                    <a:p>
                      <a:r>
                        <a:rPr sz="975">
                          <a:solidFill>
                            <a:srgbClr val="173244"/>
                          </a:solidFill>
                          <a:latin typeface="Arial"/>
                          <a:ea typeface="Arial"/>
                          <a:cs typeface="Arial"/>
                        </a:rPr>
                        <a:t>6.06</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12.12</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F7FAFC"/>
                    </a:solidFill>
                  </a:tcPr>
                </a:tc>
              </a:tr>
              <a:tr h="511969">
                <a:tc>
                  <a:txBody>
                    <a:bodyPr/>
                    <a:lstStyle/>
                    <a:p>
                      <a:r>
                        <a:rPr sz="975">
                          <a:solidFill>
                            <a:srgbClr val="173244"/>
                          </a:solidFill>
                          <a:latin typeface="Arial"/>
                          <a:ea typeface="Arial"/>
                          <a:cs typeface="Arial"/>
                        </a:rPr>
                        <a:t>473</a:t>
                      </a:r>
                    </a:p>
                  </a:txBody>
                  <a:tcPr marL="66675" marR="66675" marT="38100" marB="38100" anchor="ctr"/>
                </a:tc>
                <a:tc>
                  <a:txBody>
                    <a:bodyPr/>
                    <a:lstStyle/>
                    <a:p>
                      <a:r>
                        <a:rPr sz="975">
                          <a:solidFill>
                            <a:srgbClr val="173244"/>
                          </a:solidFill>
                          <a:latin typeface="Arial"/>
                          <a:ea typeface="Arial"/>
                          <a:cs typeface="Arial"/>
                        </a:rPr>
                        <a:t>Rice 100%</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12.91</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12.91</a:t>
                      </a:r>
                    </a:p>
                  </a:txBody>
                  <a:tcPr marL="66675" marR="66675" marT="38100" marB="38100" anchor="ctr"/>
                </a:tc>
                <a:tc>
                  <a:txBody>
                    <a:bodyPr/>
                    <a:lstStyle/>
                    <a:p>
                      <a:r>
                        <a:rPr sz="975">
                          <a:solidFill>
                            <a:srgbClr val="173244"/>
                          </a:solidFill>
                          <a:latin typeface="Arial"/>
                          <a:ea typeface="Arial"/>
                          <a:cs typeface="Arial"/>
                        </a:rPr>
                        <a:t>4.85</a:t>
                      </a:r>
                    </a:p>
                  </a:txBody>
                  <a:tcPr marL="66675" marR="66675" marT="38100" marB="38100" anchor="ctr"/>
                </a:tc>
              </a:tr>
              <a:tr h="511969">
                <a:tc>
                  <a:txBody>
                    <a:bodyPr/>
                    <a:lstStyle/>
                    <a:p>
                      <a:r>
                        <a:rPr sz="975">
                          <a:solidFill>
                            <a:srgbClr val="173244"/>
                          </a:solidFill>
                          <a:latin typeface="Arial"/>
                          <a:ea typeface="Arial"/>
                          <a:cs typeface="Arial"/>
                        </a:rPr>
                        <a:t>589</a:t>
                      </a:r>
                    </a:p>
                  </a:txBody>
                  <a:tcPr marL="66675" marR="66675" marT="38100" marB="38100" anchor="ctr">
                    <a:solidFill>
                      <a:srgbClr val="F7FAFC"/>
                    </a:solidFill>
                  </a:tcPr>
                </a:tc>
                <a:tc>
                  <a:txBody>
                    <a:bodyPr/>
                    <a:lstStyle/>
                    <a:p>
                      <a:r>
                        <a:rPr sz="975">
                          <a:solidFill>
                            <a:srgbClr val="173244"/>
                          </a:solidFill>
                          <a:latin typeface="Arial"/>
                          <a:ea typeface="Arial"/>
                          <a:cs typeface="Arial"/>
                        </a:rPr>
                        <a:t>Soy 100%</a:t>
                      </a:r>
                    </a:p>
                  </a:txBody>
                  <a:tcPr marL="66675" marR="66675" marT="38100" marB="38100" anchor="ctr">
                    <a:solidFill>
                      <a:srgbClr val="F7FAFC"/>
                    </a:solidFill>
                  </a:tcPr>
                </a:tc>
                <a:tc>
                  <a:txBody>
                    <a:bodyPr/>
                    <a:lstStyle/>
                    <a:p>
                      <a:r>
                        <a:rPr sz="975">
                          <a:solidFill>
                            <a:srgbClr val="173244"/>
                          </a:solidFill>
                          <a:latin typeface="Arial"/>
                          <a:ea typeface="Arial"/>
                          <a:cs typeface="Arial"/>
                        </a:rPr>
                        <a:t>11.42</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a:t>
                      </a:r>
                    </a:p>
                  </a:txBody>
                  <a:tcPr marL="66675" marR="66675" marT="38100" marB="38100" anchor="ctr">
                    <a:solidFill>
                      <a:srgbClr val="F7FAFC"/>
                    </a:solidFill>
                  </a:tcPr>
                </a:tc>
                <a:tc>
                  <a:txBody>
                    <a:bodyPr/>
                    <a:lstStyle/>
                    <a:p>
                      <a:r>
                        <a:rPr sz="975">
                          <a:solidFill>
                            <a:srgbClr val="173244"/>
                          </a:solidFill>
                          <a:latin typeface="Arial"/>
                          <a:ea typeface="Arial"/>
                          <a:cs typeface="Arial"/>
                        </a:rPr>
                        <a:t>11.42</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F7FAFC"/>
                    </a:solidFill>
                  </a:tcPr>
                </a:tc>
              </a:tr>
              <a:tr h="511969">
                <a:tc>
                  <a:txBody>
                    <a:bodyPr/>
                    <a:lstStyle/>
                    <a:p>
                      <a:r>
                        <a:rPr sz="975">
                          <a:solidFill>
                            <a:srgbClr val="173244"/>
                          </a:solidFill>
                          <a:latin typeface="Arial"/>
                          <a:ea typeface="Arial"/>
                          <a:cs typeface="Arial"/>
                        </a:rPr>
                        <a:t>667</a:t>
                      </a:r>
                    </a:p>
                  </a:txBody>
                  <a:tcPr marL="66675" marR="66675" marT="38100" marB="38100" anchor="ctr">
                    <a:solidFill>
                      <a:srgbClr val="DCE7EE"/>
                    </a:solidFill>
                  </a:tcPr>
                </a:tc>
                <a:tc>
                  <a:txBody>
                    <a:bodyPr/>
                    <a:lstStyle/>
                    <a:p>
                      <a:r>
                        <a:rPr sz="975">
                          <a:solidFill>
                            <a:srgbClr val="173244"/>
                          </a:solidFill>
                          <a:latin typeface="Arial"/>
                          <a:ea typeface="Arial"/>
                          <a:cs typeface="Arial"/>
                        </a:rPr>
                        <a:t>Control</a:t>
                      </a:r>
                    </a:p>
                  </a:txBody>
                  <a:tcPr marL="66675" marR="66675" marT="38100" marB="38100" anchor="ctr">
                    <a:solidFill>
                      <a:srgbClr val="DCE7EE"/>
                    </a:solidFill>
                  </a:tcP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a:t>
                      </a:r>
                    </a:p>
                  </a:txBody>
                  <a:tcPr marL="66675" marR="66675" marT="38100" marB="38100" anchor="ctr"/>
                </a:tc>
                <a:tc>
                  <a:txBody>
                    <a:bodyPr/>
                    <a:lstStyle/>
                    <a:p>
                      <a:r>
                        <a:rPr sz="975">
                          <a:solidFill>
                            <a:srgbClr val="173244"/>
                          </a:solidFill>
                          <a:latin typeface="Arial"/>
                          <a:ea typeface="Arial"/>
                          <a:cs typeface="Arial"/>
                        </a:rPr>
                        <a:t>0.00</a:t>
                      </a:r>
                    </a:p>
                  </a:txBody>
                  <a:tcPr marL="66675" marR="66675" marT="38100" marB="38100" anchor="ctr"/>
                </a:tc>
                <a:tc>
                  <a:txBody>
                    <a:bodyPr/>
                    <a:lstStyle/>
                    <a:p>
                      <a:r>
                        <a:rPr sz="975">
                          <a:solidFill>
                            <a:srgbClr val="173244"/>
                          </a:solidFill>
                          <a:latin typeface="Arial"/>
                          <a:ea typeface="Arial"/>
                          <a:cs typeface="Arial"/>
                        </a:rPr>
                        <a:t>2.39</a:t>
                      </a:r>
                    </a:p>
                  </a:txBody>
                  <a:tcPr marL="66675" marR="66675" marT="38100" marB="38100" anchor="ctr">
                    <a:solidFill>
                      <a:srgbClr val="DCE7EE"/>
                    </a:solidFill>
                  </a:tcPr>
                </a:tc>
              </a:tr>
              <a:tr h="511969">
                <a:tc>
                  <a:txBody>
                    <a:bodyPr/>
                    <a:lstStyle/>
                    <a:p>
                      <a:r>
                        <a:rPr sz="975">
                          <a:solidFill>
                            <a:srgbClr val="173244"/>
                          </a:solidFill>
                          <a:latin typeface="Arial"/>
                          <a:ea typeface="Arial"/>
                          <a:cs typeface="Arial"/>
                        </a:rPr>
                        <a:t>798</a:t>
                      </a:r>
                    </a:p>
                  </a:txBody>
                  <a:tcPr marL="66675" marR="66675" marT="38100" marB="38100" anchor="ctr">
                    <a:solidFill>
                      <a:srgbClr val="CDEFF1"/>
                    </a:solidFill>
                  </a:tcPr>
                </a:tc>
                <a:tc>
                  <a:txBody>
                    <a:bodyPr/>
                    <a:lstStyle/>
                    <a:p>
                      <a:r>
                        <a:rPr sz="975">
                          <a:solidFill>
                            <a:srgbClr val="173244"/>
                          </a:solidFill>
                          <a:latin typeface="Arial"/>
                          <a:ea typeface="Arial"/>
                          <a:cs typeface="Arial"/>
                        </a:rPr>
                        <a:t>Soy / Rice / Pea 40:30:30</a:t>
                      </a:r>
                    </a:p>
                  </a:txBody>
                  <a:tcPr marL="66675" marR="66675" marT="38100" marB="38100" anchor="ctr">
                    <a:solidFill>
                      <a:srgbClr val="CDEFF1"/>
                    </a:solidFill>
                  </a:tcPr>
                </a:tc>
                <a:tc>
                  <a:txBody>
                    <a:bodyPr/>
                    <a:lstStyle/>
                    <a:p>
                      <a:r>
                        <a:rPr sz="975">
                          <a:solidFill>
                            <a:srgbClr val="173244"/>
                          </a:solidFill>
                          <a:latin typeface="Arial"/>
                          <a:ea typeface="Arial"/>
                          <a:cs typeface="Arial"/>
                        </a:rPr>
                        <a:t>4.91</a:t>
                      </a:r>
                    </a:p>
                  </a:txBody>
                  <a:tcPr marL="66675" marR="66675" marT="38100" marB="38100" anchor="ctr">
                    <a:solidFill>
                      <a:srgbClr val="F7FAFC"/>
                    </a:solidFill>
                  </a:tcPr>
                </a:tc>
                <a:tc>
                  <a:txBody>
                    <a:bodyPr/>
                    <a:lstStyle/>
                    <a:p>
                      <a:r>
                        <a:rPr sz="975">
                          <a:solidFill>
                            <a:srgbClr val="173244"/>
                          </a:solidFill>
                          <a:latin typeface="Arial"/>
                          <a:ea typeface="Arial"/>
                          <a:cs typeface="Arial"/>
                        </a:rPr>
                        <a:t>3.68</a:t>
                      </a:r>
                    </a:p>
                  </a:txBody>
                  <a:tcPr marL="66675" marR="66675" marT="38100" marB="38100" anchor="ctr">
                    <a:solidFill>
                      <a:srgbClr val="F7FAFC"/>
                    </a:solidFill>
                  </a:tcPr>
                </a:tc>
                <a:tc>
                  <a:txBody>
                    <a:bodyPr/>
                    <a:lstStyle/>
                    <a:p>
                      <a:r>
                        <a:rPr sz="975">
                          <a:solidFill>
                            <a:srgbClr val="173244"/>
                          </a:solidFill>
                          <a:latin typeface="Arial"/>
                          <a:ea typeface="Arial"/>
                          <a:cs typeface="Arial"/>
                        </a:rPr>
                        <a:t>3.68</a:t>
                      </a:r>
                    </a:p>
                  </a:txBody>
                  <a:tcPr marL="66675" marR="66675" marT="38100" marB="38100" anchor="ctr">
                    <a:solidFill>
                      <a:srgbClr val="F7FAFC"/>
                    </a:solidFill>
                  </a:tcPr>
                </a:tc>
                <a:tc>
                  <a:txBody>
                    <a:bodyPr/>
                    <a:lstStyle/>
                    <a:p>
                      <a:r>
                        <a:rPr sz="975">
                          <a:solidFill>
                            <a:srgbClr val="173244"/>
                          </a:solidFill>
                          <a:latin typeface="Arial"/>
                          <a:ea typeface="Arial"/>
                          <a:cs typeface="Arial"/>
                        </a:rPr>
                        <a:t>12.27</a:t>
                      </a:r>
                    </a:p>
                  </a:txBody>
                  <a:tcPr marL="66675" marR="66675" marT="38100" marB="38100" anchor="ctr">
                    <a:solidFill>
                      <a:srgbClr val="F7FAFC"/>
                    </a:solidFill>
                  </a:tcPr>
                </a:tc>
                <a:tc>
                  <a:txBody>
                    <a:bodyPr/>
                    <a:lstStyle/>
                    <a:p>
                      <a:r>
                        <a:rPr sz="975">
                          <a:solidFill>
                            <a:srgbClr val="173244"/>
                          </a:solidFill>
                          <a:latin typeface="Arial"/>
                          <a:ea typeface="Arial"/>
                          <a:cs typeface="Arial"/>
                        </a:rPr>
                        <a:t>4.85</a:t>
                      </a:r>
                    </a:p>
                  </a:txBody>
                  <a:tcPr marL="66675" marR="66675" marT="38100" marB="38100" anchor="ctr">
                    <a:solidFill>
                      <a:srgbClr val="CDEFF1"/>
                    </a:solidFill>
                  </a:tcPr>
                </a:tc>
              </a:tr>
            </a:tbl>
          </a:graphicData>
        </a:graphic>
      </p:graphicFrame>
      <p:sp>
        <p:nvSpPr>
          <p:cNvPr id="6" name="">
            <a:extLst xmlns:a="http://schemas.openxmlformats.org/drawingml/2006/main">
              <a:ext uri="{FF2B5EF4-FFF2-40B4-BE49-F238E27FC236}">
                <a16:creationId xmlns:a16="http://schemas.microsoft.com/office/drawing/2014/main" id="{46AA38FD-DC1C-439D-BC00-F331221B6CB8}"/>
              </a:ext>
            </a:extLst>
          </p:cNvPr>
          <p:cNvSpPr>
            <a:spLocks xmlns:a="http://schemas.openxmlformats.org/drawingml/2006/main" noGrp="1"/>
          </p:cNvSpPr>
          <p:nvPr/>
        </p:nvSpPr>
        <p:spPr>
          <a:xfrm xmlns:a="http://schemas.openxmlformats.org/drawingml/2006/main">
            <a:off x="1428750" y="58102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B64A50"/>
                </a:solidFill>
                <a:latin typeface="Arial"/>
                <a:ea typeface="Arial"/>
                <a:cs typeface="Arial"/>
              </a:defRPr>
            </a:pPr>
            <a:r>
              <a:rPr sz="1275" b="1" i="0">
                <a:solidFill>
                  <a:srgbClr val="B64A50"/>
                </a:solidFill>
                <a:latin typeface="Arial"/>
                <a:ea typeface="Arial"/>
                <a:cs typeface="Arial"/>
              </a:rPr>
              <a:t>The 4.85% values are corrected theoretical estimates, not direct Kjeldahl measurements of the enriched products.</a:t>
            </a:r>
          </a:p>
        </p:txBody>
      </p:sp>
      <p:sp>
        <p:nvSpPr>
          <p:cNvPr id="7" name="">
            <a:extLst xmlns:a="http://schemas.openxmlformats.org/drawingml/2006/main">
              <a:ext uri="{FF2B5EF4-FFF2-40B4-BE49-F238E27FC236}">
                <a16:creationId xmlns:a16="http://schemas.microsoft.com/office/drawing/2014/main" id="{1F41F763-5ABD-453E-80C7-97C0F6EB59AF}"/>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8" name="">
            <a:extLst xmlns:a="http://schemas.openxmlformats.org/drawingml/2006/main">
              <a:ext uri="{FF2B5EF4-FFF2-40B4-BE49-F238E27FC236}">
                <a16:creationId xmlns:a16="http://schemas.microsoft.com/office/drawing/2014/main" id="{4E0D101F-840D-40AC-8D6A-CBB652569871}"/>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23</a:t>
            </a:r>
          </a:p>
        </p:txBody>
      </p:sp>
    </p:spTree>
    <p:extLst>
      <p:ext uri="{BB962C8B-B14F-4D97-AF65-F5344CB8AC3E}">
        <p14:creationId xmlns:p14="http://schemas.microsoft.com/office/powerpoint/2010/main" val="2036049039"/>
      </p:ext>
    </p:extLst>
  </p:cSld>
</p:sld>
</file>

<file path=ppt/slides/slide2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CB439C-D5B5-4C70-B48F-8C35592F8B7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E91014-B264-4C88-BD2A-D1EAF53665E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B86FAE41-0C57-4C2D-B613-BE6842C36B50}"/>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Hedonic results — complete visual and reported values</a:t>
            </a:r>
          </a:p>
        </p:txBody>
      </p:sp>
      <p:sp>
        <p:nvSpPr>
          <p:cNvPr id="4" name="">
            <a:extLst xmlns:a="http://schemas.openxmlformats.org/drawingml/2006/main">
              <a:ext uri="{FF2B5EF4-FFF2-40B4-BE49-F238E27FC236}">
                <a16:creationId xmlns:a16="http://schemas.microsoft.com/office/drawing/2014/main" id="{39A95FCC-9CF6-42AB-8571-86E38C61476F}"/>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3110f17a9d495f"/>
          <a:stretch xmlns:a="http://schemas.openxmlformats.org/drawingml/2006/main"/>
        </p:blipFill>
        <p:spPr>
          <a:xfrm xmlns:a="http://schemas.openxmlformats.org/drawingml/2006/main">
            <a:off x="476250" y="1478223"/>
            <a:ext cx="5905500" cy="3568179"/>
          </a:xfrm>
          <a:prstGeom xmlns:a="http://schemas.openxmlformats.org/drawingml/2006/main" prst="roundRect">
            <a:avLst>
              <a:gd name="adj" fmla="val 3200"/>
            </a:avLst>
          </a:prstGeom>
        </p:spPr>
      </p:pic>
      <p:graphicFrame>
        <p:nvGraphicFramePr>
          <p:cNvPr id="15" name=""/>
          <p:cNvGraphicFramePr/>
          <p:nvPr/>
        </p:nvGraphicFramePr>
        <p:xfrm>
          <a:off xmlns:a="http://schemas.openxmlformats.org/drawingml/2006/main" x="6667500" y="1476375"/>
          <a:ext xmlns:a="http://schemas.openxmlformats.org/drawingml/2006/main" cx="5095875" cy="3810000"/>
        </p:xfrm>
        <a:graphic xmlns:a="http://schemas.openxmlformats.org/drawingml/2006/main">
          <a:graphicData uri="http://schemas.openxmlformats.org/drawingml/2006/table">
            <a:tbl>
              <a:tblPr/>
              <a:tblGrid>
                <a:gridCol w="714375"/>
                <a:gridCol w="2476500"/>
                <a:gridCol w="1905000"/>
              </a:tblGrid>
              <a:tr h="476250">
                <a:tc>
                  <a:txBody>
                    <a:bodyPr/>
                    <a:lstStyle/>
                    <a:p>
                      <a:r>
                        <a:rPr sz="900" b="1">
                          <a:solidFill>
                            <a:srgbClr val="FFFFFF"/>
                          </a:solidFill>
                          <a:latin typeface="Arial"/>
                          <a:ea typeface="Arial"/>
                          <a:cs typeface="Arial"/>
                        </a:rPr>
                        <a:t>Code</a:t>
                      </a:r>
                    </a:p>
                  </a:txBody>
                  <a:tcPr marL="91440" marR="91440" marT="45720" marB="45720" anchor="ctr">
                    <a:solidFill>
                      <a:srgbClr val="082C4C"/>
                    </a:solidFill>
                  </a:tcPr>
                </a:tc>
                <a:tc>
                  <a:txBody>
                    <a:bodyPr/>
                    <a:lstStyle/>
                    <a:p>
                      <a:r>
                        <a:rPr sz="900" b="1">
                          <a:solidFill>
                            <a:srgbClr val="FFFFFF"/>
                          </a:solidFill>
                          <a:latin typeface="Arial"/>
                          <a:ea typeface="Arial"/>
                          <a:cs typeface="Arial"/>
                        </a:rPr>
                        <a:t>Formulation</a:t>
                      </a:r>
                    </a:p>
                  </a:txBody>
                  <a:tcPr marL="91440" marR="91440" marT="45720" marB="45720" anchor="ctr">
                    <a:solidFill>
                      <a:srgbClr val="082C4C"/>
                    </a:solidFill>
                  </a:tcPr>
                </a:tc>
                <a:tc>
                  <a:txBody>
                    <a:bodyPr/>
                    <a:lstStyle/>
                    <a:p>
                      <a:r>
                        <a:rPr sz="900" b="1">
                          <a:solidFill>
                            <a:srgbClr val="FFFFFF"/>
                          </a:solidFill>
                          <a:latin typeface="Arial"/>
                          <a:ea typeface="Arial"/>
                          <a:cs typeface="Arial"/>
                        </a:rPr>
                        <a:t>Mean ± SD / 9</a:t>
                      </a:r>
                    </a:p>
                  </a:txBody>
                  <a:tcPr marL="91440" marR="91440" marT="45720" marB="45720" anchor="ctr">
                    <a:solidFill>
                      <a:srgbClr val="082C4C"/>
                    </a:solidFill>
                  </a:tcPr>
                </a:tc>
              </a:tr>
              <a:tr h="476250">
                <a:tc>
                  <a:txBody>
                    <a:bodyPr/>
                    <a:lstStyle/>
                    <a:p>
                      <a:r>
                        <a:rPr sz="900">
                          <a:solidFill>
                            <a:srgbClr val="173244"/>
                          </a:solidFill>
                          <a:latin typeface="Arial"/>
                          <a:ea typeface="Arial"/>
                          <a:cs typeface="Arial"/>
                        </a:rPr>
                        <a:t>156</a:t>
                      </a:r>
                    </a:p>
                  </a:txBody>
                  <a:tcPr marL="66675" marR="66675" marT="38100" marB="38100" anchor="ctr">
                    <a:solidFill>
                      <a:srgbClr val="F7FAFC"/>
                    </a:solidFill>
                  </a:tcPr>
                </a:tc>
                <a:tc>
                  <a:txBody>
                    <a:bodyPr/>
                    <a:lstStyle/>
                    <a:p>
                      <a:r>
                        <a:rPr sz="900">
                          <a:solidFill>
                            <a:srgbClr val="173244"/>
                          </a:solidFill>
                          <a:latin typeface="Arial"/>
                          <a:ea typeface="Arial"/>
                          <a:cs typeface="Arial"/>
                        </a:rPr>
                        <a:t>Pea / Rice 50:50</a:t>
                      </a:r>
                    </a:p>
                  </a:txBody>
                  <a:tcPr marL="66675" marR="66675" marT="38100" marB="38100" anchor="ctr">
                    <a:solidFill>
                      <a:srgbClr val="F7FAFC"/>
                    </a:solidFill>
                  </a:tcPr>
                </a:tc>
                <a:tc>
                  <a:txBody>
                    <a:bodyPr/>
                    <a:lstStyle/>
                    <a:p>
                      <a:r>
                        <a:rPr sz="900">
                          <a:solidFill>
                            <a:srgbClr val="173244"/>
                          </a:solidFill>
                          <a:latin typeface="Arial"/>
                          <a:ea typeface="Arial"/>
                          <a:cs typeface="Arial"/>
                        </a:rPr>
                        <a:t>Not stated in report text</a:t>
                      </a:r>
                    </a:p>
                  </a:txBody>
                  <a:tcPr marL="66675" marR="66675" marT="38100" marB="38100" anchor="ctr">
                    <a:solidFill>
                      <a:srgbClr val="F7FAFC"/>
                    </a:solidFill>
                  </a:tcPr>
                </a:tc>
              </a:tr>
              <a:tr h="476250">
                <a:tc>
                  <a:txBody>
                    <a:bodyPr/>
                    <a:lstStyle/>
                    <a:p>
                      <a:r>
                        <a:rPr sz="900">
                          <a:solidFill>
                            <a:srgbClr val="173244"/>
                          </a:solidFill>
                          <a:latin typeface="Arial"/>
                          <a:ea typeface="Arial"/>
                          <a:cs typeface="Arial"/>
                        </a:rPr>
                        <a:t>235</a:t>
                      </a:r>
                    </a:p>
                  </a:txBody>
                  <a:tcPr marL="66675" marR="66675" marT="38100" marB="38100" anchor="ctr"/>
                </a:tc>
                <a:tc>
                  <a:txBody>
                    <a:bodyPr/>
                    <a:lstStyle/>
                    <a:p>
                      <a:r>
                        <a:rPr sz="900">
                          <a:solidFill>
                            <a:srgbClr val="173244"/>
                          </a:solidFill>
                          <a:latin typeface="Arial"/>
                          <a:ea typeface="Arial"/>
                          <a:cs typeface="Arial"/>
                        </a:rPr>
                        <a:t>Pea / Soy 50:50</a:t>
                      </a:r>
                    </a:p>
                  </a:txBody>
                  <a:tcPr marL="66675" marR="66675" marT="38100" marB="38100" anchor="ctr"/>
                </a:tc>
                <a:tc>
                  <a:txBody>
                    <a:bodyPr/>
                    <a:lstStyle/>
                    <a:p>
                      <a:r>
                        <a:rPr sz="900">
                          <a:solidFill>
                            <a:srgbClr val="173244"/>
                          </a:solidFill>
                          <a:latin typeface="Arial"/>
                          <a:ea typeface="Arial"/>
                          <a:cs typeface="Arial"/>
                        </a:rPr>
                        <a:t>Not stated in report text</a:t>
                      </a:r>
                    </a:p>
                  </a:txBody>
                  <a:tcPr marL="66675" marR="66675" marT="38100" marB="38100" anchor="ctr"/>
                </a:tc>
              </a:tr>
              <a:tr h="476250">
                <a:tc>
                  <a:txBody>
                    <a:bodyPr/>
                    <a:lstStyle/>
                    <a:p>
                      <a:r>
                        <a:rPr sz="900">
                          <a:solidFill>
                            <a:srgbClr val="173244"/>
                          </a:solidFill>
                          <a:latin typeface="Arial"/>
                          <a:ea typeface="Arial"/>
                          <a:cs typeface="Arial"/>
                        </a:rPr>
                        <a:t>320</a:t>
                      </a:r>
                    </a:p>
                  </a:txBody>
                  <a:tcPr marL="66675" marR="66675" marT="38100" marB="38100" anchor="ctr">
                    <a:solidFill>
                      <a:srgbClr val="F7FAFC"/>
                    </a:solidFill>
                  </a:tcPr>
                </a:tc>
                <a:tc>
                  <a:txBody>
                    <a:bodyPr/>
                    <a:lstStyle/>
                    <a:p>
                      <a:r>
                        <a:rPr sz="900">
                          <a:solidFill>
                            <a:srgbClr val="173244"/>
                          </a:solidFill>
                          <a:latin typeface="Arial"/>
                          <a:ea typeface="Arial"/>
                          <a:cs typeface="Arial"/>
                        </a:rPr>
                        <a:t>Soy / Rice 50:50</a:t>
                      </a:r>
                    </a:p>
                  </a:txBody>
                  <a:tcPr marL="66675" marR="66675" marT="38100" marB="38100" anchor="ctr">
                    <a:solidFill>
                      <a:srgbClr val="F7FAFC"/>
                    </a:solidFill>
                  </a:tcPr>
                </a:tc>
                <a:tc>
                  <a:txBody>
                    <a:bodyPr/>
                    <a:lstStyle/>
                    <a:p>
                      <a:r>
                        <a:rPr sz="900">
                          <a:solidFill>
                            <a:srgbClr val="173244"/>
                          </a:solidFill>
                          <a:latin typeface="Arial"/>
                          <a:ea typeface="Arial"/>
                          <a:cs typeface="Arial"/>
                        </a:rPr>
                        <a:t>5.56 ± 1.66</a:t>
                      </a:r>
                    </a:p>
                  </a:txBody>
                  <a:tcPr marL="66675" marR="66675" marT="38100" marB="38100" anchor="ctr">
                    <a:solidFill>
                      <a:srgbClr val="F7FAFC"/>
                    </a:solidFill>
                  </a:tcPr>
                </a:tc>
              </a:tr>
              <a:tr h="476250">
                <a:tc>
                  <a:txBody>
                    <a:bodyPr/>
                    <a:lstStyle/>
                    <a:p>
                      <a:r>
                        <a:rPr sz="900">
                          <a:solidFill>
                            <a:srgbClr val="173244"/>
                          </a:solidFill>
                          <a:latin typeface="Arial"/>
                          <a:ea typeface="Arial"/>
                          <a:cs typeface="Arial"/>
                        </a:rPr>
                        <a:t>473</a:t>
                      </a:r>
                    </a:p>
                  </a:txBody>
                  <a:tcPr marL="66675" marR="66675" marT="38100" marB="38100" anchor="ctr"/>
                </a:tc>
                <a:tc>
                  <a:txBody>
                    <a:bodyPr/>
                    <a:lstStyle/>
                    <a:p>
                      <a:r>
                        <a:rPr sz="900">
                          <a:solidFill>
                            <a:srgbClr val="173244"/>
                          </a:solidFill>
                          <a:latin typeface="Arial"/>
                          <a:ea typeface="Arial"/>
                          <a:cs typeface="Arial"/>
                        </a:rPr>
                        <a:t>Rice 100%</a:t>
                      </a:r>
                    </a:p>
                  </a:txBody>
                  <a:tcPr marL="66675" marR="66675" marT="38100" marB="38100" anchor="ctr"/>
                </a:tc>
                <a:tc>
                  <a:txBody>
                    <a:bodyPr/>
                    <a:lstStyle/>
                    <a:p>
                      <a:r>
                        <a:rPr sz="900">
                          <a:solidFill>
                            <a:srgbClr val="173244"/>
                          </a:solidFill>
                          <a:latin typeface="Arial"/>
                          <a:ea typeface="Arial"/>
                          <a:cs typeface="Arial"/>
                        </a:rPr>
                        <a:t>6.27 ± 1.81</a:t>
                      </a:r>
                    </a:p>
                  </a:txBody>
                  <a:tcPr marL="66675" marR="66675" marT="38100" marB="38100" anchor="ctr"/>
                </a:tc>
              </a:tr>
              <a:tr h="476250">
                <a:tc>
                  <a:txBody>
                    <a:bodyPr/>
                    <a:lstStyle/>
                    <a:p>
                      <a:r>
                        <a:rPr sz="900">
                          <a:solidFill>
                            <a:srgbClr val="173244"/>
                          </a:solidFill>
                          <a:latin typeface="Arial"/>
                          <a:ea typeface="Arial"/>
                          <a:cs typeface="Arial"/>
                        </a:rPr>
                        <a:t>589</a:t>
                      </a:r>
                    </a:p>
                  </a:txBody>
                  <a:tcPr marL="66675" marR="66675" marT="38100" marB="38100" anchor="ctr">
                    <a:solidFill>
                      <a:srgbClr val="F7FAFC"/>
                    </a:solidFill>
                  </a:tcPr>
                </a:tc>
                <a:tc>
                  <a:txBody>
                    <a:bodyPr/>
                    <a:lstStyle/>
                    <a:p>
                      <a:r>
                        <a:rPr sz="900">
                          <a:solidFill>
                            <a:srgbClr val="173244"/>
                          </a:solidFill>
                          <a:latin typeface="Arial"/>
                          <a:ea typeface="Arial"/>
                          <a:cs typeface="Arial"/>
                        </a:rPr>
                        <a:t>Soy 100%</a:t>
                      </a:r>
                    </a:p>
                  </a:txBody>
                  <a:tcPr marL="66675" marR="66675" marT="38100" marB="38100" anchor="ctr">
                    <a:solidFill>
                      <a:srgbClr val="F7FAFC"/>
                    </a:solidFill>
                  </a:tcPr>
                </a:tc>
                <a:tc>
                  <a:txBody>
                    <a:bodyPr/>
                    <a:lstStyle/>
                    <a:p>
                      <a:r>
                        <a:rPr sz="900">
                          <a:solidFill>
                            <a:srgbClr val="173244"/>
                          </a:solidFill>
                          <a:latin typeface="Arial"/>
                          <a:ea typeface="Arial"/>
                          <a:cs typeface="Arial"/>
                        </a:rPr>
                        <a:t>6.09 ± 1.83</a:t>
                      </a:r>
                    </a:p>
                  </a:txBody>
                  <a:tcPr marL="66675" marR="66675" marT="38100" marB="38100" anchor="ctr">
                    <a:solidFill>
                      <a:srgbClr val="F7FAFC"/>
                    </a:solidFill>
                  </a:tcPr>
                </a:tc>
              </a:tr>
              <a:tr h="476250">
                <a:tc>
                  <a:txBody>
                    <a:bodyPr/>
                    <a:lstStyle/>
                    <a:p>
                      <a:r>
                        <a:rPr sz="900">
                          <a:solidFill>
                            <a:srgbClr val="173244"/>
                          </a:solidFill>
                          <a:latin typeface="Arial"/>
                          <a:ea typeface="Arial"/>
                          <a:cs typeface="Arial"/>
                        </a:rPr>
                        <a:t>667</a:t>
                      </a:r>
                    </a:p>
                  </a:txBody>
                  <a:tcPr marL="66675" marR="66675" marT="38100" marB="38100" anchor="ctr"/>
                </a:tc>
                <a:tc>
                  <a:txBody>
                    <a:bodyPr/>
                    <a:lstStyle/>
                    <a:p>
                      <a:r>
                        <a:rPr sz="900">
                          <a:solidFill>
                            <a:srgbClr val="173244"/>
                          </a:solidFill>
                          <a:latin typeface="Arial"/>
                          <a:ea typeface="Arial"/>
                          <a:cs typeface="Arial"/>
                        </a:rPr>
                        <a:t>Control</a:t>
                      </a:r>
                    </a:p>
                  </a:txBody>
                  <a:tcPr marL="66675" marR="66675" marT="38100" marB="38100" anchor="ctr"/>
                </a:tc>
                <a:tc>
                  <a:txBody>
                    <a:bodyPr/>
                    <a:lstStyle/>
                    <a:p>
                      <a:r>
                        <a:rPr sz="900">
                          <a:solidFill>
                            <a:srgbClr val="173244"/>
                          </a:solidFill>
                          <a:latin typeface="Arial"/>
                          <a:ea typeface="Arial"/>
                          <a:cs typeface="Arial"/>
                        </a:rPr>
                        <a:t>7.04 ± 1.70</a:t>
                      </a:r>
                    </a:p>
                  </a:txBody>
                  <a:tcPr marL="66675" marR="66675" marT="38100" marB="38100" anchor="ctr"/>
                </a:tc>
              </a:tr>
              <a:tr h="476250">
                <a:tc>
                  <a:txBody>
                    <a:bodyPr/>
                    <a:lstStyle/>
                    <a:p>
                      <a:r>
                        <a:rPr sz="900">
                          <a:solidFill>
                            <a:srgbClr val="173244"/>
                          </a:solidFill>
                          <a:latin typeface="Arial"/>
                          <a:ea typeface="Arial"/>
                          <a:cs typeface="Arial"/>
                        </a:rPr>
                        <a:t>798</a:t>
                      </a:r>
                    </a:p>
                  </a:txBody>
                  <a:tcPr marL="66675" marR="66675" marT="38100" marB="38100" anchor="ctr">
                    <a:solidFill>
                      <a:srgbClr val="F7FAFC"/>
                    </a:solidFill>
                  </a:tcPr>
                </a:tc>
                <a:tc>
                  <a:txBody>
                    <a:bodyPr/>
                    <a:lstStyle/>
                    <a:p>
                      <a:r>
                        <a:rPr sz="900">
                          <a:solidFill>
                            <a:srgbClr val="173244"/>
                          </a:solidFill>
                          <a:latin typeface="Arial"/>
                          <a:ea typeface="Arial"/>
                          <a:cs typeface="Arial"/>
                        </a:rPr>
                        <a:t>Soy / Rice / Pea 40:30:30</a:t>
                      </a:r>
                    </a:p>
                  </a:txBody>
                  <a:tcPr marL="66675" marR="66675" marT="38100" marB="38100" anchor="ctr">
                    <a:solidFill>
                      <a:srgbClr val="F7FAFC"/>
                    </a:solidFill>
                  </a:tcPr>
                </a:tc>
                <a:tc>
                  <a:txBody>
                    <a:bodyPr/>
                    <a:lstStyle/>
                    <a:p>
                      <a:r>
                        <a:rPr sz="900">
                          <a:solidFill>
                            <a:srgbClr val="173244"/>
                          </a:solidFill>
                          <a:latin typeface="Arial"/>
                          <a:ea typeface="Arial"/>
                          <a:cs typeface="Arial"/>
                        </a:rPr>
                        <a:t>6.56 ± 1.72</a:t>
                      </a:r>
                    </a:p>
                  </a:txBody>
                  <a:tcPr marL="66675" marR="66675" marT="38100" marB="38100" anchor="ctr">
                    <a:solidFill>
                      <a:srgbClr val="F7FAFC"/>
                    </a:solidFill>
                  </a:tcPr>
                </a:tc>
              </a:tr>
            </a:tbl>
          </a:graphicData>
        </a:graphic>
      </p:graphicFrame>
      <p:sp>
        <p:nvSpPr>
          <p:cNvPr id="7" name="">
            <a:extLst xmlns:a="http://schemas.openxmlformats.org/drawingml/2006/main">
              <a:ext uri="{FF2B5EF4-FFF2-40B4-BE49-F238E27FC236}">
                <a16:creationId xmlns:a16="http://schemas.microsoft.com/office/drawing/2014/main" id="{E7A14736-0CC4-4EC7-A059-47037500896D}"/>
              </a:ext>
            </a:extLst>
          </p:cNvPr>
          <p:cNvSpPr>
            <a:spLocks xmlns:a="http://schemas.openxmlformats.org/drawingml/2006/main" noGrp="1"/>
          </p:cNvSpPr>
          <p:nvPr/>
        </p:nvSpPr>
        <p:spPr>
          <a:xfrm xmlns:a="http://schemas.openxmlformats.org/drawingml/2006/main">
            <a:off x="1047750" y="5572125"/>
            <a:ext cx="10096500" cy="49530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i="0">
                <a:solidFill>
                  <a:srgbClr val="B64A50"/>
                </a:solidFill>
                <a:latin typeface="Arial"/>
                <a:ea typeface="Arial"/>
                <a:cs typeface="Arial"/>
              </a:defRPr>
            </a:pPr>
            <a:r>
              <a:rPr sz="1200" b="1" i="0">
                <a:solidFill>
                  <a:srgbClr val="B64A50"/>
                </a:solidFill>
                <a:latin typeface="Arial"/>
                <a:ea typeface="Arial"/>
                <a:cs typeface="Arial"/>
              </a:rPr>
              <a:t>The chart shows all seven means. Exact mean ± SD values for 156 and 235 were not available in the supplied text, so they were not inferred.</a:t>
            </a:r>
          </a:p>
        </p:txBody>
      </p:sp>
      <p:sp>
        <p:nvSpPr>
          <p:cNvPr id="8" name="">
            <a:extLst xmlns:a="http://schemas.openxmlformats.org/drawingml/2006/main">
              <a:ext uri="{FF2B5EF4-FFF2-40B4-BE49-F238E27FC236}">
                <a16:creationId xmlns:a16="http://schemas.microsoft.com/office/drawing/2014/main" id="{FFCD7F5A-1FCC-4423-AFE7-FCFA94775558}"/>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9" name="">
            <a:extLst xmlns:a="http://schemas.openxmlformats.org/drawingml/2006/main">
              <a:ext uri="{FF2B5EF4-FFF2-40B4-BE49-F238E27FC236}">
                <a16:creationId xmlns:a16="http://schemas.microsoft.com/office/drawing/2014/main" id="{23CB8C9E-0322-4561-8E67-526156D814B5}"/>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24</a:t>
            </a:r>
          </a:p>
        </p:txBody>
      </p:sp>
    </p:spTree>
    <p:extLst>
      <p:ext uri="{BB962C8B-B14F-4D97-AF65-F5344CB8AC3E}">
        <p14:creationId xmlns:p14="http://schemas.microsoft.com/office/powerpoint/2010/main" val="1736888707"/>
      </p:ext>
    </p:extLst>
  </p:cSld>
</p:sld>
</file>

<file path=ppt/slides/slide2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1180EB-CE93-499B-A575-98BFBC35FCC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AAE107-6950-4903-B02A-6CD29B97A00C}"/>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36BE5507-A581-4139-BD6C-8DA1928EF66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JAR profile of candidate 798</a:t>
            </a:r>
          </a:p>
        </p:txBody>
      </p:sp>
      <p:sp>
        <p:nvSpPr>
          <p:cNvPr id="4" name="">
            <a:extLst xmlns:a="http://schemas.openxmlformats.org/drawingml/2006/main">
              <a:ext uri="{FF2B5EF4-FFF2-40B4-BE49-F238E27FC236}">
                <a16:creationId xmlns:a16="http://schemas.microsoft.com/office/drawing/2014/main" id="{998D3EA7-E96F-419D-BA40-4FBACF561F79}"/>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6" name="Chart"/>
          <p:cNvGraphicFramePr/>
          <p:nvPr/>
        </p:nvGraphicFramePr>
        <p:xfrm>
          <a:off xmlns:a="http://schemas.openxmlformats.org/drawingml/2006/main" x="952500" y="1524000"/>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88fc7662509d41e0"/>
          </a:graphicData>
        </a:graphic>
      </p:graphicFrame>
      <p:sp>
        <p:nvSpPr>
          <p:cNvPr id="6" name="">
            <a:extLst xmlns:a="http://schemas.openxmlformats.org/drawingml/2006/main">
              <a:ext uri="{FF2B5EF4-FFF2-40B4-BE49-F238E27FC236}">
                <a16:creationId xmlns:a16="http://schemas.microsoft.com/office/drawing/2014/main" id="{8326220B-6C55-4ABF-ACF7-40CD966A6605}"/>
              </a:ext>
            </a:extLst>
          </p:cNvPr>
          <p:cNvSpPr>
            <a:spLocks xmlns:a="http://schemas.openxmlformats.org/drawingml/2006/main" noGrp="1"/>
          </p:cNvSpPr>
          <p:nvPr/>
        </p:nvSpPr>
        <p:spPr>
          <a:xfrm xmlns:a="http://schemas.openxmlformats.org/drawingml/2006/main">
            <a:off x="8715375" y="1905000"/>
            <a:ext cx="2381250" cy="2381250"/>
          </a:xfrm>
          <a:prstGeom xmlns:a="http://schemas.openxmlformats.org/drawingml/2006/main" prst="roundRect">
            <a:avLst>
              <a:gd name="adj" fmla="val 3200"/>
            </a:avLst>
          </a:prstGeom>
          <a:solidFill xmlns:a="http://schemas.openxmlformats.org/drawingml/2006/main">
            <a:srgbClr val="082C4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BFA4F4-6ECC-4711-8D64-49D4DDBD8121}"/>
              </a:ext>
            </a:extLst>
          </p:cNvPr>
          <p:cNvSpPr>
            <a:spLocks xmlns:a="http://schemas.openxmlformats.org/drawingml/2006/main" noGrp="1"/>
          </p:cNvSpPr>
          <p:nvPr/>
        </p:nvSpPr>
        <p:spPr>
          <a:xfrm xmlns:a="http://schemas.openxmlformats.org/drawingml/2006/main">
            <a:off x="9096375" y="2238375"/>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lgn="ctr">
              <a:defRPr sz="3300" b="1" i="0">
                <a:solidFill>
                  <a:srgbClr val="FFFFFF"/>
                </a:solidFill>
                <a:latin typeface="Arial"/>
                <a:ea typeface="Arial"/>
                <a:cs typeface="Arial"/>
              </a:defRPr>
            </a:pPr>
            <a:r>
              <a:rPr sz="3300" b="1" i="0">
                <a:solidFill>
                  <a:srgbClr val="FFFFFF"/>
                </a:solidFill>
                <a:latin typeface="Arial"/>
                <a:ea typeface="Arial"/>
                <a:cs typeface="Arial"/>
              </a:rPr>
              <a:t>798</a:t>
            </a:r>
          </a:p>
        </p:txBody>
      </p:sp>
      <p:sp>
        <p:nvSpPr>
          <p:cNvPr id="8" name="">
            <a:extLst xmlns:a="http://schemas.openxmlformats.org/drawingml/2006/main">
              <a:ext uri="{FF2B5EF4-FFF2-40B4-BE49-F238E27FC236}">
                <a16:creationId xmlns:a16="http://schemas.microsoft.com/office/drawing/2014/main" id="{A131AEAC-B02A-4C33-A7B9-54445FFEBC8B}"/>
              </a:ext>
            </a:extLst>
          </p:cNvPr>
          <p:cNvSpPr>
            <a:spLocks xmlns:a="http://schemas.openxmlformats.org/drawingml/2006/main" noGrp="1"/>
          </p:cNvSpPr>
          <p:nvPr/>
        </p:nvSpPr>
        <p:spPr>
          <a:xfrm xmlns:a="http://schemas.openxmlformats.org/drawingml/2006/main">
            <a:off x="8953500" y="295275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123"/>
          </a:bodyPr>
          <a:lstStyle xmlns:a="http://schemas.openxmlformats.org/drawingml/2006/main"/>
          <a:p xmlns:a="http://schemas.openxmlformats.org/drawingml/2006/main">
            <a:pPr algn="ctr">
              <a:defRPr sz="1425" b="1" i="0">
                <a:solidFill>
                  <a:srgbClr val="BDEBF0"/>
                </a:solidFill>
                <a:latin typeface="Arial"/>
                <a:ea typeface="Arial"/>
                <a:cs typeface="Arial"/>
              </a:defRPr>
            </a:pPr>
            <a:r>
              <a:rPr sz="1425" b="1" i="0">
                <a:solidFill>
                  <a:srgbClr val="BDEBF0"/>
                </a:solidFill>
                <a:latin typeface="Arial"/>
                <a:ea typeface="Arial"/>
                <a:cs typeface="Arial"/>
              </a:rPr>
              <a:t>The most balanced JAR profile among the enriched formulations</a:t>
            </a:r>
          </a:p>
        </p:txBody>
      </p:sp>
      <p:sp>
        <p:nvSpPr>
          <p:cNvPr id="9" name="">
            <a:extLst xmlns:a="http://schemas.openxmlformats.org/drawingml/2006/main">
              <a:ext uri="{FF2B5EF4-FFF2-40B4-BE49-F238E27FC236}">
                <a16:creationId xmlns:a16="http://schemas.microsoft.com/office/drawing/2014/main" id="{3A7F2A9B-526B-4CEE-BC88-708B1FAADED3}"/>
              </a:ext>
            </a:extLst>
          </p:cNvPr>
          <p:cNvSpPr>
            <a:spLocks xmlns:a="http://schemas.openxmlformats.org/drawingml/2006/main" noGrp="1"/>
          </p:cNvSpPr>
          <p:nvPr/>
        </p:nvSpPr>
        <p:spPr>
          <a:xfrm xmlns:a="http://schemas.openxmlformats.org/drawingml/2006/main">
            <a:off x="8572500" y="461962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Bitterness showed the lowest central response at 60%.</a:t>
            </a:r>
          </a:p>
        </p:txBody>
      </p:sp>
      <p:sp>
        <p:nvSpPr>
          <p:cNvPr id="10" name="">
            <a:extLst xmlns:a="http://schemas.openxmlformats.org/drawingml/2006/main">
              <a:ext uri="{FF2B5EF4-FFF2-40B4-BE49-F238E27FC236}">
                <a16:creationId xmlns:a16="http://schemas.microsoft.com/office/drawing/2014/main" id="{E55FDDF8-907B-40D6-9FFC-BD980B6B6995}"/>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1" name="">
            <a:extLst xmlns:a="http://schemas.openxmlformats.org/drawingml/2006/main">
              <a:ext uri="{FF2B5EF4-FFF2-40B4-BE49-F238E27FC236}">
                <a16:creationId xmlns:a16="http://schemas.microsoft.com/office/drawing/2014/main" id="{2D812130-6ACD-465B-8A4E-E2EEE2703DC8}"/>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25</a:t>
            </a:r>
          </a:p>
        </p:txBody>
      </p:sp>
    </p:spTree>
    <p:extLst>
      <p:ext uri="{BB962C8B-B14F-4D97-AF65-F5344CB8AC3E}">
        <p14:creationId xmlns:p14="http://schemas.microsoft.com/office/powerpoint/2010/main" val="1461862291"/>
      </p:ext>
    </p:extLst>
  </p:cSld>
</p:sld>
</file>

<file path=ppt/slides/slide2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1AD067-DC56-4D88-9A56-360F1B453FD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31FEBE-39E7-442E-8B23-9DED1ACD5F82}"/>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E18068ED-8A98-4520-8557-D206AFAFB7C8}"/>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CATA descriptors linked to particle-related mouthfeel</a:t>
            </a:r>
          </a:p>
        </p:txBody>
      </p:sp>
      <p:sp>
        <p:nvSpPr>
          <p:cNvPr id="4" name="">
            <a:extLst xmlns:a="http://schemas.openxmlformats.org/drawingml/2006/main">
              <a:ext uri="{FF2B5EF4-FFF2-40B4-BE49-F238E27FC236}">
                <a16:creationId xmlns:a16="http://schemas.microsoft.com/office/drawing/2014/main" id="{A3C24E69-2B27-4DC5-AF26-36C3540EB79C}"/>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15" name=""/>
          <p:cNvGraphicFramePr/>
          <p:nvPr/>
        </p:nvGraphicFramePr>
        <p:xfrm>
          <a:off xmlns:a="http://schemas.openxmlformats.org/drawingml/2006/main" x="666750" y="1619250"/>
          <a:ext xmlns:a="http://schemas.openxmlformats.org/drawingml/2006/main" cx="10858500" cy="2952750"/>
        </p:xfrm>
        <a:graphic xmlns:a="http://schemas.openxmlformats.org/drawingml/2006/main">
          <a:graphicData uri="http://schemas.openxmlformats.org/drawingml/2006/table">
            <a:tbl>
              <a:tblPr/>
              <a:tblGrid>
                <a:gridCol w="2476500"/>
                <a:gridCol w="1809750"/>
                <a:gridCol w="2476500"/>
                <a:gridCol w="4095750"/>
              </a:tblGrid>
              <a:tr h="590550">
                <a:tc>
                  <a:txBody>
                    <a:bodyPr/>
                    <a:lstStyle/>
                    <a:p>
                      <a:r>
                        <a:rPr sz="1050" b="1">
                          <a:solidFill>
                            <a:srgbClr val="FFFFFF"/>
                          </a:solidFill>
                          <a:latin typeface="Arial"/>
                          <a:ea typeface="Arial"/>
                          <a:cs typeface="Arial"/>
                        </a:rPr>
                        <a:t>Descriptor</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Control 667</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Enriched formulations</a:t>
                      </a:r>
                    </a:p>
                  </a:txBody>
                  <a:tcPr marL="91440" marR="91440" marT="45720" marB="45720" anchor="ctr">
                    <a:solidFill>
                      <a:srgbClr val="082C4C"/>
                    </a:solidFill>
                  </a:tcPr>
                </a:tc>
                <a:tc>
                  <a:txBody>
                    <a:bodyPr/>
                    <a:lstStyle/>
                    <a:p>
                      <a:r>
                        <a:rPr sz="1050" b="1">
                          <a:solidFill>
                            <a:srgbClr val="FFFFFF"/>
                          </a:solidFill>
                          <a:latin typeface="Arial"/>
                          <a:ea typeface="Arial"/>
                          <a:cs typeface="Arial"/>
                        </a:rPr>
                        <a:t>Interpretation</a:t>
                      </a:r>
                    </a:p>
                  </a:txBody>
                  <a:tcPr marL="91440" marR="91440" marT="45720" marB="45720" anchor="ctr">
                    <a:solidFill>
                      <a:srgbClr val="082C4C"/>
                    </a:solidFill>
                  </a:tcPr>
                </a:tc>
              </a:tr>
              <a:tr h="590550">
                <a:tc>
                  <a:txBody>
                    <a:bodyPr/>
                    <a:lstStyle/>
                    <a:p>
                      <a:r>
                        <a:rPr sz="1050">
                          <a:solidFill>
                            <a:srgbClr val="173244"/>
                          </a:solidFill>
                          <a:latin typeface="Arial"/>
                          <a:ea typeface="Arial"/>
                          <a:cs typeface="Arial"/>
                        </a:rPr>
                        <a:t>Powdery / chalky</a:t>
                      </a:r>
                    </a:p>
                  </a:txBody>
                  <a:tcPr marL="66675" marR="66675" marT="38100" marB="38100" anchor="ctr">
                    <a:solidFill>
                      <a:srgbClr val="F7FAFC"/>
                    </a:solidFill>
                  </a:tcPr>
                </a:tc>
                <a:tc>
                  <a:txBody>
                    <a:bodyPr/>
                    <a:lstStyle/>
                    <a:p>
                      <a:r>
                        <a:rPr sz="1050">
                          <a:solidFill>
                            <a:srgbClr val="173244"/>
                          </a:solidFill>
                          <a:latin typeface="Arial"/>
                          <a:ea typeface="Arial"/>
                          <a:cs typeface="Arial"/>
                        </a:rPr>
                        <a:t>24%</a:t>
                      </a:r>
                    </a:p>
                  </a:txBody>
                  <a:tcPr marL="66675" marR="66675" marT="38100" marB="38100" anchor="ctr">
                    <a:solidFill>
                      <a:srgbClr val="F7FAFC"/>
                    </a:solidFill>
                  </a:tcPr>
                </a:tc>
                <a:tc>
                  <a:txBody>
                    <a:bodyPr/>
                    <a:lstStyle/>
                    <a:p>
                      <a:r>
                        <a:rPr sz="1050">
                          <a:solidFill>
                            <a:srgbClr val="173244"/>
                          </a:solidFill>
                          <a:latin typeface="Arial"/>
                          <a:ea typeface="Arial"/>
                          <a:cs typeface="Arial"/>
                        </a:rPr>
                        <a:t>48–60%</a:t>
                      </a:r>
                    </a:p>
                  </a:txBody>
                  <a:tcPr marL="66675" marR="66675" marT="38100" marB="38100" anchor="ctr">
                    <a:solidFill>
                      <a:srgbClr val="F7FAFC"/>
                    </a:solidFill>
                  </a:tcPr>
                </a:tc>
                <a:tc>
                  <a:txBody>
                    <a:bodyPr/>
                    <a:lstStyle/>
                    <a:p>
                      <a:r>
                        <a:rPr sz="1050">
                          <a:solidFill>
                            <a:srgbClr val="173244"/>
                          </a:solidFill>
                          <a:latin typeface="Arial"/>
                          <a:ea typeface="Arial"/>
                          <a:cs typeface="Arial"/>
                        </a:rPr>
                        <a:t>Protein enrichment increased powder-related perception</a:t>
                      </a:r>
                    </a:p>
                  </a:txBody>
                  <a:tcPr marL="66675" marR="66675" marT="38100" marB="38100" anchor="ctr">
                    <a:solidFill>
                      <a:srgbClr val="F7FAFC"/>
                    </a:solidFill>
                  </a:tcPr>
                </a:tc>
              </a:tr>
              <a:tr h="590550">
                <a:tc>
                  <a:txBody>
                    <a:bodyPr/>
                    <a:lstStyle/>
                    <a:p>
                      <a:r>
                        <a:rPr sz="1050">
                          <a:solidFill>
                            <a:srgbClr val="173244"/>
                          </a:solidFill>
                          <a:latin typeface="Arial"/>
                          <a:ea typeface="Arial"/>
                          <a:cs typeface="Arial"/>
                        </a:rPr>
                        <a:t>Gritty / sandy</a:t>
                      </a:r>
                    </a:p>
                  </a:txBody>
                  <a:tcPr marL="66675" marR="66675" marT="38100" marB="38100" anchor="ctr"/>
                </a:tc>
                <a:tc>
                  <a:txBody>
                    <a:bodyPr/>
                    <a:lstStyle/>
                    <a:p>
                      <a:r>
                        <a:rPr sz="1050">
                          <a:solidFill>
                            <a:srgbClr val="173244"/>
                          </a:solidFill>
                          <a:latin typeface="Arial"/>
                          <a:ea typeface="Arial"/>
                          <a:cs typeface="Arial"/>
                        </a:rPr>
                        <a:t>0%</a:t>
                      </a:r>
                    </a:p>
                  </a:txBody>
                  <a:tcPr marL="66675" marR="66675" marT="38100" marB="38100" anchor="ctr"/>
                </a:tc>
                <a:tc>
                  <a:txBody>
                    <a:bodyPr/>
                    <a:lstStyle/>
                    <a:p>
                      <a:r>
                        <a:rPr sz="1050">
                          <a:solidFill>
                            <a:srgbClr val="173244"/>
                          </a:solidFill>
                          <a:latin typeface="Arial"/>
                          <a:ea typeface="Arial"/>
                          <a:cs typeface="Arial"/>
                        </a:rPr>
                        <a:t>20–36%</a:t>
                      </a:r>
                    </a:p>
                  </a:txBody>
                  <a:tcPr marL="66675" marR="66675" marT="38100" marB="38100" anchor="ctr"/>
                </a:tc>
                <a:tc>
                  <a:txBody>
                    <a:bodyPr/>
                    <a:lstStyle/>
                    <a:p>
                      <a:r>
                        <a:rPr sz="1050">
                          <a:solidFill>
                            <a:srgbClr val="173244"/>
                          </a:solidFill>
                          <a:latin typeface="Arial"/>
                          <a:ea typeface="Arial"/>
                          <a:cs typeface="Arial"/>
                        </a:rPr>
                        <a:t>Absent in control; present across enriched products</a:t>
                      </a:r>
                    </a:p>
                  </a:txBody>
                  <a:tcPr marL="66675" marR="66675" marT="38100" marB="38100" anchor="ctr"/>
                </a:tc>
              </a:tr>
              <a:tr h="590550">
                <a:tc>
                  <a:txBody>
                    <a:bodyPr/>
                    <a:lstStyle/>
                    <a:p>
                      <a:r>
                        <a:rPr sz="1050">
                          <a:solidFill>
                            <a:srgbClr val="173244"/>
                          </a:solidFill>
                          <a:latin typeface="Arial"/>
                          <a:ea typeface="Arial"/>
                          <a:cs typeface="Arial"/>
                        </a:rPr>
                        <a:t>Smooth</a:t>
                      </a:r>
                    </a:p>
                  </a:txBody>
                  <a:tcPr marL="66675" marR="66675" marT="38100" marB="38100" anchor="ctr">
                    <a:solidFill>
                      <a:srgbClr val="F7FAFC"/>
                    </a:solidFill>
                  </a:tcPr>
                </a:tc>
                <a:tc>
                  <a:txBody>
                    <a:bodyPr/>
                    <a:lstStyle/>
                    <a:p>
                      <a:r>
                        <a:rPr sz="1050">
                          <a:solidFill>
                            <a:srgbClr val="173244"/>
                          </a:solidFill>
                          <a:latin typeface="Arial"/>
                          <a:ea typeface="Arial"/>
                          <a:cs typeface="Arial"/>
                        </a:rPr>
                        <a:t>60%</a:t>
                      </a:r>
                    </a:p>
                  </a:txBody>
                  <a:tcPr marL="66675" marR="66675" marT="38100" marB="38100" anchor="ctr">
                    <a:solidFill>
                      <a:srgbClr val="F7FAFC"/>
                    </a:solidFill>
                  </a:tcPr>
                </a:tc>
                <a:tc>
                  <a:txBody>
                    <a:bodyPr/>
                    <a:lstStyle/>
                    <a:p>
                      <a:r>
                        <a:rPr sz="1050">
                          <a:solidFill>
                            <a:srgbClr val="173244"/>
                          </a:solidFill>
                          <a:latin typeface="Arial"/>
                          <a:ea typeface="Arial"/>
                          <a:cs typeface="Arial"/>
                        </a:rPr>
                        <a:t>32–48%</a:t>
                      </a:r>
                    </a:p>
                  </a:txBody>
                  <a:tcPr marL="66675" marR="66675" marT="38100" marB="38100" anchor="ctr">
                    <a:solidFill>
                      <a:srgbClr val="F7FAFC"/>
                    </a:solidFill>
                  </a:tcPr>
                </a:tc>
                <a:tc>
                  <a:txBody>
                    <a:bodyPr/>
                    <a:lstStyle/>
                    <a:p>
                      <a:r>
                        <a:rPr sz="1050">
                          <a:solidFill>
                            <a:srgbClr val="173244"/>
                          </a:solidFill>
                          <a:latin typeface="Arial"/>
                          <a:ea typeface="Arial"/>
                          <a:cs typeface="Arial"/>
                        </a:rPr>
                        <a:t>Control was more often described as smooth</a:t>
                      </a:r>
                    </a:p>
                  </a:txBody>
                  <a:tcPr marL="66675" marR="66675" marT="38100" marB="38100" anchor="ctr">
                    <a:solidFill>
                      <a:srgbClr val="F7FAFC"/>
                    </a:solidFill>
                  </a:tcPr>
                </a:tc>
              </a:tr>
              <a:tr h="590550">
                <a:tc>
                  <a:txBody>
                    <a:bodyPr/>
                    <a:lstStyle/>
                    <a:p>
                      <a:r>
                        <a:rPr sz="1050">
                          <a:solidFill>
                            <a:srgbClr val="173244"/>
                          </a:solidFill>
                          <a:latin typeface="Arial"/>
                          <a:ea typeface="Arial"/>
                          <a:cs typeface="Arial"/>
                        </a:rPr>
                        <a:t>Beany / soy-like</a:t>
                      </a:r>
                    </a:p>
                  </a:txBody>
                  <a:tcPr marL="66675" marR="66675" marT="38100" marB="38100" anchor="ctr"/>
                </a:tc>
                <a:tc>
                  <a:txBody>
                    <a:bodyPr/>
                    <a:lstStyle/>
                    <a:p>
                      <a:r>
                        <a:rPr sz="1050">
                          <a:solidFill>
                            <a:srgbClr val="173244"/>
                          </a:solidFill>
                          <a:latin typeface="Arial"/>
                          <a:ea typeface="Arial"/>
                          <a:cs typeface="Arial"/>
                        </a:rPr>
                        <a:t>—</a:t>
                      </a:r>
                    </a:p>
                  </a:txBody>
                  <a:tcPr marL="66675" marR="66675" marT="38100" marB="38100" anchor="ctr"/>
                </a:tc>
                <a:tc>
                  <a:txBody>
                    <a:bodyPr/>
                    <a:lstStyle/>
                    <a:p>
                      <a:r>
                        <a:rPr sz="1050">
                          <a:solidFill>
                            <a:srgbClr val="173244"/>
                          </a:solidFill>
                          <a:latin typeface="Arial"/>
                          <a:ea typeface="Arial"/>
                          <a:cs typeface="Arial"/>
                        </a:rPr>
                        <a:t>798 = 24%</a:t>
                      </a:r>
                    </a:p>
                  </a:txBody>
                  <a:tcPr marL="66675" marR="66675" marT="38100" marB="38100" anchor="ctr"/>
                </a:tc>
                <a:tc>
                  <a:txBody>
                    <a:bodyPr/>
                    <a:lstStyle/>
                    <a:p>
                      <a:r>
                        <a:rPr sz="1050">
                          <a:solidFill>
                            <a:srgbClr val="173244"/>
                          </a:solidFill>
                          <a:latin typeface="Arial"/>
                          <a:ea typeface="Arial"/>
                          <a:cs typeface="Arial"/>
                        </a:rPr>
                        <a:t>Lowest frequency among enriched formulations</a:t>
                      </a:r>
                    </a:p>
                  </a:txBody>
                  <a:tcPr marL="66675" marR="66675" marT="38100" marB="38100" anchor="ctr"/>
                </a:tc>
              </a:tr>
            </a:tbl>
          </a:graphicData>
        </a:graphic>
      </p:graphicFrame>
      <p:sp>
        <p:nvSpPr>
          <p:cNvPr id="6" name="">
            <a:extLst xmlns:a="http://schemas.openxmlformats.org/drawingml/2006/main">
              <a:ext uri="{FF2B5EF4-FFF2-40B4-BE49-F238E27FC236}">
                <a16:creationId xmlns:a16="http://schemas.microsoft.com/office/drawing/2014/main" id="{1B2F09D7-1109-43AE-BC3A-C1AC28B6B162}"/>
              </a:ext>
            </a:extLst>
          </p:cNvPr>
          <p:cNvSpPr>
            <a:spLocks xmlns:a="http://schemas.openxmlformats.org/drawingml/2006/main" noGrp="1"/>
          </p:cNvSpPr>
          <p:nvPr/>
        </p:nvSpPr>
        <p:spPr>
          <a:xfrm xmlns:a="http://schemas.openxmlformats.org/drawingml/2006/main">
            <a:off x="1143000" y="50958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i="0">
                <a:solidFill>
                  <a:srgbClr val="B64A50"/>
                </a:solidFill>
                <a:latin typeface="Arial"/>
                <a:ea typeface="Arial"/>
                <a:cs typeface="Arial"/>
              </a:defRPr>
            </a:pPr>
            <a:r>
              <a:rPr sz="1050" b="1" i="0">
                <a:solidFill>
                  <a:srgbClr val="B64A50"/>
                </a:solidFill>
                <a:latin typeface="Arial"/>
                <a:ea typeface="Arial"/>
                <a:cs typeface="Arial"/>
              </a:rPr>
              <a:t>Primary formulation issue</a:t>
            </a:r>
          </a:p>
        </p:txBody>
      </p:sp>
      <p:sp>
        <p:nvSpPr>
          <p:cNvPr id="7" name="">
            <a:extLst xmlns:a="http://schemas.openxmlformats.org/drawingml/2006/main">
              <a:ext uri="{FF2B5EF4-FFF2-40B4-BE49-F238E27FC236}">
                <a16:creationId xmlns:a16="http://schemas.microsoft.com/office/drawing/2014/main" id="{2CA8ADB6-C443-4B18-B413-322D3149CC9B}"/>
              </a:ext>
            </a:extLst>
          </p:cNvPr>
          <p:cNvSpPr>
            <a:spLocks xmlns:a="http://schemas.openxmlformats.org/drawingml/2006/main" noGrp="1"/>
          </p:cNvSpPr>
          <p:nvPr/>
        </p:nvSpPr>
        <p:spPr>
          <a:xfrm xmlns:a="http://schemas.openxmlformats.org/drawingml/2006/main">
            <a:off x="3905250" y="4905375"/>
            <a:ext cx="4476750" cy="666750"/>
          </a:xfrm>
          <a:prstGeom xmlns:a="http://schemas.openxmlformats.org/drawingml/2006/main" prst="rect">
            <a:avLst/>
          </a:prstGeom>
          <a:solidFill xmlns:a="http://schemas.openxmlformats.org/drawingml/2006/main">
            <a:srgbClr val="FB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i="0">
                <a:solidFill>
                  <a:srgbClr val="B64A50"/>
                </a:solidFill>
                <a:latin typeface="Arial"/>
                <a:ea typeface="Arial"/>
                <a:cs typeface="Arial"/>
              </a:defRPr>
            </a:pPr>
            <a:r>
              <a:rPr sz="2400" b="1" i="0">
                <a:solidFill>
                  <a:srgbClr val="B64A50"/>
                </a:solidFill>
                <a:latin typeface="Arial"/>
                <a:ea typeface="Arial"/>
                <a:cs typeface="Arial"/>
              </a:rPr>
              <a:t>Particle-related mouthfeel</a:t>
            </a:r>
          </a:p>
        </p:txBody>
      </p:sp>
      <p:sp>
        <p:nvSpPr>
          <p:cNvPr id="8" name="">
            <a:extLst xmlns:a="http://schemas.openxmlformats.org/drawingml/2006/main">
              <a:ext uri="{FF2B5EF4-FFF2-40B4-BE49-F238E27FC236}">
                <a16:creationId xmlns:a16="http://schemas.microsoft.com/office/drawing/2014/main" id="{FE82420C-0E9B-48BA-B18A-CA486A36BACB}"/>
              </a:ext>
            </a:extLst>
          </p:cNvPr>
          <p:cNvSpPr>
            <a:spLocks xmlns:a="http://schemas.openxmlformats.org/drawingml/2006/main" noGrp="1"/>
          </p:cNvSpPr>
          <p:nvPr/>
        </p:nvSpPr>
        <p:spPr>
          <a:xfrm xmlns:a="http://schemas.openxmlformats.org/drawingml/2006/main">
            <a:off x="8572500" y="50482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7"/>
          </a:bodyPr>
          <a:lstStyle xmlns:a="http://schemas.openxmlformats.org/drawingml/2006/main"/>
          <a:p xmlns:a="http://schemas.openxmlformats.org/drawingml/2006/main">
            <a:pPr algn="ctr">
              <a:defRPr sz="1200" b="0" i="0">
                <a:solidFill>
                  <a:srgbClr val="526878"/>
                </a:solidFill>
                <a:latin typeface="Arial"/>
                <a:ea typeface="Arial"/>
                <a:cs typeface="Arial"/>
              </a:defRPr>
            </a:pPr>
            <a:r>
              <a:rPr sz="1200" b="0" i="0">
                <a:solidFill>
                  <a:srgbClr val="526878"/>
                </a:solidFill>
                <a:latin typeface="Arial"/>
                <a:ea typeface="Arial"/>
                <a:cs typeface="Arial"/>
              </a:rPr>
              <a:t>798 reduced, but did not eliminate, this limitation.</a:t>
            </a:r>
          </a:p>
        </p:txBody>
      </p:sp>
      <p:sp>
        <p:nvSpPr>
          <p:cNvPr id="9" name="">
            <a:extLst xmlns:a="http://schemas.openxmlformats.org/drawingml/2006/main">
              <a:ext uri="{FF2B5EF4-FFF2-40B4-BE49-F238E27FC236}">
                <a16:creationId xmlns:a16="http://schemas.microsoft.com/office/drawing/2014/main" id="{4BB28B00-1ED5-49C1-A824-E07BDD9F4281}"/>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0" name="">
            <a:extLst xmlns:a="http://schemas.openxmlformats.org/drawingml/2006/main">
              <a:ext uri="{FF2B5EF4-FFF2-40B4-BE49-F238E27FC236}">
                <a16:creationId xmlns:a16="http://schemas.microsoft.com/office/drawing/2014/main" id="{953180B6-B82D-4F9C-997B-6120E4FBB1E0}"/>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26</a:t>
            </a:r>
          </a:p>
        </p:txBody>
      </p:sp>
    </p:spTree>
    <p:extLst>
      <p:ext uri="{BB962C8B-B14F-4D97-AF65-F5344CB8AC3E}">
        <p14:creationId xmlns:p14="http://schemas.microsoft.com/office/powerpoint/2010/main" val="867407109"/>
      </p:ext>
    </p:extLst>
  </p:cSld>
</p:sld>
</file>

<file path=ppt/slides/slide2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BF97DF-7361-475F-9A78-8DA089411BC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BCD526-8D3D-4C26-908F-240B693C3F64}"/>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F4E2DF1C-0278-4392-898F-829485CB1B81}"/>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Purchase intention and final preference</a:t>
            </a:r>
          </a:p>
        </p:txBody>
      </p:sp>
      <p:sp>
        <p:nvSpPr>
          <p:cNvPr id="4" name="">
            <a:extLst xmlns:a="http://schemas.openxmlformats.org/drawingml/2006/main">
              <a:ext uri="{FF2B5EF4-FFF2-40B4-BE49-F238E27FC236}">
                <a16:creationId xmlns:a16="http://schemas.microsoft.com/office/drawing/2014/main" id="{901FC5DF-189B-4F1C-82AB-466B911CC3D5}"/>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graphicFrame>
        <p:nvGraphicFramePr>
          <p:cNvPr id="20" name="Chart"/>
          <p:cNvGraphicFramePr/>
          <p:nvPr/>
        </p:nvGraphicFramePr>
        <p:xfrm>
          <a:off xmlns:a="http://schemas.openxmlformats.org/drawingml/2006/main" x="571500" y="15240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06da19362b0e41ca"/>
          </a:graphicData>
        </a:graphic>
      </p:graphicFrame>
      <p:sp>
        <p:nvSpPr>
          <p:cNvPr id="6" name="">
            <a:extLst xmlns:a="http://schemas.openxmlformats.org/drawingml/2006/main">
              <a:ext uri="{FF2B5EF4-FFF2-40B4-BE49-F238E27FC236}">
                <a16:creationId xmlns:a16="http://schemas.microsoft.com/office/drawing/2014/main" id="{EFCA1454-1395-4212-8A5A-7C1BEAA60060}"/>
              </a:ext>
            </a:extLst>
          </p:cNvPr>
          <p:cNvSpPr>
            <a:spLocks xmlns:a="http://schemas.openxmlformats.org/drawingml/2006/main" noGrp="1"/>
          </p:cNvSpPr>
          <p:nvPr/>
        </p:nvSpPr>
        <p:spPr>
          <a:xfrm xmlns:a="http://schemas.openxmlformats.org/drawingml/2006/main">
            <a:off x="8096250" y="1619250"/>
            <a:ext cx="3143250" cy="1714500"/>
          </a:xfrm>
          <a:prstGeom xmlns:a="http://schemas.openxmlformats.org/drawingml/2006/main" prst="roundRect">
            <a:avLst>
              <a:gd name="adj" fmla="val 4444"/>
            </a:avLst>
          </a:prstGeom>
          <a:solidFill xmlns:a="http://schemas.openxmlformats.org/drawingml/2006/main">
            <a:srgbClr val="082C4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13607D-DCD1-4959-B358-594E1FFD9822}"/>
              </a:ext>
            </a:extLst>
          </p:cNvPr>
          <p:cNvSpPr>
            <a:spLocks xmlns:a="http://schemas.openxmlformats.org/drawingml/2006/main" noGrp="1"/>
          </p:cNvSpPr>
          <p:nvPr/>
        </p:nvSpPr>
        <p:spPr>
          <a:xfrm xmlns:a="http://schemas.openxmlformats.org/drawingml/2006/main">
            <a:off x="8572500" y="195262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450" b="1" i="0">
                <a:solidFill>
                  <a:srgbClr val="FFFFFF"/>
                </a:solidFill>
                <a:latin typeface="Arial"/>
                <a:ea typeface="Arial"/>
                <a:cs typeface="Arial"/>
              </a:defRPr>
            </a:pPr>
            <a:r>
              <a:rPr sz="3450" b="1" i="0">
                <a:solidFill>
                  <a:srgbClr val="FFFFFF"/>
                </a:solidFill>
                <a:latin typeface="Arial"/>
                <a:ea typeface="Arial"/>
                <a:cs typeface="Arial"/>
              </a:rPr>
              <a:t>44%</a:t>
            </a:r>
          </a:p>
        </p:txBody>
      </p:sp>
      <p:sp>
        <p:nvSpPr>
          <p:cNvPr id="8" name="">
            <a:extLst xmlns:a="http://schemas.openxmlformats.org/drawingml/2006/main">
              <a:ext uri="{FF2B5EF4-FFF2-40B4-BE49-F238E27FC236}">
                <a16:creationId xmlns:a16="http://schemas.microsoft.com/office/drawing/2014/main" id="{D631C46A-1957-4D7D-9534-63001A27622E}"/>
              </a:ext>
            </a:extLst>
          </p:cNvPr>
          <p:cNvSpPr>
            <a:spLocks xmlns:a="http://schemas.openxmlformats.org/drawingml/2006/main" noGrp="1"/>
          </p:cNvSpPr>
          <p:nvPr/>
        </p:nvSpPr>
        <p:spPr>
          <a:xfrm xmlns:a="http://schemas.openxmlformats.org/drawingml/2006/main">
            <a:off x="8572500" y="26193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BDEBF0"/>
                </a:solidFill>
                <a:latin typeface="Arial"/>
                <a:ea typeface="Arial"/>
                <a:cs typeface="Arial"/>
              </a:defRPr>
            </a:pPr>
            <a:r>
              <a:rPr sz="1275" b="1" i="0">
                <a:solidFill>
                  <a:srgbClr val="BDEBF0"/>
                </a:solidFill>
                <a:latin typeface="Arial"/>
                <a:ea typeface="Arial"/>
                <a:cs typeface="Arial"/>
              </a:rPr>
              <a:t>Control 667</a:t>
            </a:r>
          </a:p>
          <a:p xmlns:a="http://schemas.openxmlformats.org/drawingml/2006/main">
            <a:pPr algn="ctr">
              <a:defRPr sz="1275" b="1" i="0">
                <a:solidFill>
                  <a:srgbClr val="BDEBF0"/>
                </a:solidFill>
                <a:latin typeface="Arial"/>
                <a:ea typeface="Arial"/>
                <a:cs typeface="Arial"/>
              </a:defRPr>
            </a:pPr>
            <a:r>
              <a:rPr sz="1275" b="1" i="0">
                <a:solidFill>
                  <a:srgbClr val="BDEBF0"/>
                </a:solidFill>
                <a:latin typeface="Arial"/>
                <a:ea typeface="Arial"/>
                <a:cs typeface="Arial"/>
              </a:rPr>
              <a:t>11 of 25 first-choice votes</a:t>
            </a:r>
          </a:p>
        </p:txBody>
      </p:sp>
      <p:sp>
        <p:nvSpPr>
          <p:cNvPr id="9" name="">
            <a:extLst xmlns:a="http://schemas.openxmlformats.org/drawingml/2006/main">
              <a:ext uri="{FF2B5EF4-FFF2-40B4-BE49-F238E27FC236}">
                <a16:creationId xmlns:a16="http://schemas.microsoft.com/office/drawing/2014/main" id="{A3D5B2AE-38D9-43CA-8608-3CD657D2E1A4}"/>
              </a:ext>
            </a:extLst>
          </p:cNvPr>
          <p:cNvSpPr>
            <a:spLocks xmlns:a="http://schemas.openxmlformats.org/drawingml/2006/main" noGrp="1"/>
          </p:cNvSpPr>
          <p:nvPr/>
        </p:nvSpPr>
        <p:spPr>
          <a:xfrm xmlns:a="http://schemas.openxmlformats.org/drawingml/2006/main">
            <a:off x="8096250" y="3762375"/>
            <a:ext cx="3143250" cy="1190625"/>
          </a:xfrm>
          <a:prstGeom xmlns:a="http://schemas.openxmlformats.org/drawingml/2006/main" prst="roundRect">
            <a:avLst>
              <a:gd name="adj" fmla="val 6400"/>
            </a:avLst>
          </a:prstGeom>
          <a:solidFill xmlns:a="http://schemas.openxmlformats.org/drawingml/2006/main">
            <a:srgbClr val="F4EBD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4EA8BB-E338-440D-8E3C-EE9E7EE6AB07}"/>
              </a:ext>
            </a:extLst>
          </p:cNvPr>
          <p:cNvSpPr>
            <a:spLocks xmlns:a="http://schemas.openxmlformats.org/drawingml/2006/main" noGrp="1"/>
          </p:cNvSpPr>
          <p:nvPr/>
        </p:nvSpPr>
        <p:spPr>
          <a:xfrm xmlns:a="http://schemas.openxmlformats.org/drawingml/2006/main">
            <a:off x="8096250" y="3762375"/>
            <a:ext cx="66675" cy="1190625"/>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2EC97B4-22E1-4435-81F0-C4B7C4293271}"/>
              </a:ext>
            </a:extLst>
          </p:cNvPr>
          <p:cNvSpPr>
            <a:spLocks xmlns:a="http://schemas.openxmlformats.org/drawingml/2006/main" noGrp="1"/>
          </p:cNvSpPr>
          <p:nvPr/>
        </p:nvSpPr>
        <p:spPr>
          <a:xfrm xmlns:a="http://schemas.openxmlformats.org/drawingml/2006/main">
            <a:off x="8305800" y="3876675"/>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Positive purchase intention</a:t>
            </a:r>
          </a:p>
        </p:txBody>
      </p:sp>
      <p:sp>
        <p:nvSpPr>
          <p:cNvPr id="12" name="">
            <a:extLst xmlns:a="http://schemas.openxmlformats.org/drawingml/2006/main">
              <a:ext uri="{FF2B5EF4-FFF2-40B4-BE49-F238E27FC236}">
                <a16:creationId xmlns:a16="http://schemas.microsoft.com/office/drawing/2014/main" id="{A3D1350F-BC06-48C3-9D28-21C9976AB046}"/>
              </a:ext>
            </a:extLst>
          </p:cNvPr>
          <p:cNvSpPr>
            <a:spLocks xmlns:a="http://schemas.openxmlformats.org/drawingml/2006/main" noGrp="1"/>
          </p:cNvSpPr>
          <p:nvPr/>
        </p:nvSpPr>
        <p:spPr>
          <a:xfrm xmlns:a="http://schemas.openxmlformats.org/drawingml/2006/main">
            <a:off x="8305800" y="4181475"/>
            <a:ext cx="2800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Control: 56%</a:t>
            </a:r>
          </a:p>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Enriched formulations: 16–28%</a:t>
            </a:r>
          </a:p>
        </p:txBody>
      </p:sp>
      <p:sp>
        <p:nvSpPr>
          <p:cNvPr id="13" name="">
            <a:extLst xmlns:a="http://schemas.openxmlformats.org/drawingml/2006/main">
              <a:ext uri="{FF2B5EF4-FFF2-40B4-BE49-F238E27FC236}">
                <a16:creationId xmlns:a16="http://schemas.microsoft.com/office/drawing/2014/main" id="{949B89BC-12CB-4A93-94FF-C3CFED8B1D6F}"/>
              </a:ext>
            </a:extLst>
          </p:cNvPr>
          <p:cNvSpPr>
            <a:spLocks xmlns:a="http://schemas.openxmlformats.org/drawingml/2006/main" noGrp="1"/>
          </p:cNvSpPr>
          <p:nvPr/>
        </p:nvSpPr>
        <p:spPr>
          <a:xfrm xmlns:a="http://schemas.openxmlformats.org/drawingml/2006/main">
            <a:off x="7810500" y="5286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03"/>
          </a:bodyPr>
          <a:lstStyle xmlns:a="http://schemas.openxmlformats.org/drawingml/2006/main"/>
          <a:p xmlns:a="http://schemas.openxmlformats.org/drawingml/2006/main">
            <a:pPr algn="ctr">
              <a:defRPr sz="1275" b="0" i="0">
                <a:solidFill>
                  <a:srgbClr val="526878"/>
                </a:solidFill>
                <a:latin typeface="Arial"/>
                <a:ea typeface="Arial"/>
                <a:cs typeface="Arial"/>
              </a:defRPr>
            </a:pPr>
            <a:r>
              <a:rPr sz="1275" b="0" i="0">
                <a:solidFill>
                  <a:srgbClr val="526878"/>
                </a:solidFill>
                <a:latin typeface="Arial"/>
                <a:ea typeface="Arial"/>
                <a:cs typeface="Arial"/>
              </a:rPr>
              <a:t>Preference varied across the enriched formulations.</a:t>
            </a:r>
          </a:p>
        </p:txBody>
      </p:sp>
      <p:sp>
        <p:nvSpPr>
          <p:cNvPr id="14" name="">
            <a:extLst xmlns:a="http://schemas.openxmlformats.org/drawingml/2006/main">
              <a:ext uri="{FF2B5EF4-FFF2-40B4-BE49-F238E27FC236}">
                <a16:creationId xmlns:a16="http://schemas.microsoft.com/office/drawing/2014/main" id="{F7D59570-D6EF-4499-A26C-0B82AD7F0BCB}"/>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15" name="">
            <a:extLst xmlns:a="http://schemas.openxmlformats.org/drawingml/2006/main">
              <a:ext uri="{FF2B5EF4-FFF2-40B4-BE49-F238E27FC236}">
                <a16:creationId xmlns:a16="http://schemas.microsoft.com/office/drawing/2014/main" id="{612400A6-6E6C-4167-ABC0-B68F88FB8088}"/>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27</a:t>
            </a:r>
          </a:p>
        </p:txBody>
      </p:sp>
    </p:spTree>
    <p:extLst>
      <p:ext uri="{BB962C8B-B14F-4D97-AF65-F5344CB8AC3E}">
        <p14:creationId xmlns:p14="http://schemas.microsoft.com/office/powerpoint/2010/main" val="829839531"/>
      </p:ext>
    </p:extLst>
  </p:cSld>
</p:sld>
</file>

<file path=ppt/slides/slide2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E9D5A3C-02D3-4680-8E43-46939AC49CC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B77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79AF57-0D84-4E0A-8BE3-54E811A29DA9}"/>
              </a:ext>
            </a:extLst>
          </p:cNvPr>
          <p:cNvSpPr>
            <a:spLocks xmlns:a="http://schemas.openxmlformats.org/drawingml/2006/main" noGrp="1"/>
          </p:cNvSpPr>
          <p:nvPr/>
        </p:nvSpPr>
        <p:spPr>
          <a:xfrm xmlns:a="http://schemas.openxmlformats.org/drawingml/2006/main">
            <a:off x="571500" y="2286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i="0">
                <a:solidFill>
                  <a:srgbClr val="C88A32"/>
                </a:solidFill>
                <a:latin typeface="Arial"/>
                <a:ea typeface="Arial"/>
                <a:cs typeface="Arial"/>
              </a:defRPr>
            </a:pPr>
            <a:r>
              <a:rPr sz="900" b="1" i="0">
                <a:solidFill>
                  <a:srgbClr val="C88A32"/>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2FC6158D-A4A1-414C-98E7-2057B2FD5F0E}"/>
              </a:ext>
            </a:extLst>
          </p:cNvPr>
          <p:cNvSpPr>
            <a:spLocks xmlns:a="http://schemas.openxmlformats.org/drawingml/2006/main" noGrp="1"/>
          </p:cNvSpPr>
          <p:nvPr/>
        </p:nvSpPr>
        <p:spPr>
          <a:xfrm xmlns:a="http://schemas.openxmlformats.org/drawingml/2006/main">
            <a:off x="571500" y="514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i="0">
                <a:solidFill>
                  <a:srgbClr val="082C4C"/>
                </a:solidFill>
                <a:latin typeface="Arial"/>
                <a:ea typeface="Arial"/>
                <a:cs typeface="Arial"/>
              </a:defRPr>
            </a:pPr>
            <a:r>
              <a:rPr sz="2550" b="1" i="0">
                <a:solidFill>
                  <a:srgbClr val="082C4C"/>
                </a:solidFill>
                <a:latin typeface="Arial"/>
                <a:ea typeface="Arial"/>
                <a:cs typeface="Arial"/>
              </a:rPr>
              <a:t>Study limitations</a:t>
            </a:r>
          </a:p>
        </p:txBody>
      </p:sp>
      <p:sp>
        <p:nvSpPr>
          <p:cNvPr id="4" name="">
            <a:extLst xmlns:a="http://schemas.openxmlformats.org/drawingml/2006/main">
              <a:ext uri="{FF2B5EF4-FFF2-40B4-BE49-F238E27FC236}">
                <a16:creationId xmlns:a16="http://schemas.microsoft.com/office/drawing/2014/main" id="{F5732C9B-884E-462B-8FDD-44C4104F8281}"/>
              </a:ext>
            </a:extLst>
          </p:cNvPr>
          <p:cNvSpPr>
            <a:spLocks xmlns:a="http://schemas.openxmlformats.org/drawingml/2006/main" noGrp="1"/>
          </p:cNvSpPr>
          <p:nvPr/>
        </p:nvSpPr>
        <p:spPr>
          <a:xfrm xmlns:a="http://schemas.openxmlformats.org/drawingml/2006/main">
            <a:off x="571500" y="1162050"/>
            <a:ext cx="11049000" cy="9525"/>
          </a:xfrm>
          <a:prstGeom xmlns:a="http://schemas.openxmlformats.org/drawingml/2006/main" prst="line">
            <a:avLst/>
          </a:prstGeom>
          <a:noFill xmlns:a="http://schemas.openxmlformats.org/drawingml/2006/main"/>
          <a:ln xmlns:a="http://schemas.openxmlformats.org/drawingml/2006/main" w="9525">
            <a:solidFill>
              <a:srgbClr val="E9F0F4"/>
            </a:solidFill>
          </a:ln>
        </p:spPr>
      </p:sp>
      <p:sp>
        <p:nvSpPr>
          <p:cNvPr id="5" name="">
            <a:extLst xmlns:a="http://schemas.openxmlformats.org/drawingml/2006/main">
              <a:ext uri="{FF2B5EF4-FFF2-40B4-BE49-F238E27FC236}">
                <a16:creationId xmlns:a16="http://schemas.microsoft.com/office/drawing/2014/main" id="{110342DB-6F3E-4F75-8F70-76B2D71FD59A}"/>
              </a:ext>
            </a:extLst>
          </p:cNvPr>
          <p:cNvSpPr>
            <a:spLocks xmlns:a="http://schemas.openxmlformats.org/drawingml/2006/main" noGrp="1"/>
          </p:cNvSpPr>
          <p:nvPr/>
        </p:nvSpPr>
        <p:spPr>
          <a:xfrm xmlns:a="http://schemas.openxmlformats.org/drawingml/2006/main">
            <a:off x="666750" y="147637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E02A7D-6850-4344-BFF0-E7DAF47AB648}"/>
              </a:ext>
            </a:extLst>
          </p:cNvPr>
          <p:cNvSpPr>
            <a:spLocks xmlns:a="http://schemas.openxmlformats.org/drawingml/2006/main" noGrp="1"/>
          </p:cNvSpPr>
          <p:nvPr/>
        </p:nvSpPr>
        <p:spPr>
          <a:xfrm xmlns:a="http://schemas.openxmlformats.org/drawingml/2006/main">
            <a:off x="666750" y="1476375"/>
            <a:ext cx="66675" cy="1047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F7376FA-9EA7-43E6-83BD-7975B38ECD96}"/>
              </a:ext>
            </a:extLst>
          </p:cNvPr>
          <p:cNvSpPr>
            <a:spLocks xmlns:a="http://schemas.openxmlformats.org/drawingml/2006/main" noGrp="1"/>
          </p:cNvSpPr>
          <p:nvPr/>
        </p:nvSpPr>
        <p:spPr>
          <a:xfrm xmlns:a="http://schemas.openxmlformats.org/drawingml/2006/main">
            <a:off x="876300" y="159067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Manufacturing</a:t>
            </a:r>
          </a:p>
        </p:txBody>
      </p:sp>
      <p:sp>
        <p:nvSpPr>
          <p:cNvPr id="8" name="">
            <a:extLst xmlns:a="http://schemas.openxmlformats.org/drawingml/2006/main">
              <a:ext uri="{FF2B5EF4-FFF2-40B4-BE49-F238E27FC236}">
                <a16:creationId xmlns:a16="http://schemas.microsoft.com/office/drawing/2014/main" id="{96BB0FCB-804C-421A-BC54-56CD06065356}"/>
              </a:ext>
            </a:extLst>
          </p:cNvPr>
          <p:cNvSpPr>
            <a:spLocks xmlns:a="http://schemas.openxmlformats.org/drawingml/2006/main" noGrp="1"/>
          </p:cNvSpPr>
          <p:nvPr/>
        </p:nvSpPr>
        <p:spPr>
          <a:xfrm xmlns:a="http://schemas.openxmlformats.org/drawingml/2006/main">
            <a:off x="876300" y="189547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One experimental preparation; no independent batch replication</a:t>
            </a:r>
          </a:p>
        </p:txBody>
      </p:sp>
      <p:sp>
        <p:nvSpPr>
          <p:cNvPr id="9" name="">
            <a:extLst xmlns:a="http://schemas.openxmlformats.org/drawingml/2006/main">
              <a:ext uri="{FF2B5EF4-FFF2-40B4-BE49-F238E27FC236}">
                <a16:creationId xmlns:a16="http://schemas.microsoft.com/office/drawing/2014/main" id="{855A9FB9-D007-4AE2-831D-47632D594499}"/>
              </a:ext>
            </a:extLst>
          </p:cNvPr>
          <p:cNvSpPr>
            <a:spLocks xmlns:a="http://schemas.openxmlformats.org/drawingml/2006/main" noGrp="1"/>
          </p:cNvSpPr>
          <p:nvPr/>
        </p:nvSpPr>
        <p:spPr>
          <a:xfrm xmlns:a="http://schemas.openxmlformats.org/drawingml/2006/main">
            <a:off x="6238875" y="147637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0AFD4C-A378-4C09-B101-A6748D1868A1}"/>
              </a:ext>
            </a:extLst>
          </p:cNvPr>
          <p:cNvSpPr>
            <a:spLocks xmlns:a="http://schemas.openxmlformats.org/drawingml/2006/main" noGrp="1"/>
          </p:cNvSpPr>
          <p:nvPr/>
        </p:nvSpPr>
        <p:spPr>
          <a:xfrm xmlns:a="http://schemas.openxmlformats.org/drawingml/2006/main">
            <a:off x="6238875" y="1476375"/>
            <a:ext cx="66675" cy="1047750"/>
          </a:xfrm>
          <a:prstGeom xmlns:a="http://schemas.openxmlformats.org/drawingml/2006/main" prst="rect">
            <a:avLst/>
          </a:prstGeom>
          <a:solidFill xmlns:a="http://schemas.openxmlformats.org/drawingml/2006/main">
            <a:srgbClr val="0B5B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64C009-64B7-47D7-9063-224E9ABD7466}"/>
              </a:ext>
            </a:extLst>
          </p:cNvPr>
          <p:cNvSpPr>
            <a:spLocks xmlns:a="http://schemas.openxmlformats.org/drawingml/2006/main" noGrp="1"/>
          </p:cNvSpPr>
          <p:nvPr/>
        </p:nvSpPr>
        <p:spPr>
          <a:xfrm xmlns:a="http://schemas.openxmlformats.org/drawingml/2006/main">
            <a:off x="6448425" y="159067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Kjeldahl</a:t>
            </a:r>
          </a:p>
        </p:txBody>
      </p:sp>
      <p:sp>
        <p:nvSpPr>
          <p:cNvPr id="12" name="">
            <a:extLst xmlns:a="http://schemas.openxmlformats.org/drawingml/2006/main">
              <a:ext uri="{FF2B5EF4-FFF2-40B4-BE49-F238E27FC236}">
                <a16:creationId xmlns:a16="http://schemas.microsoft.com/office/drawing/2014/main" id="{CA43507F-9746-46E0-A736-207D8ABBAE1D}"/>
              </a:ext>
            </a:extLst>
          </p:cNvPr>
          <p:cNvSpPr>
            <a:spLocks xmlns:a="http://schemas.openxmlformats.org/drawingml/2006/main" noGrp="1"/>
          </p:cNvSpPr>
          <p:nvPr/>
        </p:nvSpPr>
        <p:spPr>
          <a:xfrm xmlns:a="http://schemas.openxmlformats.org/drawingml/2006/main">
            <a:off x="6448425" y="189547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Analytical replicates from one homogenised batch</a:t>
            </a:r>
          </a:p>
        </p:txBody>
      </p:sp>
      <p:sp>
        <p:nvSpPr>
          <p:cNvPr id="13" name="">
            <a:extLst xmlns:a="http://schemas.openxmlformats.org/drawingml/2006/main">
              <a:ext uri="{FF2B5EF4-FFF2-40B4-BE49-F238E27FC236}">
                <a16:creationId xmlns:a16="http://schemas.microsoft.com/office/drawing/2014/main" id="{783B9702-9EBF-4962-9C0D-D4D91829FDD8}"/>
              </a:ext>
            </a:extLst>
          </p:cNvPr>
          <p:cNvSpPr>
            <a:spLocks xmlns:a="http://schemas.openxmlformats.org/drawingml/2006/main" noGrp="1"/>
          </p:cNvSpPr>
          <p:nvPr/>
        </p:nvSpPr>
        <p:spPr>
          <a:xfrm xmlns:a="http://schemas.openxmlformats.org/drawingml/2006/main">
            <a:off x="666750" y="2857500"/>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1FEC257-D8BE-43EE-8350-2212636461DD}"/>
              </a:ext>
            </a:extLst>
          </p:cNvPr>
          <p:cNvSpPr>
            <a:spLocks xmlns:a="http://schemas.openxmlformats.org/drawingml/2006/main" noGrp="1"/>
          </p:cNvSpPr>
          <p:nvPr/>
        </p:nvSpPr>
        <p:spPr>
          <a:xfrm xmlns:a="http://schemas.openxmlformats.org/drawingml/2006/main">
            <a:off x="666750" y="2857500"/>
            <a:ext cx="66675" cy="10477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74C288-4E8C-4CE5-9FAA-9EBE86090739}"/>
              </a:ext>
            </a:extLst>
          </p:cNvPr>
          <p:cNvSpPr>
            <a:spLocks xmlns:a="http://schemas.openxmlformats.org/drawingml/2006/main" noGrp="1"/>
          </p:cNvSpPr>
          <p:nvPr/>
        </p:nvSpPr>
        <p:spPr>
          <a:xfrm xmlns:a="http://schemas.openxmlformats.org/drawingml/2006/main">
            <a:off x="876300" y="297180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Sensory panel</a:t>
            </a:r>
          </a:p>
        </p:txBody>
      </p:sp>
      <p:sp>
        <p:nvSpPr>
          <p:cNvPr id="16" name="">
            <a:extLst xmlns:a="http://schemas.openxmlformats.org/drawingml/2006/main">
              <a:ext uri="{FF2B5EF4-FFF2-40B4-BE49-F238E27FC236}">
                <a16:creationId xmlns:a16="http://schemas.microsoft.com/office/drawing/2014/main" id="{0831FA1D-CF89-4C3A-A7E5-E2A11789D97C}"/>
              </a:ext>
            </a:extLst>
          </p:cNvPr>
          <p:cNvSpPr>
            <a:spLocks xmlns:a="http://schemas.openxmlformats.org/drawingml/2006/main" noGrp="1"/>
          </p:cNvSpPr>
          <p:nvPr/>
        </p:nvSpPr>
        <p:spPr>
          <a:xfrm xmlns:a="http://schemas.openxmlformats.org/drawingml/2006/main">
            <a:off x="876300" y="3276600"/>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 = 25 convenience participants; limited habitual oat-beverage consumption</a:t>
            </a:r>
          </a:p>
        </p:txBody>
      </p:sp>
      <p:sp>
        <p:nvSpPr>
          <p:cNvPr id="17" name="">
            <a:extLst xmlns:a="http://schemas.openxmlformats.org/drawingml/2006/main">
              <a:ext uri="{FF2B5EF4-FFF2-40B4-BE49-F238E27FC236}">
                <a16:creationId xmlns:a16="http://schemas.microsoft.com/office/drawing/2014/main" id="{5B140BA9-8C7A-448D-9542-DCCFA31F1348}"/>
              </a:ext>
            </a:extLst>
          </p:cNvPr>
          <p:cNvSpPr>
            <a:spLocks xmlns:a="http://schemas.openxmlformats.org/drawingml/2006/main" noGrp="1"/>
          </p:cNvSpPr>
          <p:nvPr/>
        </p:nvSpPr>
        <p:spPr>
          <a:xfrm xmlns:a="http://schemas.openxmlformats.org/drawingml/2006/main">
            <a:off x="6238875" y="2857500"/>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50F337-096A-46E4-A604-BD71C37AAEAF}"/>
              </a:ext>
            </a:extLst>
          </p:cNvPr>
          <p:cNvSpPr>
            <a:spLocks xmlns:a="http://schemas.openxmlformats.org/drawingml/2006/main" noGrp="1"/>
          </p:cNvSpPr>
          <p:nvPr/>
        </p:nvSpPr>
        <p:spPr>
          <a:xfrm xmlns:a="http://schemas.openxmlformats.org/drawingml/2006/main">
            <a:off x="6238875" y="2857500"/>
            <a:ext cx="66675" cy="1047750"/>
          </a:xfrm>
          <a:prstGeom xmlns:a="http://schemas.openxmlformats.org/drawingml/2006/main" prst="rect">
            <a:avLst/>
          </a:prstGeom>
          <a:solidFill xmlns:a="http://schemas.openxmlformats.org/drawingml/2006/main">
            <a:srgbClr val="00A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6AFB3D8-1DAC-4479-9F46-EC17049263DB}"/>
              </a:ext>
            </a:extLst>
          </p:cNvPr>
          <p:cNvSpPr>
            <a:spLocks xmlns:a="http://schemas.openxmlformats.org/drawingml/2006/main" noGrp="1"/>
          </p:cNvSpPr>
          <p:nvPr/>
        </p:nvSpPr>
        <p:spPr>
          <a:xfrm xmlns:a="http://schemas.openxmlformats.org/drawingml/2006/main">
            <a:off x="6448425" y="297180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Protein estimate</a:t>
            </a:r>
          </a:p>
        </p:txBody>
      </p:sp>
      <p:sp>
        <p:nvSpPr>
          <p:cNvPr id="20" name="">
            <a:extLst xmlns:a="http://schemas.openxmlformats.org/drawingml/2006/main">
              <a:ext uri="{FF2B5EF4-FFF2-40B4-BE49-F238E27FC236}">
                <a16:creationId xmlns:a16="http://schemas.microsoft.com/office/drawing/2014/main" id="{8390CF56-613C-437F-857F-A3CD380302EB}"/>
              </a:ext>
            </a:extLst>
          </p:cNvPr>
          <p:cNvSpPr>
            <a:spLocks xmlns:a="http://schemas.openxmlformats.org/drawingml/2006/main" noGrp="1"/>
          </p:cNvSpPr>
          <p:nvPr/>
        </p:nvSpPr>
        <p:spPr>
          <a:xfrm xmlns:a="http://schemas.openxmlformats.org/drawingml/2006/main">
            <a:off x="6448425" y="3276600"/>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Final enriched products were not directly analysed by Kjeldahl</a:t>
            </a:r>
          </a:p>
        </p:txBody>
      </p:sp>
      <p:sp>
        <p:nvSpPr>
          <p:cNvPr id="21" name="">
            <a:extLst xmlns:a="http://schemas.openxmlformats.org/drawingml/2006/main">
              <a:ext uri="{FF2B5EF4-FFF2-40B4-BE49-F238E27FC236}">
                <a16:creationId xmlns:a16="http://schemas.microsoft.com/office/drawing/2014/main" id="{7DEBC021-DDB9-4349-B016-49805B83B95C}"/>
              </a:ext>
            </a:extLst>
          </p:cNvPr>
          <p:cNvSpPr>
            <a:spLocks xmlns:a="http://schemas.openxmlformats.org/drawingml/2006/main" noGrp="1"/>
          </p:cNvSpPr>
          <p:nvPr/>
        </p:nvSpPr>
        <p:spPr>
          <a:xfrm xmlns:a="http://schemas.openxmlformats.org/drawingml/2006/main">
            <a:off x="666750" y="423862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E76A45B-1348-48E1-97E8-AD8D6A040CF2}"/>
              </a:ext>
            </a:extLst>
          </p:cNvPr>
          <p:cNvSpPr>
            <a:spLocks xmlns:a="http://schemas.openxmlformats.org/drawingml/2006/main" noGrp="1"/>
          </p:cNvSpPr>
          <p:nvPr/>
        </p:nvSpPr>
        <p:spPr>
          <a:xfrm xmlns:a="http://schemas.openxmlformats.org/drawingml/2006/main">
            <a:off x="666750" y="4238625"/>
            <a:ext cx="66675" cy="1047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504480F-4DCC-49D4-9FD4-32FD2E2B1B6F}"/>
              </a:ext>
            </a:extLst>
          </p:cNvPr>
          <p:cNvSpPr>
            <a:spLocks xmlns:a="http://schemas.openxmlformats.org/drawingml/2006/main" noGrp="1"/>
          </p:cNvSpPr>
          <p:nvPr/>
        </p:nvSpPr>
        <p:spPr>
          <a:xfrm xmlns:a="http://schemas.openxmlformats.org/drawingml/2006/main">
            <a:off x="876300" y="43529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Thermal process</a:t>
            </a:r>
          </a:p>
        </p:txBody>
      </p:sp>
      <p:sp>
        <p:nvSpPr>
          <p:cNvPr id="24" name="">
            <a:extLst xmlns:a="http://schemas.openxmlformats.org/drawingml/2006/main">
              <a:ext uri="{FF2B5EF4-FFF2-40B4-BE49-F238E27FC236}">
                <a16:creationId xmlns:a16="http://schemas.microsoft.com/office/drawing/2014/main" id="{B8566497-51BA-4061-884B-569ADB9A5DF8}"/>
              </a:ext>
            </a:extLst>
          </p:cNvPr>
          <p:cNvSpPr>
            <a:spLocks xmlns:a="http://schemas.openxmlformats.org/drawingml/2006/main" noGrp="1"/>
          </p:cNvSpPr>
          <p:nvPr/>
        </p:nvSpPr>
        <p:spPr>
          <a:xfrm xmlns:a="http://schemas.openxmlformats.org/drawingml/2006/main">
            <a:off x="876300" y="465772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No validated product-temperature profile</a:t>
            </a:r>
          </a:p>
        </p:txBody>
      </p:sp>
      <p:sp>
        <p:nvSpPr>
          <p:cNvPr id="25" name="">
            <a:extLst xmlns:a="http://schemas.openxmlformats.org/drawingml/2006/main">
              <a:ext uri="{FF2B5EF4-FFF2-40B4-BE49-F238E27FC236}">
                <a16:creationId xmlns:a16="http://schemas.microsoft.com/office/drawing/2014/main" id="{E652A03C-1162-4DC7-969D-6D899802BE89}"/>
              </a:ext>
            </a:extLst>
          </p:cNvPr>
          <p:cNvSpPr>
            <a:spLocks xmlns:a="http://schemas.openxmlformats.org/drawingml/2006/main" noGrp="1"/>
          </p:cNvSpPr>
          <p:nvPr/>
        </p:nvSpPr>
        <p:spPr>
          <a:xfrm xmlns:a="http://schemas.openxmlformats.org/drawingml/2006/main">
            <a:off x="6238875" y="4238625"/>
            <a:ext cx="514350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8B00612-BA68-4C8A-ADBC-B32A63500D82}"/>
              </a:ext>
            </a:extLst>
          </p:cNvPr>
          <p:cNvSpPr>
            <a:spLocks xmlns:a="http://schemas.openxmlformats.org/drawingml/2006/main" noGrp="1"/>
          </p:cNvSpPr>
          <p:nvPr/>
        </p:nvSpPr>
        <p:spPr>
          <a:xfrm xmlns:a="http://schemas.openxmlformats.org/drawingml/2006/main">
            <a:off x="6238875" y="4238625"/>
            <a:ext cx="66675" cy="1047750"/>
          </a:xfrm>
          <a:prstGeom xmlns:a="http://schemas.openxmlformats.org/drawingml/2006/main" prst="rect">
            <a:avLst/>
          </a:prstGeom>
          <a:solidFill xmlns:a="http://schemas.openxmlformats.org/drawingml/2006/main">
            <a:srgbClr val="B64A5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8536E74-80F6-4B7D-B978-A9C6064FE688}"/>
              </a:ext>
            </a:extLst>
          </p:cNvPr>
          <p:cNvSpPr>
            <a:spLocks xmlns:a="http://schemas.openxmlformats.org/drawingml/2006/main" noGrp="1"/>
          </p:cNvSpPr>
          <p:nvPr/>
        </p:nvSpPr>
        <p:spPr>
          <a:xfrm xmlns:a="http://schemas.openxmlformats.org/drawingml/2006/main">
            <a:off x="6448425" y="43529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i="0">
                <a:solidFill>
                  <a:srgbClr val="082C4C"/>
                </a:solidFill>
                <a:latin typeface="Arial"/>
                <a:ea typeface="Arial"/>
                <a:cs typeface="Arial"/>
              </a:defRPr>
            </a:pPr>
            <a:r>
              <a:rPr sz="1350" b="1" i="0">
                <a:solidFill>
                  <a:srgbClr val="082C4C"/>
                </a:solidFill>
                <a:latin typeface="Arial"/>
                <a:ea typeface="Arial"/>
                <a:cs typeface="Arial"/>
              </a:rPr>
              <a:t>Safety and shelf life</a:t>
            </a:r>
          </a:p>
        </p:txBody>
      </p:sp>
      <p:sp>
        <p:nvSpPr>
          <p:cNvPr id="28" name="">
            <a:extLst xmlns:a="http://schemas.openxmlformats.org/drawingml/2006/main">
              <a:ext uri="{FF2B5EF4-FFF2-40B4-BE49-F238E27FC236}">
                <a16:creationId xmlns:a16="http://schemas.microsoft.com/office/drawing/2014/main" id="{D7CBE07C-0F72-4F07-9D9C-FCF35EAD7CA5}"/>
              </a:ext>
            </a:extLst>
          </p:cNvPr>
          <p:cNvSpPr>
            <a:spLocks xmlns:a="http://schemas.openxmlformats.org/drawingml/2006/main" noGrp="1"/>
          </p:cNvSpPr>
          <p:nvPr/>
        </p:nvSpPr>
        <p:spPr>
          <a:xfrm xmlns:a="http://schemas.openxmlformats.org/drawingml/2006/main">
            <a:off x="6448425" y="4657725"/>
            <a:ext cx="4800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26878"/>
                </a:solidFill>
                <a:latin typeface="Arial"/>
                <a:ea typeface="Arial"/>
                <a:cs typeface="Arial"/>
              </a:defRPr>
            </a:pPr>
            <a:r>
              <a:rPr sz="1125" b="0" i="0">
                <a:solidFill>
                  <a:srgbClr val="526878"/>
                </a:solidFill>
                <a:latin typeface="Arial"/>
                <a:ea typeface="Arial"/>
                <a:cs typeface="Arial"/>
              </a:rPr>
              <a:t>No microbiological shelf-life validation</a:t>
            </a:r>
          </a:p>
        </p:txBody>
      </p:sp>
      <p:sp>
        <p:nvSpPr>
          <p:cNvPr id="29" name="">
            <a:extLst xmlns:a="http://schemas.openxmlformats.org/drawingml/2006/main">
              <a:ext uri="{FF2B5EF4-FFF2-40B4-BE49-F238E27FC236}">
                <a16:creationId xmlns:a16="http://schemas.microsoft.com/office/drawing/2014/main" id="{83FFF30F-1C9D-4CA8-B51A-C9BCC7749E7F}"/>
              </a:ext>
            </a:extLst>
          </p:cNvPr>
          <p:cNvSpPr>
            <a:spLocks xmlns:a="http://schemas.openxmlformats.org/drawingml/2006/main" noGrp="1"/>
          </p:cNvSpPr>
          <p:nvPr/>
        </p:nvSpPr>
        <p:spPr>
          <a:xfrm xmlns:a="http://schemas.openxmlformats.org/drawingml/2006/main">
            <a:off x="1666875" y="5715000"/>
            <a:ext cx="8858250" cy="457200"/>
          </a:xfrm>
          <a:prstGeom xmlns:a="http://schemas.openxmlformats.org/drawingml/2006/main" prst="rect">
            <a:avLst/>
          </a:prstGeom>
          <a:solidFill xmlns:a="http://schemas.openxmlformats.org/drawingml/2006/main">
            <a:srgbClr val="082C4C"/>
          </a:solidFill>
          <a:ln xmlns:a="http://schemas.openxmlformats.org/drawingml/2006/main" w="0">
            <a:noFill/>
          </a:ln>
        </p:spPr>
        <p:txBody>
          <a:bodyPr xmlns:a="http://schemas.openxmlformats.org/drawingml/2006/main" anchor="ctr">
            <a:normAutofit fontScale="98952"/>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These results guide further development; they do not validate a commercial product or shelf life.</a:t>
            </a:r>
          </a:p>
        </p:txBody>
      </p:sp>
      <p:sp>
        <p:nvSpPr>
          <p:cNvPr id="30" name="">
            <a:extLst xmlns:a="http://schemas.openxmlformats.org/drawingml/2006/main">
              <a:ext uri="{FF2B5EF4-FFF2-40B4-BE49-F238E27FC236}">
                <a16:creationId xmlns:a16="http://schemas.microsoft.com/office/drawing/2014/main" id="{3666AB03-4462-47F4-BD3F-6207EBB4AAA2}"/>
              </a:ext>
            </a:extLst>
          </p:cNvPr>
          <p:cNvSpPr>
            <a:spLocks xmlns:a="http://schemas.openxmlformats.org/drawingml/2006/main" noGrp="1"/>
          </p:cNvSpPr>
          <p:nvPr/>
        </p:nvSpPr>
        <p:spPr>
          <a:xfrm xmlns:a="http://schemas.openxmlformats.org/drawingml/2006/main">
            <a:off x="571500" y="65341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i="0">
                <a:solidFill>
                  <a:srgbClr val="98A8B3"/>
                </a:solidFill>
                <a:latin typeface="Arial"/>
                <a:ea typeface="Arial"/>
                <a:cs typeface="Arial"/>
              </a:defRPr>
            </a:pPr>
            <a:r>
              <a:rPr sz="825" b="0" i="0">
                <a:solidFill>
                  <a:srgbClr val="98A8B3"/>
                </a:solidFill>
                <a:latin typeface="Arial"/>
                <a:ea typeface="Arial"/>
                <a:cs typeface="Arial"/>
              </a:rPr>
              <a:t>Appendix</a:t>
            </a:r>
          </a:p>
        </p:txBody>
      </p:sp>
      <p:sp>
        <p:nvSpPr>
          <p:cNvPr id="31" name="">
            <a:extLst xmlns:a="http://schemas.openxmlformats.org/drawingml/2006/main">
              <a:ext uri="{FF2B5EF4-FFF2-40B4-BE49-F238E27FC236}">
                <a16:creationId xmlns:a16="http://schemas.microsoft.com/office/drawing/2014/main" id="{BD2AC468-E22F-41B6-8BD1-553704506707}"/>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i="0">
                <a:solidFill>
                  <a:srgbClr val="98A8B3"/>
                </a:solidFill>
                <a:latin typeface="Arial"/>
                <a:ea typeface="Arial"/>
                <a:cs typeface="Arial"/>
              </a:defRPr>
            </a:pPr>
            <a:r>
              <a:rPr sz="825" b="0" i="0">
                <a:solidFill>
                  <a:srgbClr val="98A8B3"/>
                </a:solidFill>
                <a:latin typeface="Arial"/>
                <a:ea typeface="Arial"/>
                <a:cs typeface="Arial"/>
              </a:rPr>
              <a:t>28</a:t>
            </a:r>
          </a:p>
        </p:txBody>
      </p:sp>
    </p:spTree>
    <p:extLst>
      <p:ext uri="{BB962C8B-B14F-4D97-AF65-F5344CB8AC3E}">
        <p14:creationId xmlns:p14="http://schemas.microsoft.com/office/powerpoint/2010/main" val="3510405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2026-09-12T22:47:40.6440000Z</dcterms:created>
  <dcterms:modified xsi:type="dcterms:W3CDTF">2026-09-12T22:47:40.6440000Z</dcterms:modified>
</coreProperties>
</file>